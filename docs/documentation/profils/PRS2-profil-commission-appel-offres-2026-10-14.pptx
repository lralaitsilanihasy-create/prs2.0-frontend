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la commission d’appel d’offres, le responsable et le dépositaire</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Ses membres ouvrent les offres en séance, les évaluent et signent leurs rapports, dans leur propre espace.</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44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la commission d’appel d’offres, le responsable et le dépositaire agit ou lit, rangés par étape de la chaîne ; chacun est présenté ensuite.</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04 · Préparer le DAO</a:t>
            </a:r>
            <a:endParaRPr lang="en-US" sz="1500" dirty="0"/>
          </a:p>
        </p:txBody>
      </p:sp>
      <p:sp>
        <p:nvSpPr>
          <p:cNvPr id="8" name="Text 6"/>
          <p:cNvSpPr/>
          <p:nvPr/>
        </p:nvSpPr>
        <p:spPr>
          <a:xfrm>
            <a:off x="952476"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paramètres internes · La signature de l’offre et la cérémonie des clés</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05 · L’appel à manifestation d’intérêt</a:t>
            </a:r>
            <a:endParaRPr lang="en-US" sz="1500" dirty="0"/>
          </a:p>
        </p:txBody>
      </p:sp>
      <p:sp>
        <p:nvSpPr>
          <p:cNvPr id="12" name="Text 10"/>
          <p:cNvSpPr/>
          <p:nvPr/>
        </p:nvSpPr>
        <p:spPr>
          <a:xfrm>
            <a:off x="4525320" y="22098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déclarations des membres · La notation, critère par critère · Le classement et le détail des notes · Arrêter la liste restreinte</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06 · Recevoir les offres en ligne</a:t>
            </a:r>
            <a:endParaRPr lang="en-US" sz="1500" dirty="0"/>
          </a:p>
        </p:txBody>
      </p:sp>
      <p:sp>
        <p:nvSpPr>
          <p:cNvPr id="16" name="Text 14"/>
          <p:cNvSpPr/>
          <p:nvPr/>
        </p:nvSpPr>
        <p:spPr>
          <a:xfrm>
            <a:off x="8098164" y="22098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procédures du membre · Sa part de clé · L’espace du dépositaire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07 · La séance d’ouverture</a:t>
            </a:r>
            <a:endParaRPr lang="en-US" sz="1500" dirty="0"/>
          </a:p>
        </p:txBody>
      </p:sp>
      <p:sp>
        <p:nvSpPr>
          <p:cNvPr id="20" name="Text 18"/>
          <p:cNvSpPr/>
          <p:nvPr/>
        </p:nvSpPr>
        <p:spPr>
          <a:xfrm>
            <a:off x="952476"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séance, avant l’heure · Le membre attend l’ouverture · La commission et le représentant du président · L’ouverture et les présences · Apporter ses parts · Le quorum des parts se remplit · Toutes les offres s’ouvrent ensemble · La lecture d’une offre remplie : fournitures · La lecture d’une offre remplie : travaux · Les frais de dossier, lus en séance · La lecture, projetée · Les pièces, pour la commission seule · Le PV d’ouverture, à signer · Signer le PV en ligne · Le PV signé, quorum atteint · La seconde séance : les enveloppes financières</a:t>
            </a:r>
            <a:endParaRPr lang="en-US" sz="1200" dirty="0"/>
          </a:p>
        </p:txBody>
      </p:sp>
      <p:sp>
        <p:nvSpPr>
          <p:cNvPr id="21" name="Shape 19"/>
          <p:cNvSpPr/>
          <p:nvPr/>
        </p:nvSpPr>
        <p:spPr>
          <a:xfrm>
            <a:off x="4385624" y="3962400"/>
            <a:ext cx="3420448" cy="2159000"/>
          </a:xfrm>
          <a:prstGeom prst="rect">
            <a:avLst/>
          </a:prstGeom>
          <a:solidFill>
            <a:srgbClr val="FCFCFA"/>
          </a:solidFill>
          <a:ln w="9525">
            <a:solidFill>
              <a:srgbClr val="D5DCE4"/>
            </a:solidFill>
            <a:prstDash val="solid"/>
          </a:ln>
        </p:spPr>
      </p:sp>
      <p:sp>
        <p:nvSpPr>
          <p:cNvPr id="22" name="Shape 20"/>
          <p:cNvSpPr/>
          <p:nvPr/>
        </p:nvSpPr>
        <p:spPr>
          <a:xfrm>
            <a:off x="4385624" y="3962400"/>
            <a:ext cx="3420448" cy="38100"/>
          </a:xfrm>
          <a:prstGeom prst="rect">
            <a:avLst/>
          </a:prstGeom>
          <a:solidFill>
            <a:srgbClr val="1B6FA8"/>
          </a:solidFill>
          <a:ln/>
        </p:spPr>
      </p:sp>
      <p:sp>
        <p:nvSpPr>
          <p:cNvPr id="23" name="Text 21"/>
          <p:cNvSpPr/>
          <p:nvPr/>
        </p:nvSpPr>
        <p:spPr>
          <a:xfrm>
            <a:off x="4525320"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24" name="Text 22"/>
          <p:cNvSpPr/>
          <p:nvPr/>
        </p:nvSpPr>
        <p:spPr>
          <a:xfrm>
            <a:off x="4525320"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L’évaluation, avant son ouverture · L’entrée depuis l’espace de la commission · La déclaration préalable · La grille de l’offre, et sa décision · Le montant évalué et le tableau du guide · Les corrections, dont une hors calcul · Les indicateurs de prix · Une offre maintenue après justification · La post-qualification et la proposition · Le rapport signé, au quorum · Signer, avec une observation · Le rapport, sur le plan du guide · La grille technique d’un membre · Le classement technique · La seconde séance et le classement financier · La saisie d’une enveloppe financière · La négociation réussie, le rapport à produire</a:t>
            </a:r>
            <a:endParaRPr lang="en-US" sz="1200" dirty="0"/>
          </a:p>
        </p:txBody>
      </p:sp>
      <p:sp>
        <p:nvSpPr>
          <p:cNvPr id="25" name="Shape 23"/>
          <p:cNvSpPr/>
          <p:nvPr/>
        </p:nvSpPr>
        <p:spPr>
          <a:xfrm>
            <a:off x="7958468" y="3962400"/>
            <a:ext cx="3420448" cy="2159000"/>
          </a:xfrm>
          <a:prstGeom prst="rect">
            <a:avLst/>
          </a:prstGeom>
          <a:solidFill>
            <a:srgbClr val="FCFCFA"/>
          </a:solidFill>
          <a:ln w="9525">
            <a:solidFill>
              <a:srgbClr val="D5DCE4"/>
            </a:solidFill>
            <a:prstDash val="solid"/>
          </a:ln>
        </p:spPr>
      </p:sp>
      <p:sp>
        <p:nvSpPr>
          <p:cNvPr id="26" name="Shape 24"/>
          <p:cNvSpPr/>
          <p:nvPr/>
        </p:nvSpPr>
        <p:spPr>
          <a:xfrm>
            <a:off x="7958468" y="3962400"/>
            <a:ext cx="3420448" cy="38100"/>
          </a:xfrm>
          <a:prstGeom prst="rect">
            <a:avLst/>
          </a:prstGeom>
          <a:solidFill>
            <a:srgbClr val="2E8B57"/>
          </a:solidFill>
          <a:ln/>
        </p:spPr>
      </p:sp>
      <p:sp>
        <p:nvSpPr>
          <p:cNvPr id="27" name="Text 25"/>
          <p:cNvSpPr/>
          <p:nvPr/>
        </p:nvSpPr>
        <p:spPr>
          <a:xfrm>
            <a:off x="8098164"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8" name="Text 26"/>
          <p:cNvSpPr/>
          <p:nvPr/>
        </p:nvSpPr>
        <p:spPr>
          <a:xfrm>
            <a:off x="8098164"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 · L’évaluation reprise, le rapport archivé</a:t>
            </a:r>
            <a:endParaRPr lang="en-US" sz="1200" dirty="0"/>
          </a:p>
        </p:txBody>
      </p:sp>
      <p:sp>
        <p:nvSpPr>
          <p:cNvPr id="29" name="Text 2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RESPONSABLE DE LA PROCÉDURE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paramètres internes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aramètres intern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 seul.</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la plateforme sait de la procédure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sans jamais l’imprimer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membres détenteurs d’une part de clé, le nombre de parts, le quorum de déchiffrement, la date de la cérémonie, le dépositaire de la part de secours.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membres se lisent ici, ils ne se choisissent pas : ils viennent de la décision de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avertissement quand le quorum égale le nombre de membres : une seule part perdue rendrait les offres illisibles.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RESPONSABLE DE LA PROCÉDURE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signature de l’offre et la cérémonie des clés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ignature de l’offre et la cérémonie des cl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Signature de l’offre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dépôt scellé vaut signature pendant la procédure ; l’attributaire remet ensuite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original signé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son acte d’engagement avant la signature du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signature électronique certifiée est réservée : elle n’est pas encore en service.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la cérémonie des clés close (3 parts, quorum 2), et l’empreinte de chaque clé publiée.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05</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L’appel à manifestation d’intérêt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ligne du plan à la liste restreinte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PRÉSIDENT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déclarations des membres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déclarations des membr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de la commission, depuis son espace.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toute décision, chaque membre signe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déclaration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aucun intérêt dans un candidat, ou un conflit d’intérêts déclaré.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déclaration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se reprend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membre en conflit lit la présélection sans y décider.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notation, critère par critère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notation, critère par critè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 déclaré sans conflit.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note par critère, de zéro aux points du critère, et toujours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dernière saisie fait foi ; le journal garde chaque saisie.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PRÉSIDENT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classement et le détail des notes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lassement et le détail des not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la commission, depuis l’espace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qualifiée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une expression notée sur tous les critères, non écartée, qui atteint la note minimale ; le classement suit le total sur 100.</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détail des notes : chaque note, son motif et le membre qui l’a donnée (ici 42/50, 24/30, 14/20, soit 80/100).</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restreinte définitive et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 du nombre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seule expression reçue et qualifiée (art. 42-II).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PRÉSIDENT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Arrêter la liste restreinte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Arrêter la liste restreint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expression peut être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écartée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un motif, ou rétablie.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prend les premières qualifiées. Moins de qualifiées que de places : le nombre retenu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motive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rapport de présélection est alors produit et se signe.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06</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Recevoir les offres en ligne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l’avis publié à l’offre scellée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rocédure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 d’appel d’offres, ici son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appels d’offres où il siège, avec sa qualité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président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date limite des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 l’état de sa clé (« Clé publiée ») et celui de la cérémonie des clés (« Cérémonie close — clés publiées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Sa part de clé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a part de cl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cérémonie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3 parts, quorum 2</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close avant la publication de l’avis.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L’empreinte de sa clé publiée ; il peut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sa part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garder une copie, la remplacer ou la déclarer perdue.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avertit quand la marge est épuisée : une part de plus perdue rendrait les offres illisibles.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DÉPOSITAIRE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L’espace du dépositaire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pace du déposi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dépositaire de la part de secours.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génère sa clé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sur son propre poste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garde seul la phrase qui la protège.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ne voit que l’état de sa part, de la cérémonie et de la séance : jamais les offres ni leurs pièces.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07</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 séance d’ouverture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date limite au PV signé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séance, avant l’heure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séance, avant l’he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séance ne s’ouvre qu’</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après la date limite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l’heure d’ouverture fixée par la fiche : le serveur refuse avant.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rappel est envoyé la veille, puis une heure avant.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membre attend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membre attend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 d’appel d’offres.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apportera ses parts depuis son espace, avec sa phrase secrète.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et le représentant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et le représentant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telle que la PRMP l’a désignée : sa décision, ses membres, leur origine et leur fonction.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président peut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désigner son représentant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pour un contexte précis (séance d’ouverture, rapport d’évaluation…) : le quorum exige le président ou son représentant ; sans désignation, il est lui-même requis.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L’ouverture et les présences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ouverture et les présenc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ouvre la séance, coche les présents et ajoute les autres présents avec leur qualité.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Apporter ses parts</a:t>
            </a:r>
            <a:endParaRPr lang="en-US" sz="2600" dirty="0"/>
          </a:p>
        </p:txBody>
      </p:sp>
      <p:sp>
        <p:nvSpPr>
          <p:cNvPr id="4" name="Shape 2"/>
          <p:cNvSpPr/>
          <p:nvPr/>
        </p:nvSpPr>
        <p:spPr>
          <a:xfrm>
            <a:off x="800080" y="1193800"/>
            <a:ext cx="10591535" cy="1997553"/>
          </a:xfrm>
          <a:prstGeom prst="rect">
            <a:avLst/>
          </a:prstGeom>
          <a:solidFill>
            <a:srgbClr val="FCFCFA"/>
          </a:solidFill>
          <a:ln w="9525">
            <a:solidFill>
              <a:srgbClr val="D5DCE4"/>
            </a:solidFill>
            <a:prstDash val="solid"/>
          </a:ln>
        </p:spPr>
      </p:sp>
      <p:pic>
        <p:nvPicPr>
          <p:cNvPr id="5" name="Image 0" descr="Apporter ses parts">    </p:cNvPr>
          <p:cNvPicPr>
            <a:picLocks noChangeAspect="1"/>
          </p:cNvPicPr>
          <p:nvPr/>
        </p:nvPicPr>
        <p:blipFill>
          <a:blip r:embed="rId1"/>
          <a:stretch>
            <a:fillRect/>
          </a:stretch>
        </p:blipFill>
        <p:spPr>
          <a:xfrm>
            <a:off x="812780" y="1206500"/>
            <a:ext cx="10566136" cy="1972153"/>
          </a:xfrm>
          <a:prstGeom prst="rect">
            <a:avLst/>
          </a:prstGeom>
        </p:spPr>
      </p:pic>
      <p:sp>
        <p:nvSpPr>
          <p:cNvPr id="6" name="Shape 3"/>
          <p:cNvSpPr/>
          <p:nvPr/>
        </p:nvSpPr>
        <p:spPr>
          <a:xfrm>
            <a:off x="812780" y="3331053"/>
            <a:ext cx="10566136" cy="1517650"/>
          </a:xfrm>
          <a:prstGeom prst="rect">
            <a:avLst/>
          </a:prstGeom>
          <a:solidFill>
            <a:srgbClr val="FCFCFA"/>
          </a:solidFill>
          <a:ln w="9525">
            <a:solidFill>
              <a:srgbClr val="D5DCE4"/>
            </a:solidFill>
            <a:prstDash val="solid"/>
          </a:ln>
        </p:spPr>
      </p:sp>
      <p:sp>
        <p:nvSpPr>
          <p:cNvPr id="7" name="Shape 4"/>
          <p:cNvSpPr/>
          <p:nvPr/>
        </p:nvSpPr>
        <p:spPr>
          <a:xfrm>
            <a:off x="812780" y="3331053"/>
            <a:ext cx="38099" cy="1517650"/>
          </a:xfrm>
          <a:prstGeom prst="rect">
            <a:avLst/>
          </a:prstGeom>
          <a:solidFill>
            <a:srgbClr val="1B6FA8"/>
          </a:solidFill>
          <a:ln/>
        </p:spPr>
      </p:sp>
      <p:sp>
        <p:nvSpPr>
          <p:cNvPr id="8" name="Text 5"/>
          <p:cNvSpPr/>
          <p:nvPr/>
        </p:nvSpPr>
        <p:spPr>
          <a:xfrm>
            <a:off x="977876" y="3432653"/>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 phrase déverrouille sa clé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sur son poste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déchiffre sa part de chaque offre ; seules ces parts partent vers le serveur.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quorum des parts se remplit</a:t>
            </a:r>
            <a:endParaRPr lang="en-US" sz="2600" dirty="0"/>
          </a:p>
        </p:txBody>
      </p:sp>
      <p:sp>
        <p:nvSpPr>
          <p:cNvPr id="4" name="Shape 2"/>
          <p:cNvSpPr/>
          <p:nvPr/>
        </p:nvSpPr>
        <p:spPr>
          <a:xfrm>
            <a:off x="800080" y="1193800"/>
            <a:ext cx="10591535" cy="1065756"/>
          </a:xfrm>
          <a:prstGeom prst="rect">
            <a:avLst/>
          </a:prstGeom>
          <a:solidFill>
            <a:srgbClr val="FCFCFA"/>
          </a:solidFill>
          <a:ln w="9525">
            <a:solidFill>
              <a:srgbClr val="D5DCE4"/>
            </a:solidFill>
            <a:prstDash val="solid"/>
          </a:ln>
        </p:spPr>
      </p:sp>
      <p:pic>
        <p:nvPicPr>
          <p:cNvPr id="5" name="Image 0" descr="Le quorum des parts se remplit">    </p:cNvPr>
          <p:cNvPicPr>
            <a:picLocks noChangeAspect="1"/>
          </p:cNvPicPr>
          <p:nvPr/>
        </p:nvPicPr>
        <p:blipFill>
          <a:blip r:embed="rId1"/>
          <a:stretch>
            <a:fillRect/>
          </a:stretch>
        </p:blipFill>
        <p:spPr>
          <a:xfrm>
            <a:off x="812780" y="1206500"/>
            <a:ext cx="10566136" cy="1040356"/>
          </a:xfrm>
          <a:prstGeom prst="rect">
            <a:avLst/>
          </a:prstGeom>
        </p:spPr>
      </p:pic>
      <p:sp>
        <p:nvSpPr>
          <p:cNvPr id="6" name="Shape 3"/>
          <p:cNvSpPr/>
          <p:nvPr/>
        </p:nvSpPr>
        <p:spPr>
          <a:xfrm>
            <a:off x="812780" y="2399256"/>
            <a:ext cx="10566136" cy="1517650"/>
          </a:xfrm>
          <a:prstGeom prst="rect">
            <a:avLst/>
          </a:prstGeom>
          <a:solidFill>
            <a:srgbClr val="FCFCFA"/>
          </a:solidFill>
          <a:ln w="9525">
            <a:solidFill>
              <a:srgbClr val="D5DCE4"/>
            </a:solidFill>
            <a:prstDash val="solid"/>
          </a:ln>
        </p:spPr>
      </p:sp>
      <p:sp>
        <p:nvSpPr>
          <p:cNvPr id="7" name="Shape 4"/>
          <p:cNvSpPr/>
          <p:nvPr/>
        </p:nvSpPr>
        <p:spPr>
          <a:xfrm>
            <a:off x="812780" y="2399256"/>
            <a:ext cx="38099" cy="1517650"/>
          </a:xfrm>
          <a:prstGeom prst="rect">
            <a:avLst/>
          </a:prstGeom>
          <a:solidFill>
            <a:srgbClr val="1B6FA8"/>
          </a:solidFill>
          <a:ln/>
        </p:spPr>
      </p:sp>
      <p:sp>
        <p:nvSpPr>
          <p:cNvPr id="8" name="Text 5"/>
          <p:cNvSpPr/>
          <p:nvPr/>
        </p:nvSpPr>
        <p:spPr>
          <a:xfrm>
            <a:off x="977876" y="2500856"/>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Quorum : 1 / 2 » : les offres s’ouvriront dès que le quorum des parts sera atteint.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membre absent peut être suppléé par la part de secours, apportée par le dépositaire.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offres s’ouvrent ensemble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Toutes les offres s’ouvrent ensembl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quorum, chaque offre est vérifiée par son empreinte, déchiffrée et comparée aux pièces attendues.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offres retirées ou remplacées ne s’ouvrent jamais.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d’une offre remplie : fournitures</a:t>
            </a:r>
            <a:endParaRPr lang="en-US" sz="2600" dirty="0"/>
          </a:p>
        </p:txBody>
      </p:sp>
      <p:sp>
        <p:nvSpPr>
          <p:cNvPr id="4" name="Shape 2"/>
          <p:cNvSpPr/>
          <p:nvPr/>
        </p:nvSpPr>
        <p:spPr>
          <a:xfrm>
            <a:off x="1687917" y="1193800"/>
            <a:ext cx="8815862" cy="3327400"/>
          </a:xfrm>
          <a:prstGeom prst="rect">
            <a:avLst/>
          </a:prstGeom>
          <a:solidFill>
            <a:srgbClr val="FCFCFA"/>
          </a:solidFill>
          <a:ln w="9525">
            <a:solidFill>
              <a:srgbClr val="D5DCE4"/>
            </a:solidFill>
            <a:prstDash val="solid"/>
          </a:ln>
        </p:spPr>
      </p:sp>
      <p:pic>
        <p:nvPicPr>
          <p:cNvPr id="5" name="Image 0" descr="La lecture d’une offre remplie : fournitures">    </p:cNvPr>
          <p:cNvPicPr>
            <a:picLocks noChangeAspect="1"/>
          </p:cNvPicPr>
          <p:nvPr/>
        </p:nvPicPr>
        <p:blipFill>
          <a:blip r:embed="rId1"/>
          <a:stretch>
            <a:fillRect/>
          </a:stretch>
        </p:blipFill>
        <p:spPr>
          <a:xfrm>
            <a:off x="1700616" y="1206500"/>
            <a:ext cx="8790462"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totaux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recalculés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par le serveur ; les alertes (non-conformité, livraison hors délai) ; le bordereau et la conformité remplis, en PDF.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d’une offre remplie : travaux</a:t>
            </a:r>
            <a:endParaRPr lang="en-US" sz="2600" dirty="0"/>
          </a:p>
        </p:txBody>
      </p:sp>
      <p:sp>
        <p:nvSpPr>
          <p:cNvPr id="4" name="Shape 2"/>
          <p:cNvSpPr/>
          <p:nvPr/>
        </p:nvSpPr>
        <p:spPr>
          <a:xfrm>
            <a:off x="800080" y="1193800"/>
            <a:ext cx="7327717" cy="4644231"/>
          </a:xfrm>
          <a:prstGeom prst="rect">
            <a:avLst/>
          </a:prstGeom>
          <a:solidFill>
            <a:srgbClr val="FCFCFA"/>
          </a:solidFill>
          <a:ln w="9525">
            <a:solidFill>
              <a:srgbClr val="D5DCE4"/>
            </a:solidFill>
            <a:prstDash val="solid"/>
          </a:ln>
        </p:spPr>
      </p:sp>
      <p:pic>
        <p:nvPicPr>
          <p:cNvPr id="5" name="Image 0" descr="La lecture d’une offre remplie : travaux">    </p:cNvPr>
          <p:cNvPicPr>
            <a:picLocks noChangeAspect="1"/>
          </p:cNvPicPr>
          <p:nvPr/>
        </p:nvPicPr>
        <p:blipFill>
          <a:blip r:embed="rId1"/>
          <a:stretch>
            <a:fillRect/>
          </a:stretch>
        </p:blipFill>
        <p:spPr>
          <a:xfrm>
            <a:off x="812780" y="1206500"/>
            <a:ext cx="7302317" cy="4618831"/>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en défaut : chiffre d’affaires, liquidité, références, personnel, matériel, sous-détail — des alertes, jamais un rejet.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frais de dossier, lus en séance</a:t>
            </a:r>
            <a:endParaRPr lang="en-US" sz="2600" dirty="0"/>
          </a:p>
        </p:txBody>
      </p:sp>
      <p:sp>
        <p:nvSpPr>
          <p:cNvPr id="4" name="Shape 2"/>
          <p:cNvSpPr/>
          <p:nvPr/>
        </p:nvSpPr>
        <p:spPr>
          <a:xfrm>
            <a:off x="1731362" y="1193800"/>
            <a:ext cx="8728971" cy="3327400"/>
          </a:xfrm>
          <a:prstGeom prst="rect">
            <a:avLst/>
          </a:prstGeom>
          <a:solidFill>
            <a:srgbClr val="FCFCFA"/>
          </a:solidFill>
          <a:ln w="9525">
            <a:solidFill>
              <a:srgbClr val="D5DCE4"/>
            </a:solidFill>
            <a:prstDash val="solid"/>
          </a:ln>
        </p:spPr>
      </p:sp>
      <p:pic>
        <p:nvPicPr>
          <p:cNvPr id="5" name="Image 0" descr="Les frais de dossier, lus en séance">    </p:cNvPr>
          <p:cNvPicPr>
            <a:picLocks noChangeAspect="1"/>
          </p:cNvPicPr>
          <p:nvPr/>
        </p:nvPicPr>
        <p:blipFill>
          <a:blip r:embed="rId1"/>
          <a:stretch>
            <a:fillRect/>
          </a:stretch>
        </p:blipFill>
        <p:spPr>
          <a:xfrm>
            <a:off x="1744062" y="1206500"/>
            <a:ext cx="8703572" cy="3302000"/>
          </a:xfrm>
          <a:prstGeom prst="rect">
            <a:avLst/>
          </a:prstGeom>
        </p:spPr>
      </p:pic>
      <p:sp>
        <p:nvSpPr>
          <p:cNvPr id="6" name="Shape 3"/>
          <p:cNvSpPr/>
          <p:nvPr/>
        </p:nvSpPr>
        <p:spPr>
          <a:xfrm>
            <a:off x="812780" y="4660900"/>
            <a:ext cx="10566136" cy="1314450"/>
          </a:xfrm>
          <a:prstGeom prst="rect">
            <a:avLst/>
          </a:prstGeom>
          <a:solidFill>
            <a:srgbClr val="FCFCFA"/>
          </a:solidFill>
          <a:ln w="9525">
            <a:solidFill>
              <a:srgbClr val="D5DCE4"/>
            </a:solidFill>
            <a:prstDash val="solid"/>
          </a:ln>
        </p:spPr>
      </p:sp>
      <p:sp>
        <p:nvSpPr>
          <p:cNvPr id="7" name="Shape 4"/>
          <p:cNvSpPr/>
          <p:nvPr/>
        </p:nvSpPr>
        <p:spPr>
          <a:xfrm>
            <a:off x="812780" y="4660900"/>
            <a:ext cx="38099" cy="1314450"/>
          </a:xfrm>
          <a:prstGeom prst="rect">
            <a:avLst/>
          </a:prstGeom>
          <a:solidFill>
            <a:srgbClr val="1B6FA8"/>
          </a:solidFill>
          <a:ln/>
        </p:spPr>
      </p:sp>
      <p:sp>
        <p:nvSpPr>
          <p:cNvPr id="8" name="Text 5"/>
          <p:cNvSpPr/>
          <p:nvPr/>
        </p:nvSpPr>
        <p:spPr>
          <a:xfrm>
            <a:off x="977876" y="4762500"/>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ligne « Frais de dossier » de chaque offre ; sans reçu validé, l’alerte « Frais de dossier non réglés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projetée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lecture, projeté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 pour la salle.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Offre par offre : soumissionnaire, montants, délai, garantie, pièces manquantes, alertes — en grand pour la salle.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pour la commission seule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ièces, pour la commission seu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lecture de chaque offre ouverte : NIF et état de sa vérification, montants hors taxes et toutes taxes, délai, validité, rabais, garantie.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Seuls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membres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ouvrent les pièces : acte d’engagement signé, reçu des frais de dossier, garantie de soumission.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d’ouverture, à signer</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PV d’ouverture, à signer">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produit le PV ; il attend la signature de chaque membre présent.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Capture du 09/10 : l’écran porte aujourd’hui, en plus, le quorum de la commission (voir ci-après).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Signer le PV en ligne</a:t>
            </a:r>
            <a:endParaRPr lang="en-US" sz="2600" dirty="0"/>
          </a:p>
        </p:txBody>
      </p:sp>
      <p:sp>
        <p:nvSpPr>
          <p:cNvPr id="4" name="Shape 2"/>
          <p:cNvSpPr/>
          <p:nvPr/>
        </p:nvSpPr>
        <p:spPr>
          <a:xfrm>
            <a:off x="800080" y="1193800"/>
            <a:ext cx="10591535" cy="1500216"/>
          </a:xfrm>
          <a:prstGeom prst="rect">
            <a:avLst/>
          </a:prstGeom>
          <a:solidFill>
            <a:srgbClr val="FCFCFA"/>
          </a:solidFill>
          <a:ln w="9525">
            <a:solidFill>
              <a:srgbClr val="D5DCE4"/>
            </a:solidFill>
            <a:prstDash val="solid"/>
          </a:ln>
        </p:spPr>
      </p:sp>
      <p:pic>
        <p:nvPicPr>
          <p:cNvPr id="5" name="Image 0" descr="Signer le PV en ligne">    </p:cNvPr>
          <p:cNvPicPr>
            <a:picLocks noChangeAspect="1"/>
          </p:cNvPicPr>
          <p:nvPr/>
        </p:nvPicPr>
        <p:blipFill>
          <a:blip r:embed="rId1"/>
          <a:stretch>
            <a:fillRect/>
          </a:stretch>
        </p:blipFill>
        <p:spPr>
          <a:xfrm>
            <a:off x="812780" y="1206500"/>
            <a:ext cx="10566136" cy="1474816"/>
          </a:xfrm>
          <a:prstGeom prst="rect">
            <a:avLst/>
          </a:prstGeom>
        </p:spPr>
      </p:pic>
      <p:sp>
        <p:nvSpPr>
          <p:cNvPr id="6" name="Shape 3"/>
          <p:cNvSpPr/>
          <p:nvPr/>
        </p:nvSpPr>
        <p:spPr>
          <a:xfrm>
            <a:off x="812780" y="2833716"/>
            <a:ext cx="10566136" cy="1517650"/>
          </a:xfrm>
          <a:prstGeom prst="rect">
            <a:avLst/>
          </a:prstGeom>
          <a:solidFill>
            <a:srgbClr val="FCFCFA"/>
          </a:solidFill>
          <a:ln w="9525">
            <a:solidFill>
              <a:srgbClr val="D5DCE4"/>
            </a:solidFill>
            <a:prstDash val="solid"/>
          </a:ln>
        </p:spPr>
      </p:sp>
      <p:sp>
        <p:nvSpPr>
          <p:cNvPr id="7" name="Shape 4"/>
          <p:cNvSpPr/>
          <p:nvPr/>
        </p:nvSpPr>
        <p:spPr>
          <a:xfrm>
            <a:off x="812780" y="2833716"/>
            <a:ext cx="38099" cy="1517650"/>
          </a:xfrm>
          <a:prstGeom prst="rect">
            <a:avLst/>
          </a:prstGeom>
          <a:solidFill>
            <a:srgbClr val="1B6FA8"/>
          </a:solidFill>
          <a:ln/>
        </p:spPr>
      </p:sp>
      <p:sp>
        <p:nvSpPr>
          <p:cNvPr id="8" name="Text 5"/>
          <p:cNvSpPr/>
          <p:nvPr/>
        </p:nvSpPr>
        <p:spPr>
          <a:xfrm>
            <a:off x="977876" y="2935316"/>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Relire le PV, puis signer : la signature est horodatée et imprimée au PV.</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président peut constater l’empêchement d’un membre, avec un motif, tant que le quorum reste atteignable.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signé, quorum atteint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V signé, quorum attei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séance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enveloppes techniques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d’une consultation de prestations intellectuelles : les offres sont lues sans aucun montant.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Quorum atteint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 sur 2 requis (majorité des membres désignés) · président signataire » ; chaque signature électronique datée.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s’enregistre en PDF ; l’évaluation des offres s’ouvre.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séance : les enveloppes financières</a:t>
            </a:r>
            <a:endParaRPr lang="en-US" sz="2600" dirty="0"/>
          </a:p>
        </p:txBody>
      </p:sp>
      <p:sp>
        <p:nvSpPr>
          <p:cNvPr id="4" name="Shape 2"/>
          <p:cNvSpPr/>
          <p:nvPr/>
        </p:nvSpPr>
        <p:spPr>
          <a:xfrm>
            <a:off x="2274656" y="1193800"/>
            <a:ext cx="7642382" cy="3327400"/>
          </a:xfrm>
          <a:prstGeom prst="rect">
            <a:avLst/>
          </a:prstGeom>
          <a:solidFill>
            <a:srgbClr val="FCFCFA"/>
          </a:solidFill>
          <a:ln w="9525">
            <a:solidFill>
              <a:srgbClr val="D5DCE4"/>
            </a:solidFill>
            <a:prstDash val="solid"/>
          </a:ln>
        </p:spPr>
      </p:sp>
      <p:pic>
        <p:nvPicPr>
          <p:cNvPr id="5" name="Image 0" descr="La seconde séance : les enveloppes financières">    </p:cNvPr>
          <p:cNvPicPr>
            <a:picLocks noChangeAspect="1"/>
          </p:cNvPicPr>
          <p:nvPr/>
        </p:nvPicPr>
        <p:blipFill>
          <a:blip r:embed="rId1"/>
          <a:stretch>
            <a:fillRect/>
          </a:stretch>
        </p:blipFill>
        <p:spPr>
          <a:xfrm>
            <a:off x="2287356" y="1206500"/>
            <a:ext cx="761698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l’arrêt de l’évaluation technique, seules s’ouvrent les enveloppes financières des propositions qualifiées, avec les mêmes clés ; les autres restent scellées, avec leur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Montants lus, présents, observations ; le PV se signe comme celui de la première séance.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08</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Évaluer les offres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Du PV d’ouverture signé au rapport d’évaluation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RESPONSABLE DE LA PROCÉDURE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avant son 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évaluation, avant son 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Elle s’ouvre quand le PV d’ouverture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signé de tous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avant, l’application le refuse et l’écran le dit.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fois ouverte, les membres de la commission et la PRMP en sont avertis.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L’entrée depuis l’espace de la commission</a:t>
            </a:r>
            <a:endParaRPr lang="en-US" sz="2600" dirty="0"/>
          </a:p>
        </p:txBody>
      </p:sp>
      <p:sp>
        <p:nvSpPr>
          <p:cNvPr id="4" name="Shape 2"/>
          <p:cNvSpPr/>
          <p:nvPr/>
        </p:nvSpPr>
        <p:spPr>
          <a:xfrm>
            <a:off x="800080" y="1193800"/>
            <a:ext cx="10591535" cy="1060328"/>
          </a:xfrm>
          <a:prstGeom prst="rect">
            <a:avLst/>
          </a:prstGeom>
          <a:solidFill>
            <a:srgbClr val="FCFCFA"/>
          </a:solidFill>
          <a:ln w="9525">
            <a:solidFill>
              <a:srgbClr val="D5DCE4"/>
            </a:solidFill>
            <a:prstDash val="solid"/>
          </a:ln>
        </p:spPr>
      </p:sp>
      <p:pic>
        <p:nvPicPr>
          <p:cNvPr id="5" name="Image 0" descr="L’entrée depuis l’espace de la commission">    </p:cNvPr>
          <p:cNvPicPr>
            <a:picLocks noChangeAspect="1"/>
          </p:cNvPicPr>
          <p:nvPr/>
        </p:nvPicPr>
        <p:blipFill>
          <a:blip r:embed="rId1"/>
          <a:stretch>
            <a:fillRect/>
          </a:stretch>
        </p:blipFill>
        <p:spPr>
          <a:xfrm>
            <a:off x="812780" y="1206500"/>
            <a:ext cx="10566136" cy="1034928"/>
          </a:xfrm>
          <a:prstGeom prst="rect">
            <a:avLst/>
          </a:prstGeom>
        </p:spPr>
      </p:pic>
      <p:sp>
        <p:nvSpPr>
          <p:cNvPr id="6" name="Shape 3"/>
          <p:cNvSpPr/>
          <p:nvPr/>
        </p:nvSpPr>
        <p:spPr>
          <a:xfrm>
            <a:off x="812780" y="2393828"/>
            <a:ext cx="10566136" cy="1517650"/>
          </a:xfrm>
          <a:prstGeom prst="rect">
            <a:avLst/>
          </a:prstGeom>
          <a:solidFill>
            <a:srgbClr val="FCFCFA"/>
          </a:solidFill>
          <a:ln w="9525">
            <a:solidFill>
              <a:srgbClr val="D5DCE4"/>
            </a:solidFill>
            <a:prstDash val="solid"/>
          </a:ln>
        </p:spPr>
      </p:sp>
      <p:sp>
        <p:nvSpPr>
          <p:cNvPr id="7" name="Shape 4"/>
          <p:cNvSpPr/>
          <p:nvPr/>
        </p:nvSpPr>
        <p:spPr>
          <a:xfrm>
            <a:off x="812780" y="2393828"/>
            <a:ext cx="38099" cy="1517650"/>
          </a:xfrm>
          <a:prstGeom prst="rect">
            <a:avLst/>
          </a:prstGeom>
          <a:solidFill>
            <a:srgbClr val="1B6FA8"/>
          </a:solidFill>
          <a:ln/>
        </p:spPr>
      </p:sp>
      <p:sp>
        <p:nvSpPr>
          <p:cNvPr id="8" name="Text 5"/>
          <p:cNvSpPr/>
          <p:nvPr/>
        </p:nvSpPr>
        <p:spPr>
          <a:xfrm>
            <a:off x="977876" y="2495428"/>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d’appel d’offres.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de la procédure, « Ouvrir l’évaluation » conduit à l’écran de travail de la commission.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Mes procédures » compte les évaluations en cours et les rapports à signer.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déclaration préalable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déclaration préalabl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président compris.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Absence de conflit d’intérêts (art. 21-d) et engagement de confidentialité (art. 12-V)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avant toute décision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elle ne se reprend pas.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membre qui déclare un conflit lit l’évaluation, mais n’y décide rien.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grille de l’offre, et sa décision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grille de l’offre, et sa déci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 le président arrête l’étape.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Neuf vérifications, chacune avec « ce que la séance a établi » et une proposition ; la commission confirme ou corrige.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l’offre n° 2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écartée — non conforme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garantie de 800 000 Ar pour un minimum de 1 600 000 Ar, avec la clause du DAO visée (DPAO 6.6).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décision porte son auteur et son heure ; l’étape arrêtée porte celui qui l’a arrêtée.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MONTANT ÉVALUÉ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montant évalué et le tableau du guide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ontant évalué et le tableau du guid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l’offre n° 4 : prix lu 168 000 000 Ar HT, prix corrigé 167 500 000 Ar, rabais 1 500 000 Ar,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montant évalué 166 000 000 Ar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rang 1.</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tableau d’évaluation du guide : une ligne par offre, du prix lu au montant évalué, au rang et à la qualification ; l’offre écartée y garde son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montants en ariary, hors taxes.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MONTANT ÉVALUÉ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corrections, dont une hors calcul</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orrections, dont une hors calcul">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prix unitaire prévaut sur le total, les lettres sur les chiffres : ces corrections ne peuvent 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reprendre celles que l’application a calculées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erreur de report du sous-total, que l’application ne calcule pas, se lit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Hors calcul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elle exige un motif et sera signalée au contrôle du dossier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Rabais lu sur l’acte d’engagement, marge de préférence et critères additionnels du DAO — eux seuls —, refus de la correction par le candidat.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OFFRES ANORMALES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indicateurs de prix</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indicateurs de prix">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offre classée : l’écart à l’estimation du plan et à la moyenne des offres ; ici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+10,7 %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sur une estimation de 150 000 000 Ar.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Sans méthode fixée par le DAO, la commission motive son appréciation au cas par cas : ce sont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indicateurs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jamais une décision.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L’offre est jugée « non suspectée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OFFRES ANORMALES · PRMP ET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offre maintenue après justification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e offre maintenue après justific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demande ; le candidat répond ; la commission décide.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méthode du DAO est rappelée en clair : moyenne de référence, seuils de 20 % au-dessus et de 10 % au-dessous.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justification demandée, son échéance, la réponse du candidat : la commission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maintient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l’offre, motif à l’appui.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Faute de réponse à l’échéance, l’offre porterait la mention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Défaut de réponse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silence vaut refus de justifier (art. 48).</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POST-QUALIFICATION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post-qualification et la proposition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ost-qualification et la proposi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 le président arrête l’étape.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proposition d’attribution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lot : offre n° 4, 166 000 000 Ar HT (prix corrigé, rabais déduit), délai de 3 mois tiré de l’acte d’engagement.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Critère par critère : l’exigence du DAO, le constat de séance, la décision et son motif ; les capacités déclarées se lisent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non qualifiée est écartée avec motif et clause : le tour passe à la suivante.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rapport signé, au quorum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apport signé, au quoru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signent ; le président est toujours requis.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Signé de tous » : produit et signé le même jour, lisible en PDF et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signature est datée ; un membre y porte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observation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va au rapport.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Quorum atteint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 sur 2 requis (majorité des membres désignés), président signataire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Signer, avec une observation</a:t>
            </a:r>
            <a:endParaRPr lang="en-US" sz="2600" dirty="0"/>
          </a:p>
        </p:txBody>
      </p:sp>
      <p:sp>
        <p:nvSpPr>
          <p:cNvPr id="4" name="Shape 2"/>
          <p:cNvSpPr/>
          <p:nvPr/>
        </p:nvSpPr>
        <p:spPr>
          <a:xfrm>
            <a:off x="997916" y="1193800"/>
            <a:ext cx="10195862" cy="3327400"/>
          </a:xfrm>
          <a:prstGeom prst="rect">
            <a:avLst/>
          </a:prstGeom>
          <a:solidFill>
            <a:srgbClr val="FCFCFA"/>
          </a:solidFill>
          <a:ln w="9525">
            <a:solidFill>
              <a:srgbClr val="D5DCE4"/>
            </a:solidFill>
            <a:prstDash val="solid"/>
          </a:ln>
        </p:spPr>
      </p:sp>
      <p:pic>
        <p:nvPicPr>
          <p:cNvPr id="5" name="Image 0" descr="Signer, avec une observation">    </p:cNvPr>
          <p:cNvPicPr>
            <a:picLocks noChangeAspect="1"/>
          </p:cNvPicPr>
          <p:nvPr/>
        </p:nvPicPr>
        <p:blipFill>
          <a:blip r:embed="rId1"/>
          <a:stretch>
            <a:fillRect/>
          </a:stretch>
        </p:blipFill>
        <p:spPr>
          <a:xfrm>
            <a:off x="1010616" y="1206500"/>
            <a:ext cx="10170463"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qui n’a pas déclaré de conflit.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membre relit le rapport, puis signe : signature électronique simple, horodatée.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désaccord, il porte son observation au rapport ; un empêchement est constaté par le président, avec un motif.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rapport, sur le plan du guide</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e rapport, sur le plan du guide">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Produit par l’application ; non public.</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Références et commission, plis reçus, puis lot par lot : examen préliminaire, corrections, montant évalué et classement, offres anormales, post-qualification, proposition d’attribution.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Puis les signatures et les annexes : déclarations des membres, échanges avec les candidats.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grille technique d’un membre</a:t>
            </a:r>
            <a:endParaRPr lang="en-US" sz="2600" dirty="0"/>
          </a:p>
        </p:txBody>
      </p:sp>
      <p:sp>
        <p:nvSpPr>
          <p:cNvPr id="4" name="Shape 2"/>
          <p:cNvSpPr/>
          <p:nvPr/>
        </p:nvSpPr>
        <p:spPr>
          <a:xfrm>
            <a:off x="2275249" y="1193800"/>
            <a:ext cx="7641196" cy="3327400"/>
          </a:xfrm>
          <a:prstGeom prst="rect">
            <a:avLst/>
          </a:prstGeom>
          <a:solidFill>
            <a:srgbClr val="FCFCFA"/>
          </a:solidFill>
          <a:ln w="9525">
            <a:solidFill>
              <a:srgbClr val="D5DCE4"/>
            </a:solidFill>
            <a:prstDash val="solid"/>
          </a:ln>
        </p:spPr>
      </p:sp>
      <p:pic>
        <p:nvPicPr>
          <p:cNvPr id="5" name="Image 0" descr="La grille technique d’un membre">    </p:cNvPr>
          <p:cNvPicPr>
            <a:picLocks noChangeAspect="1"/>
          </p:cNvPicPr>
          <p:nvPr/>
        </p:nvPicPr>
        <p:blipFill>
          <a:blip r:embed="rId1"/>
          <a:stretch>
            <a:fillRect/>
          </a:stretch>
        </p:blipFill>
        <p:spPr>
          <a:xfrm>
            <a:off x="2287949" y="1206500"/>
            <a:ext cx="7615797"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sans conflit.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note chaque élément de la grille de la fiche et motive ; la moyenne, le minimum et le maximum s’affichent.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ligne est signalée quand la note la plus haute et la plus basse s’écartent de plus de 20 % du maximum.</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classement technique</a:t>
            </a:r>
            <a:endParaRPr lang="en-US" sz="2600" dirty="0"/>
          </a:p>
        </p:txBody>
      </p:sp>
      <p:sp>
        <p:nvSpPr>
          <p:cNvPr id="4" name="Shape 2"/>
          <p:cNvSpPr/>
          <p:nvPr/>
        </p:nvSpPr>
        <p:spPr>
          <a:xfrm>
            <a:off x="800080" y="1193800"/>
            <a:ext cx="10591535" cy="2855169"/>
          </a:xfrm>
          <a:prstGeom prst="rect">
            <a:avLst/>
          </a:prstGeom>
          <a:solidFill>
            <a:srgbClr val="FCFCFA"/>
          </a:solidFill>
          <a:ln w="9525">
            <a:solidFill>
              <a:srgbClr val="D5DCE4"/>
            </a:solidFill>
            <a:prstDash val="solid"/>
          </a:ln>
        </p:spPr>
      </p:sp>
      <p:pic>
        <p:nvPicPr>
          <p:cNvPr id="5" name="Image 0" descr="Le classement technique">    </p:cNvPr>
          <p:cNvPicPr>
            <a:picLocks noChangeAspect="1"/>
          </p:cNvPicPr>
          <p:nvPr/>
        </p:nvPicPr>
        <p:blipFill>
          <a:blip r:embed="rId1"/>
          <a:stretch>
            <a:fillRect/>
          </a:stretch>
        </p:blipFill>
        <p:spPr>
          <a:xfrm>
            <a:off x="812780" y="1206500"/>
            <a:ext cx="10566136" cy="2829769"/>
          </a:xfrm>
          <a:prstGeom prst="rect">
            <a:avLst/>
          </a:prstGeom>
        </p:spPr>
      </p:pic>
      <p:sp>
        <p:nvSpPr>
          <p:cNvPr id="6" name="Shape 3"/>
          <p:cNvSpPr/>
          <p:nvPr/>
        </p:nvSpPr>
        <p:spPr>
          <a:xfrm>
            <a:off x="812780" y="4188669"/>
            <a:ext cx="10566136" cy="1517650"/>
          </a:xfrm>
          <a:prstGeom prst="rect">
            <a:avLst/>
          </a:prstGeom>
          <a:solidFill>
            <a:srgbClr val="FCFCFA"/>
          </a:solidFill>
          <a:ln w="9525">
            <a:solidFill>
              <a:srgbClr val="D5DCE4"/>
            </a:solidFill>
            <a:prstDash val="solid"/>
          </a:ln>
        </p:spPr>
      </p:sp>
      <p:sp>
        <p:nvSpPr>
          <p:cNvPr id="7" name="Shape 4"/>
          <p:cNvSpPr/>
          <p:nvPr/>
        </p:nvSpPr>
        <p:spPr>
          <a:xfrm>
            <a:off x="812780" y="4188669"/>
            <a:ext cx="38099" cy="1517650"/>
          </a:xfrm>
          <a:prstGeom prst="rect">
            <a:avLst/>
          </a:prstGeom>
          <a:solidFill>
            <a:srgbClr val="1B6FA8"/>
          </a:solidFill>
          <a:ln/>
        </p:spPr>
      </p:sp>
      <p:sp>
        <p:nvSpPr>
          <p:cNvPr id="8" name="Text 5"/>
          <p:cNvSpPr/>
          <p:nvPr/>
        </p:nvSpPr>
        <p:spPr>
          <a:xfrm>
            <a:off x="977876" y="4290269"/>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commission ; le président arrête.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note technique, somme des moyennes ; les grilles reçues ou complètes ; le rang.</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Sous le score minimum, la proposition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éliminée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67,5 points pour un minimum de 70.</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séance et le classement financier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econde séance et le classement financ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seconde séance n’ouvre que l’enveloppe financière de la proposition retenue ; l’enveloppe éliminée à l’évaluation technique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s’ouvre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raison est écrite.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Méthode qualité-coût, poids technique 0,8 et financier 0,2 : le classement est arrêté par le président.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saisie d’une enveloppe financière</a:t>
            </a:r>
            <a:endParaRPr lang="en-US" sz="2600" dirty="0"/>
          </a:p>
        </p:txBody>
      </p:sp>
      <p:sp>
        <p:nvSpPr>
          <p:cNvPr id="4" name="Shape 2"/>
          <p:cNvSpPr/>
          <p:nvPr/>
        </p:nvSpPr>
        <p:spPr>
          <a:xfrm>
            <a:off x="1616405" y="1193800"/>
            <a:ext cx="8958885" cy="3327400"/>
          </a:xfrm>
          <a:prstGeom prst="rect">
            <a:avLst/>
          </a:prstGeom>
          <a:solidFill>
            <a:srgbClr val="FCFCFA"/>
          </a:solidFill>
          <a:ln w="9525">
            <a:solidFill>
              <a:srgbClr val="D5DCE4"/>
            </a:solidFill>
            <a:prstDash val="solid"/>
          </a:ln>
        </p:spPr>
      </p:sp>
      <p:pic>
        <p:nvPicPr>
          <p:cNvPr id="5" name="Image 0" descr="La saisie d’une enveloppe financière">    </p:cNvPr>
          <p:cNvPicPr>
            <a:picLocks noChangeAspect="1"/>
          </p:cNvPicPr>
          <p:nvPr/>
        </p:nvPicPr>
        <p:blipFill>
          <a:blip r:embed="rId1"/>
          <a:stretch>
            <a:fillRect/>
          </a:stretch>
        </p:blipFill>
        <p:spPr>
          <a:xfrm>
            <a:off x="1629105" y="1206500"/>
            <a:ext cx="8933486"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Corrections arithmétiques et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dépenses remboursables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saisies par la commission : le montant comparé en découle.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 dépenses servent à comparer les propositions ; elles ne changent pas le prix du marché.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négociation réussie, le rapport à produire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négociation réussie, le rapport à produ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Prix lu et corrigé 2 400 000 000 Ar HT, dépenses remboursables 150 000 000 Ar : montant comparé 2 250 000 000 Ar, score combiné 89,6, rang 1.</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négociation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réussie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son PV se lit en PDF et en Word, et la proposition d’attribution en découle.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lot étant prêt, le responsable produit le rapport, avec ses observations facultatives.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APRÈS UN AVIS DÉFAVORABLE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reprise, le rapport archivé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valuation reprise, le rapport archiv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reprend ; la commission refait le rapport.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Reprise après avis défavorable », datée et motivée : le rapport est repris pour corriger le calendrier de mobilisation.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rapport signé précédent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archivé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lisible en PDF et en Word ; le lot revient « Évaluation en cours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nouveau rapport, puis un nouveau dossier de marché suivront.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la commission d’appel d’offres, le responsable et le dépositaire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76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(1/16)</a:t>
            </a:r>
            <a:endParaRPr lang="en-US" sz="2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paramètres internes ne sortent jamais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Détenteurs des parts, quorum de déchiffrement, date de la cérémonie, dépositaire de la part de secours : ils ne s’impriment dans aucun document. Seul le </a:t>
                      </a:r>
                      <a:pPr indent="0" marL="0">
                        <a:buNone/>
                      </a:pPr>
                      <a:r>
                        <a:rPr lang="en-US" sz="1100" b="1" dirty="0">
                          <a:solidFill>
                            <a:srgbClr val="1B2A3A"/>
                          </a:solidFill>
                          <a:latin typeface="Segoe UI" pitchFamily="34" charset="0"/>
                          <a:ea typeface="Segoe UI" pitchFamily="34" charset="-122"/>
                          <a:cs typeface="Segoe UI" pitchFamily="34" charset="-120"/>
                        </a:rPr>
                        <a:t>responsable de la procédure</a:t>
                      </a:r>
                      <a:pPr indent="0" marL="0">
                        <a:buNone/>
                      </a:pPr>
                      <a:r>
                        <a:rPr lang="en-US" sz="1100" dirty="0">
                          <a:solidFill>
                            <a:srgbClr val="1B2A3A"/>
                          </a:solidFill>
                          <a:latin typeface="Segoe UI" pitchFamily="34" charset="0"/>
                          <a:ea typeface="Segoe UI" pitchFamily="34" charset="-122"/>
                          <a:cs typeface="Segoe UI" pitchFamily="34" charset="-120"/>
                        </a:rPr>
                        <a:t> les lit et les modifie ; chaque modification est journalisée avec l’ancienne et la nouvelle valeur. La fiche n’en montre à tous que l’état.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quorum et la cérémonie des clés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quorum de déchiffrement est compris entre 2 et le nombre de membres ; égal au nombre de membres, il est signalé (aucune perte tolérée). Une part de secours est générée par un </a:t>
                      </a:r>
                      <a:pPr indent="0" marL="0">
                        <a:buNone/>
                      </a:pPr>
                      <a:r>
                        <a:rPr lang="en-US" sz="1100" b="1" dirty="0">
                          <a:solidFill>
                            <a:srgbClr val="1B2A3A"/>
                          </a:solidFill>
                          <a:latin typeface="Segoe UI" pitchFamily="34" charset="0"/>
                          <a:ea typeface="Segoe UI" pitchFamily="34" charset="-122"/>
                          <a:cs typeface="Segoe UI" pitchFamily="34" charset="-120"/>
                        </a:rPr>
                        <a:t>dépositaire</a:t>
                      </a:r>
                      <a:pPr indent="0" marL="0">
                        <a:buNone/>
                      </a:pPr>
                      <a:r>
                        <a:rPr lang="en-US" sz="1100" dirty="0">
                          <a:solidFill>
                            <a:srgbClr val="1B2A3A"/>
                          </a:solidFill>
                          <a:latin typeface="Segoe UI" pitchFamily="34" charset="0"/>
                          <a:ea typeface="Segoe UI" pitchFamily="34" charset="-122"/>
                          <a:cs typeface="Segoe UI" pitchFamily="34" charset="-120"/>
                        </a:rPr>
                        <a:t> extérieur à la commission. La cérémonie des clés doit être close avant la publication de l’avis.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signature de l’offre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Pendant une procédure en ligne, le dépôt de l’offre depuis le compte authentifié du candidat, </a:t>
                      </a:r>
                      <a:pPr indent="0" marL="0">
                        <a:buNone/>
                      </a:pPr>
                      <a:r>
                        <a:rPr lang="en-US" sz="1100" b="1" dirty="0">
                          <a:solidFill>
                            <a:srgbClr val="1B2A3A"/>
                          </a:solidFill>
                          <a:latin typeface="Segoe UI" pitchFamily="34" charset="0"/>
                          <a:ea typeface="Segoe UI" pitchFamily="34" charset="-122"/>
                          <a:cs typeface="Segoe UI" pitchFamily="34" charset="-120"/>
                        </a:rPr>
                        <a:t>scellé par la plateforme</a:t>
                      </a:r>
                      <a:pPr indent="0" marL="0">
                        <a:buNone/>
                      </a:pPr>
                      <a:r>
                        <a:rPr lang="en-US" sz="1100" dirty="0">
                          <a:solidFill>
                            <a:srgbClr val="1B2A3A"/>
                          </a:solidFill>
                          <a:latin typeface="Segoe UI" pitchFamily="34" charset="0"/>
                          <a:ea typeface="Segoe UI" pitchFamily="34" charset="-122"/>
                          <a:cs typeface="Segoe UI" pitchFamily="34" charset="-120"/>
                        </a:rPr>
                        <a:t>, vaut signature de l’offre et de l’acte d’engagement ; les données particulières du DAO le disent. L’attributaire remet ensuite l’</a:t>
                      </a:r>
                      <a:pPr indent="0" marL="0">
                        <a:buNone/>
                      </a:pPr>
                      <a:r>
                        <a:rPr lang="en-US" sz="1100" b="1" dirty="0">
                          <a:solidFill>
                            <a:srgbClr val="1B2A3A"/>
                          </a:solidFill>
                          <a:latin typeface="Segoe UI" pitchFamily="34" charset="0"/>
                          <a:ea typeface="Segoe UI" pitchFamily="34" charset="-122"/>
                          <a:cs typeface="Segoe UI" pitchFamily="34" charset="-120"/>
                        </a:rPr>
                        <a:t>original signé</a:t>
                      </a:r>
                      <a:pPr indent="0" marL="0">
                        <a:buNone/>
                      </a:pPr>
                      <a:r>
                        <a:rPr lang="en-US" sz="1100" dirty="0">
                          <a:solidFill>
                            <a:srgbClr val="1B2A3A"/>
                          </a:solidFill>
                          <a:latin typeface="Segoe UI" pitchFamily="34" charset="0"/>
                          <a:ea typeface="Segoe UI" pitchFamily="34" charset="-122"/>
                          <a:cs typeface="Segoe UI" pitchFamily="34" charset="-120"/>
                        </a:rPr>
                        <a:t> de son acte d’engagement, avant la signature du marché. La signature électronique certifiée est une option réservée, sans effet pour l’instant ; la procédure papier n’est pas concernée.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déclaration propre à l’AMI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de la commission d’appel d’offres signe une déclaration propre à l’AMI, avant toute décision ; elle ne se reprend pas. Un membre en </a:t>
                      </a:r>
                      <a:pPr indent="0" marL="0">
                        <a:buNone/>
                      </a:pPr>
                      <a:r>
                        <a:rPr lang="en-US" sz="1100" b="1" dirty="0">
                          <a:solidFill>
                            <a:srgbClr val="1B2A3A"/>
                          </a:solidFill>
                          <a:latin typeface="Segoe UI" pitchFamily="34" charset="0"/>
                          <a:ea typeface="Segoe UI" pitchFamily="34" charset="-122"/>
                          <a:cs typeface="Segoe UI" pitchFamily="34" charset="-120"/>
                        </a:rPr>
                        <a:t>conflit d’intérêts</a:t>
                      </a:r>
                      <a:pPr indent="0" marL="0">
                        <a:buNone/>
                      </a:pPr>
                      <a:r>
                        <a:rPr lang="en-US" sz="1100" dirty="0">
                          <a:solidFill>
                            <a:srgbClr val="1B2A3A"/>
                          </a:solidFill>
                          <a:latin typeface="Segoe UI" pitchFamily="34" charset="0"/>
                          <a:ea typeface="Segoe UI" pitchFamily="34" charset="-122"/>
                          <a:cs typeface="Segoe UI" pitchFamily="34" charset="-120"/>
                        </a:rPr>
                        <a:t> ne décide rien et ne signe pas le rapport.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notation collégiale et motivée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membre déclaré sans conflit note chaque expression critère par critère, de zéro aux points du critère, toujours avec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Une nouvelle note remplace la précédente ; le journal garde chaque saisie.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(2/16)</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Écarter une expression, avec un motif</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membre peut écarter une expression avec un motif, ou la rétablir. Une expression écartée ne se note plus.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Qualifiée, puis classée par total</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Est </a:t>
                      </a:r>
                      <a:pPr indent="0" marL="0">
                        <a:buNone/>
                      </a:pPr>
                      <a:r>
                        <a:rPr lang="en-US" sz="1100" b="1" dirty="0">
                          <a:solidFill>
                            <a:srgbClr val="1B2A3A"/>
                          </a:solidFill>
                          <a:latin typeface="Segoe UI" pitchFamily="34" charset="0"/>
                          <a:ea typeface="Segoe UI" pitchFamily="34" charset="-122"/>
                          <a:cs typeface="Segoe UI" pitchFamily="34" charset="-120"/>
                        </a:rPr>
                        <a:t>qualifiée</a:t>
                      </a:r>
                      <a:pPr indent="0" marL="0">
                        <a:buNone/>
                      </a:pPr>
                      <a:r>
                        <a:rPr lang="en-US" sz="1100" dirty="0">
                          <a:solidFill>
                            <a:srgbClr val="1B2A3A"/>
                          </a:solidFill>
                          <a:latin typeface="Segoe UI" pitchFamily="34" charset="0"/>
                          <a:ea typeface="Segoe UI" pitchFamily="34" charset="-122"/>
                          <a:cs typeface="Segoe UI" pitchFamily="34" charset="-120"/>
                        </a:rPr>
                        <a:t> une expression notée sur tous les critères, non écartée, qui atteint la note minimale. L’application totalise sur 100 et classe les qualifiées par total décroissant.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Moins de qualifiés que de places : motiver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S’il y a moins de qualifiées que de places, la liste s’arrête avec elles et le nombre est </a:t>
                      </a:r>
                      <a:pPr indent="0" marL="0">
                        <a:buNone/>
                      </a:pPr>
                      <a:r>
                        <a:rPr lang="en-US" sz="1100" b="1" dirty="0">
                          <a:solidFill>
                            <a:srgbClr val="1B2A3A"/>
                          </a:solidFill>
                          <a:latin typeface="Segoe UI" pitchFamily="34" charset="0"/>
                          <a:ea typeface="Segoe UI" pitchFamily="34" charset="-122"/>
                          <a:cs typeface="Segoe UI" pitchFamily="34" charset="-120"/>
                        </a:rPr>
                        <a:t>motivé</a:t>
                      </a:r>
                      <a:pPr indent="0" marL="0">
                        <a:buNone/>
                      </a:pPr>
                      <a:r>
                        <a:rPr lang="en-US" sz="1100" dirty="0">
                          <a:solidFill>
                            <a:srgbClr val="1B2A3A"/>
                          </a:solidFill>
                          <a:latin typeface="Segoe UI" pitchFamily="34" charset="0"/>
                          <a:ea typeface="Segoe UI" pitchFamily="34" charset="-122"/>
                          <a:cs typeface="Segoe UI" pitchFamily="34" charset="-120"/>
                        </a:rPr>
                        <a:t> au rapport ; la PRMP peut, à la place, relancer l’AMI.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président arrête la liste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fois toutes les expressions non écartées notées, le </a:t>
                      </a:r>
                      <a:pPr indent="0" marL="0">
                        <a:buNone/>
                      </a:pPr>
                      <a:r>
                        <a:rPr lang="en-US" sz="1100" b="1" dirty="0">
                          <a:solidFill>
                            <a:srgbClr val="1B2A3A"/>
                          </a:solidFill>
                          <a:latin typeface="Segoe UI" pitchFamily="34" charset="0"/>
                          <a:ea typeface="Segoe UI" pitchFamily="34" charset="-122"/>
                          <a:cs typeface="Segoe UI" pitchFamily="34" charset="-120"/>
                        </a:rPr>
                        <a:t>président</a:t>
                      </a:r>
                      <a:pPr indent="0" marL="0">
                        <a:buNone/>
                      </a:pPr>
                      <a:r>
                        <a:rPr lang="en-US" sz="1100" dirty="0">
                          <a:solidFill>
                            <a:srgbClr val="1B2A3A"/>
                          </a:solidFill>
                          <a:latin typeface="Segoe UI" pitchFamily="34" charset="0"/>
                          <a:ea typeface="Segoe UI" pitchFamily="34" charset="-122"/>
                          <a:cs typeface="Segoe UI" pitchFamily="34" charset="-120"/>
                        </a:rPr>
                        <a:t> arrête la liste des premières qualifiées, dans la limite du nombre fixé par l’AMI. Une égalité au seuil se départage.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quorum de la commission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L’arrêt de la liste restreinte exige le </a:t>
                      </a:r>
                      <a:pPr indent="0" marL="0">
                        <a:buNone/>
                      </a:pPr>
                      <a:r>
                        <a:rPr lang="en-US" sz="1100" b="1" dirty="0">
                          <a:solidFill>
                            <a:srgbClr val="1B2A3A"/>
                          </a:solidFill>
                          <a:latin typeface="Segoe UI" pitchFamily="34" charset="0"/>
                          <a:ea typeface="Segoe UI" pitchFamily="34" charset="-122"/>
                          <a:cs typeface="Segoe UI" pitchFamily="34" charset="-120"/>
                        </a:rPr>
                        <a:t>quorum</a:t>
                      </a:r>
                      <a:pPr indent="0" marL="0">
                        <a:buNone/>
                      </a:pPr>
                      <a:r>
                        <a:rPr lang="en-US" sz="1100" dirty="0">
                          <a:solidFill>
                            <a:srgbClr val="1B2A3A"/>
                          </a:solidFill>
                          <a:latin typeface="Segoe UI" pitchFamily="34" charset="0"/>
                          <a:ea typeface="Segoe UI" pitchFamily="34" charset="-122"/>
                          <a:cs typeface="Segoe UI" pitchFamily="34" charset="-120"/>
                        </a:rPr>
                        <a:t> de la commission (par défaut, plus de la moitié des membres désignés), le président ou son représentant toujours requis. Le rapport signé vaut </a:t>
                      </a:r>
                      <a:pPr indent="0" marL="0">
                        <a:buNone/>
                      </a:pPr>
                      <a:r>
                        <a:rPr lang="en-US" sz="1100" b="1" dirty="0">
                          <a:solidFill>
                            <a:srgbClr val="1B2A3A"/>
                          </a:solidFill>
                          <a:latin typeface="Segoe UI" pitchFamily="34" charset="0"/>
                          <a:ea typeface="Segoe UI" pitchFamily="34" charset="-122"/>
                          <a:cs typeface="Segoe UI" pitchFamily="34" charset="-120"/>
                        </a:rPr>
                        <a:t>procès-verbal de validation</a:t>
                      </a:r>
                      <a:pPr indent="0" marL="0">
                        <a:buNone/>
                      </a:pPr>
                      <a:r>
                        <a:rPr lang="en-US" sz="1100" dirty="0">
                          <a:solidFill>
                            <a:srgbClr val="1B2A3A"/>
                          </a:solidFill>
                          <a:latin typeface="Segoe UI" pitchFamily="34" charset="0"/>
                          <a:ea typeface="Segoe UI" pitchFamily="34" charset="-122"/>
                          <a:cs typeface="Segoe UI" pitchFamily="34" charset="-120"/>
                        </a:rPr>
                        <a:t> : il porte la date de la dernière signature, les membres et leur qualité, les empêchements, les exclus pour conflit d’intérêts et le quorum constaté.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(3/16)</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commission désignée par la PRMP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constitue la commission d’appel d’offres par une décision, saisie par elle ou par son UGPM : au moins deux membres, un président parmi eux. Seuls les membres détiennent une part de clé. Ni la PRMP, ni l’UGPM, ni un contrôleur de la CNM, ni un candidat n’y siège.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cérémonie des clés avant l’avis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de la commission génère sa clé dans son navigateur ; le serveur ne détient jamais une clé privée en clair. L’avis (ou les lettres d’invitation) ne se publie qu’une fois la </a:t>
                      </a:r>
                      <a:pPr indent="0" marL="0">
                        <a:buNone/>
                      </a:pPr>
                      <a:r>
                        <a:rPr lang="en-US" sz="1100" b="1" dirty="0">
                          <a:solidFill>
                            <a:srgbClr val="1B2A3A"/>
                          </a:solidFill>
                          <a:latin typeface="Segoe UI" pitchFamily="34" charset="0"/>
                          <a:ea typeface="Segoe UI" pitchFamily="34" charset="-122"/>
                          <a:cs typeface="Segoe UI" pitchFamily="34" charset="-120"/>
                        </a:rPr>
                        <a:t>cérémonie des clés</a:t>
                      </a:r>
                      <a:pPr indent="0" marL="0">
                        <a:buNone/>
                      </a:pPr>
                      <a:r>
                        <a:rPr lang="en-US" sz="1100" dirty="0">
                          <a:solidFill>
                            <a:srgbClr val="1B2A3A"/>
                          </a:solidFill>
                          <a:latin typeface="Segoe UI" pitchFamily="34" charset="0"/>
                          <a:ea typeface="Segoe UI" pitchFamily="34" charset="-122"/>
                          <a:cs typeface="Segoe UI" pitchFamily="34" charset="-120"/>
                        </a:rPr>
                        <a:t> close.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quorum de clés entre deux et tous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nombre de parts nécessaires pour ouvrir les offres est compris entre 2 et le nombre de détenteurs. S’il l’égale, un avertissement rappelle que la perte d’une seule part rendrait les offres illisibles. Ce quorum des clés est distinct du quorum de délibération de la commission (partie 07).</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dépositaire génère la part de secours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dépositaire, choisi librement pour chaque procédure, génère la part de secours sur son propre poste ; lui seul en connaît la phrase secrète. Il ne peut être ni la PRMP, ni une UGPM de la fiche, ni le responsable, ni un membre de la commission, ni un candidat.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dépositaire ne voit pas les offres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dépositaire ne voit ni les offres, ni leurs pièces, ni le PV : seulement sa clé, l’état de la cérémonie et celui de la séance. Changer de dépositaire reste possible tant que les paramètres internes sont modifiables.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(4/16)</a:t>
            </a:r>
            <a:endParaRPr lang="en-US" sz="2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L’ouverture à l’heure fixée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de la procédure ouvre la séance à l’</a:t>
                      </a:r>
                      <a:pPr indent="0" marL="0">
                        <a:buNone/>
                      </a:pPr>
                      <a:r>
                        <a:rPr lang="en-US" sz="1100" b="1" dirty="0">
                          <a:solidFill>
                            <a:srgbClr val="1B2A3A"/>
                          </a:solidFill>
                          <a:latin typeface="Segoe UI" pitchFamily="34" charset="0"/>
                          <a:ea typeface="Segoe UI" pitchFamily="34" charset="-122"/>
                          <a:cs typeface="Segoe UI" pitchFamily="34" charset="-120"/>
                        </a:rPr>
                        <a:t>heure d’ouverture</a:t>
                      </a:r>
                      <a:pPr indent="0" marL="0">
                        <a:buNone/>
                      </a:pPr>
                      <a:r>
                        <a:rPr lang="en-US" sz="1100" dirty="0">
                          <a:solidFill>
                            <a:srgbClr val="1B2A3A"/>
                          </a:solidFill>
                          <a:latin typeface="Segoe UI" pitchFamily="34" charset="0"/>
                          <a:ea typeface="Segoe UI" pitchFamily="34" charset="-122"/>
                          <a:cs typeface="Segoe UI" pitchFamily="34" charset="-120"/>
                        </a:rPr>
                        <a:t> fixée par la fiche, une fois la date limite passée. Avant, personne ne reçoit rien, pas même les parts chiffrées.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rappels avant la séance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membres de la commission et le responsable reçoivent un rappel la veille, puis une heure avant l’heure d’ouverture.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commission ne délibère qu’au quorum</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règle du quorum est réglée par l’Administrateur pour toutes les procédures — par défaut la </a:t>
                      </a:r>
                      <a:pPr indent="0" marL="0">
                        <a:buNone/>
                      </a:pPr>
                      <a:r>
                        <a:rPr lang="en-US" sz="1100" b="1" dirty="0">
                          <a:solidFill>
                            <a:srgbClr val="1B2A3A"/>
                          </a:solidFill>
                          <a:latin typeface="Segoe UI" pitchFamily="34" charset="0"/>
                          <a:ea typeface="Segoe UI" pitchFamily="34" charset="-122"/>
                          <a:cs typeface="Segoe UI" pitchFamily="34" charset="-120"/>
                        </a:rPr>
                        <a:t>majorité</a:t>
                      </a:r>
                      <a:pPr indent="0" marL="0">
                        <a:buNone/>
                      </a:pPr>
                      <a:r>
                        <a:rPr lang="en-US" sz="1100" dirty="0">
                          <a:solidFill>
                            <a:srgbClr val="1B2A3A"/>
                          </a:solidFill>
                          <a:latin typeface="Segoe UI" pitchFamily="34" charset="0"/>
                          <a:ea typeface="Segoe UI" pitchFamily="34" charset="-122"/>
                          <a:cs typeface="Segoe UI" pitchFamily="34" charset="-120"/>
                        </a:rPr>
                        <a:t> (plus de la moitié des membres désignés), ou tous, ou un nombre — et peut être surchargée procédure par procédure. Le </a:t>
                      </a:r>
                      <a:pPr indent="0" marL="0">
                        <a:buNone/>
                      </a:pPr>
                      <a:r>
                        <a:rPr lang="en-US" sz="1100" b="1" dirty="0">
                          <a:solidFill>
                            <a:srgbClr val="1B2A3A"/>
                          </a:solidFill>
                          <a:latin typeface="Segoe UI" pitchFamily="34" charset="0"/>
                          <a:ea typeface="Segoe UI" pitchFamily="34" charset="-122"/>
                          <a:cs typeface="Segoe UI" pitchFamily="34" charset="-120"/>
                        </a:rPr>
                        <a:t>président</a:t>
                      </a:r>
                      <a:pPr indent="0" marL="0">
                        <a:buNone/>
                      </a:pPr>
                      <a:r>
                        <a:rPr lang="en-US" sz="1100" dirty="0">
                          <a:solidFill>
                            <a:srgbClr val="1B2A3A"/>
                          </a:solidFill>
                          <a:latin typeface="Segoe UI" pitchFamily="34" charset="0"/>
                          <a:ea typeface="Segoe UI" pitchFamily="34" charset="-122"/>
                          <a:cs typeface="Segoe UI" pitchFamily="34" charset="-120"/>
                        </a:rPr>
                        <a:t>, ou son représentant désigné, est toujours requis en plus. Le quorum bloque la clôture de la séance d’ouverture et de la seconde séance ; le quorum constaté est imprimé au PV. Sur une commission de deux membres, la majorité vaut l’unanimité. Il est distinct du quorum des parts de clé.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représentant du président, par contexte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désigne, s’il le souhaite, le membre qui le représente pour un contexte précis : séance d’ouverture, seconde séance, rapport d’évaluation, liste de l’AMI. Sans désignation, il est lui-même requis. La désignation n’est plus possible une fois un dossier de marché de la procédure soumis à la Commission.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présences consignées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enregistre les présents : membres de la commission et autres personnes, avec leur qualité. Un membre qui apporte ses parts est </a:t>
                      </a:r>
                      <a:pPr indent="0" marL="0">
                        <a:buNone/>
                      </a:pPr>
                      <a:r>
                        <a:rPr lang="en-US" sz="1100" b="1" dirty="0">
                          <a:solidFill>
                            <a:srgbClr val="1B2A3A"/>
                          </a:solidFill>
                          <a:latin typeface="Segoe UI" pitchFamily="34" charset="0"/>
                          <a:ea typeface="Segoe UI" pitchFamily="34" charset="-122"/>
                          <a:cs typeface="Segoe UI" pitchFamily="34" charset="-120"/>
                        </a:rPr>
                        <a:t>présent d’office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(5/16)</a:t>
            </a:r>
            <a:endParaRPr lang="en-US" sz="2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Toutes ses parts en une fois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déverrouille sa clé dans son navigateur et apporte </a:t>
                      </a:r>
                      <a:pPr indent="0" marL="0">
                        <a:buNone/>
                      </a:pPr>
                      <a:r>
                        <a:rPr lang="en-US" sz="1100" b="1" dirty="0">
                          <a:solidFill>
                            <a:srgbClr val="1B2A3A"/>
                          </a:solidFill>
                          <a:latin typeface="Segoe UI" pitchFamily="34" charset="0"/>
                          <a:ea typeface="Segoe UI" pitchFamily="34" charset="-122"/>
                          <a:cs typeface="Segoe UI" pitchFamily="34" charset="-120"/>
                        </a:rPr>
                        <a:t>toutes ses parts</a:t>
                      </a:r>
                      <a:pPr indent="0" marL="0">
                        <a:buNone/>
                      </a:pPr>
                      <a:r>
                        <a:rPr lang="en-US" sz="1100" dirty="0">
                          <a:solidFill>
                            <a:srgbClr val="1B2A3A"/>
                          </a:solidFill>
                          <a:latin typeface="Segoe UI" pitchFamily="34" charset="0"/>
                          <a:ea typeface="Segoe UI" pitchFamily="34" charset="-122"/>
                          <a:cs typeface="Segoe UI" pitchFamily="34" charset="-120"/>
                        </a:rPr>
                        <a:t> en une fois, une par offre. Il peut les rapporter : elles remplacent les précédentes.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parts jamais conservées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parts apportées vivent en mémoire du serveur seulement, jamais en base ni au journal, et s’effacent au déchiffrement. Un redémarrage du serveur pendant la séance oblige les membres à les rapporter.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part de secours, sur demande motivée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une part manque, le responsable </a:t>
                      </a:r>
                      <a:pPr indent="0" marL="0">
                        <a:buNone/>
                      </a:pPr>
                      <a:r>
                        <a:rPr lang="en-US" sz="1100" b="1" dirty="0">
                          <a:solidFill>
                            <a:srgbClr val="1B2A3A"/>
                          </a:solidFill>
                          <a:latin typeface="Segoe UI" pitchFamily="34" charset="0"/>
                          <a:ea typeface="Segoe UI" pitchFamily="34" charset="-122"/>
                          <a:cs typeface="Segoe UI" pitchFamily="34" charset="-120"/>
                        </a:rPr>
                        <a:t>demande</a:t>
                      </a:r>
                      <a:pPr indent="0" marL="0">
                        <a:buNone/>
                      </a:pPr>
                      <a:r>
                        <a:rPr lang="en-US" sz="1100" dirty="0">
                          <a:solidFill>
                            <a:srgbClr val="1B2A3A"/>
                          </a:solidFill>
                          <a:latin typeface="Segoe UI" pitchFamily="34" charset="0"/>
                          <a:ea typeface="Segoe UI" pitchFamily="34" charset="-122"/>
                          <a:cs typeface="Segoe UI" pitchFamily="34" charset="-120"/>
                        </a:rPr>
                        <a:t> la part de secours avec un motif, porté au PV ; le dépositaire l’apporte depuis son propre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Au quorum, tout s’ouvre ensemble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 </a:t>
                      </a:r>
                      <a:pPr indent="0" marL="0">
                        <a:buNone/>
                      </a:pPr>
                      <a:r>
                        <a:rPr lang="en-US" sz="1100" b="1" dirty="0">
                          <a:solidFill>
                            <a:srgbClr val="1B2A3A"/>
                          </a:solidFill>
                          <a:latin typeface="Segoe UI" pitchFamily="34" charset="0"/>
                          <a:ea typeface="Segoe UI" pitchFamily="34" charset="-122"/>
                          <a:cs typeface="Segoe UI" pitchFamily="34" charset="-120"/>
                        </a:rPr>
                        <a:t>quorum</a:t>
                      </a:r>
                      <a:pPr indent="0" marL="0">
                        <a:buNone/>
                      </a:pPr>
                      <a:r>
                        <a:rPr lang="en-US" sz="1100" dirty="0">
                          <a:solidFill>
                            <a:srgbClr val="1B2A3A"/>
                          </a:solidFill>
                          <a:latin typeface="Segoe UI" pitchFamily="34" charset="0"/>
                          <a:ea typeface="Segoe UI" pitchFamily="34" charset="-122"/>
                          <a:cs typeface="Segoe UI" pitchFamily="34" charset="-120"/>
                        </a:rPr>
                        <a:t> des parts, toutes les offres s’ouvrent ensemble, dans un même geste ; aucune ne s’ouvre avant les autres.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L’exclusion après dépôt écarte l’offre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offre dont l’entreprise, ou un membre du groupement, a été exclue par l’ARMP depuis son dépôt est </a:t>
                      </a:r>
                      <a:pPr indent="0" marL="0">
                        <a:buNone/>
                      </a:pPr>
                      <a:r>
                        <a:rPr lang="en-US" sz="1100" b="1" dirty="0">
                          <a:solidFill>
                            <a:srgbClr val="1B2A3A"/>
                          </a:solidFill>
                          <a:latin typeface="Segoe UI" pitchFamily="34" charset="0"/>
                          <a:ea typeface="Segoe UI" pitchFamily="34" charset="-122"/>
                          <a:cs typeface="Segoe UI" pitchFamily="34" charset="-120"/>
                        </a:rPr>
                        <a:t>écartée sans être ouverte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(6/16)</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L’intégrité de chaque offre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L’empreinte de chaque offre est recalculée : une offre altérée est signalée. Une offre qu’on ne peut pas lire ne bloque pas les autres. Les offres retirées et remplacées ne s’ouvrent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lecture informe, ne refuse pas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lecture — montants, délai, validité, garantie, pièces manquantes, vérification du NIF, rapprochements entre déposants — est une information pour la commission, </a:t>
                      </a:r>
                      <a:pPr indent="0" marL="0">
                        <a:buNone/>
                      </a:pPr>
                      <a:r>
                        <a:rPr lang="en-US" sz="1100" b="1" dirty="0">
                          <a:solidFill>
                            <a:srgbClr val="1B2A3A"/>
                          </a:solidFill>
                          <a:latin typeface="Segoe UI" pitchFamily="34" charset="0"/>
                          <a:ea typeface="Segoe UI" pitchFamily="34" charset="-122"/>
                          <a:cs typeface="Segoe UI" pitchFamily="34" charset="-120"/>
                        </a:rPr>
                        <a:t>jamais un refus</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totaux recalculés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une offre remplie en ligne, le serveur </a:t>
                      </a:r>
                      <a:pPr indent="0" marL="0">
                        <a:buNone/>
                      </a:pPr>
                      <a:r>
                        <a:rPr lang="en-US" sz="1100" b="1" dirty="0">
                          <a:solidFill>
                            <a:srgbClr val="1B2A3A"/>
                          </a:solidFill>
                          <a:latin typeface="Segoe UI" pitchFamily="34" charset="0"/>
                          <a:ea typeface="Segoe UI" pitchFamily="34" charset="-122"/>
                          <a:cs typeface="Segoe UI" pitchFamily="34" charset="-120"/>
                        </a:rPr>
                        <a:t>recalcule les totaux</a:t>
                      </a:r>
                      <a:pPr indent="0" marL="0">
                        <a:buNone/>
                      </a:pPr>
                      <a:r>
                        <a:rPr lang="en-US" sz="1100" dirty="0">
                          <a:solidFill>
                            <a:srgbClr val="1B2A3A"/>
                          </a:solidFill>
                          <a:latin typeface="Segoe UI" pitchFamily="34" charset="0"/>
                          <a:ea typeface="Segoe UI" pitchFamily="34" charset="-122"/>
                          <a:cs typeface="Segoe UI" pitchFamily="34" charset="-120"/>
                        </a:rPr>
                        <a:t> et signale les écarts avec l’acte d’engagement, les prix manquants, les prix en lettres divergents, les plafonds dépassés, les non-conformités et les livraisons hors délai.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Aux travaux, capacités et prix en lettres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Aux travaux, le prix en lettres fait foi ; le serveur signale aussi les capacités, le personnel et le matériel insuffisants, ainsi que les sous-détails de prix incohérents. Le détail des prix n’est lu que par la commission.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frais de dossier 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séance indique, offre par offre, si les frais de dossier sont réglés. Une offre sans reçu validé couvrant son lot est </a:t>
                      </a:r>
                      <a:pPr indent="0" marL="0">
                        <a:buNone/>
                      </a:pPr>
                      <a:r>
                        <a:rPr lang="en-US" sz="1100" b="1" dirty="0">
                          <a:solidFill>
                            <a:srgbClr val="1B2A3A"/>
                          </a:solidFill>
                          <a:latin typeface="Segoe UI" pitchFamily="34" charset="0"/>
                          <a:ea typeface="Segoe UI" pitchFamily="34" charset="-122"/>
                          <a:cs typeface="Segoe UI" pitchFamily="34" charset="-120"/>
                        </a:rPr>
                        <a:t>signalée</a:t>
                      </a:r>
                      <a:pPr indent="0" marL="0">
                        <a:buNone/>
                      </a:pPr>
                      <a:r>
                        <a:rPr lang="en-US" sz="1100" dirty="0">
                          <a:solidFill>
                            <a:srgbClr val="1B2A3A"/>
                          </a:solidFill>
                          <a:latin typeface="Segoe UI" pitchFamily="34" charset="0"/>
                          <a:ea typeface="Segoe UI" pitchFamily="34" charset="-122"/>
                          <a:cs typeface="Segoe UI" pitchFamily="34" charset="-120"/>
                        </a:rPr>
                        <a:t> à la commission, jamais écartée.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(7/16)</a:t>
            </a:r>
            <a:endParaRPr lang="en-US" sz="2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garantie lue en séance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garantie de soumission est lue en séance, montant et émetteur imprimés au PV. Un montant inférieur au minimum fixé par la fiche, par lot le cas échéant, donne une </a:t>
                      </a:r>
                      <a:pPr indent="0" marL="0">
                        <a:buNone/>
                      </a:pPr>
                      <a:r>
                        <a:rPr lang="en-US" sz="1100" b="1" dirty="0">
                          <a:solidFill>
                            <a:srgbClr val="1B2A3A"/>
                          </a:solidFill>
                          <a:latin typeface="Segoe UI" pitchFamily="34" charset="0"/>
                          <a:ea typeface="Segoe UI" pitchFamily="34" charset="-122"/>
                          <a:cs typeface="Segoe UI" pitchFamily="34" charset="-120"/>
                        </a:rPr>
                        <a:t>alerte</a:t>
                      </a:r>
                      <a:pPr indent="0" marL="0">
                        <a:buNone/>
                      </a:pPr>
                      <a:r>
                        <a:rPr lang="en-US" sz="1100" dirty="0">
                          <a:solidFill>
                            <a:srgbClr val="1B2A3A"/>
                          </a:solidFill>
                          <a:latin typeface="Segoe UI" pitchFamily="34" charset="0"/>
                          <a:ea typeface="Segoe UI" pitchFamily="34" charset="-122"/>
                          <a:cs typeface="Segoe UI" pitchFamily="34" charset="-120"/>
                        </a:rPr>
                        <a:t>, jamais un refus.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rabais lu chiffré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rabais se lit chiffré : un rabais sans condition est calculé sur le montant hors taxes lu ; un rabais lié à plusieurs lots est lu avec sa condition. Le PV et son extrait public en impriment la phrase.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pièces, pour la commission seule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pièces des offres ne s’ouvrent que par les </a:t>
                      </a:r>
                      <a:pPr indent="0" marL="0">
                        <a:buNone/>
                      </a:pPr>
                      <a:r>
                        <a:rPr lang="en-US" sz="1100" b="1" dirty="0">
                          <a:solidFill>
                            <a:srgbClr val="1B2A3A"/>
                          </a:solidFill>
                          <a:latin typeface="Segoe UI" pitchFamily="34" charset="0"/>
                          <a:ea typeface="Segoe UI" pitchFamily="34" charset="-122"/>
                          <a:cs typeface="Segoe UI" pitchFamily="34" charset="-120"/>
                        </a:rPr>
                        <a:t>membres de la commission</a:t>
                      </a:r>
                      <a:pPr indent="0" marL="0">
                        <a:buNone/>
                      </a:pPr>
                      <a:r>
                        <a:rPr lang="en-US" sz="1100" dirty="0">
                          <a:solidFill>
                            <a:srgbClr val="1B2A3A"/>
                          </a:solidFill>
                          <a:latin typeface="Segoe UI" pitchFamily="34" charset="0"/>
                          <a:ea typeface="Segoe UI" pitchFamily="34" charset="-122"/>
                          <a:cs typeface="Segoe UI" pitchFamily="34" charset="-120"/>
                        </a:rPr>
                        <a:t>. Le responsable, la PRMP et l’UGPM lisent ce qui est lu en séance, sans ouvrir aucun fichier ; pour montrer une pièce à la salle, un membre l’ouvre.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PV produit par le responsable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produit le PV : présents, emploi de la part de secours et son motif, lecture offre par offre, offres non ouvertes et pourquoi, observations. Les présences ne se modifient plus ensuite.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tentatives tardives au PV</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RG-SEA-31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PV d’ouverture énumère les tentatives de dépôt refusées après la date limite, datées par le serveur (art. 44), comme le registre des dépôts de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(8/16)</a:t>
            </a:r>
            <a:endParaRPr lang="en-US" sz="2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Signé par chaque membre présent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présent signe le PV d’une </a:t>
                      </a:r>
                      <a:pPr indent="0" marL="0">
                        <a:buNone/>
                      </a:pPr>
                      <a:r>
                        <a:rPr lang="en-US" sz="1100" b="1" dirty="0">
                          <a:solidFill>
                            <a:srgbClr val="1B2A3A"/>
                          </a:solidFill>
                          <a:latin typeface="Segoe UI" pitchFamily="34" charset="0"/>
                          <a:ea typeface="Segoe UI" pitchFamily="34" charset="-122"/>
                          <a:cs typeface="Segoe UI" pitchFamily="34" charset="-120"/>
                        </a:rPr>
                        <a:t>signature électronique simple</a:t>
                      </a:r>
                      <a:pPr indent="0" marL="0">
                        <a:buNone/>
                      </a:pPr>
                      <a:r>
                        <a:rPr lang="en-US" sz="1100" dirty="0">
                          <a:solidFill>
                            <a:srgbClr val="1B2A3A"/>
                          </a:solidFill>
                          <a:latin typeface="Segoe UI" pitchFamily="34" charset="0"/>
                          <a:ea typeface="Segoe UI" pitchFamily="34" charset="-122"/>
                          <a:cs typeface="Segoe UI" pitchFamily="34" charset="-120"/>
                        </a:rPr>
                        <a:t> : l’acte authentifié du membre connecté, horodaté et journalisé.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L’empêchement constaté avec motif</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membre présent qui ne peut pas signer ne bloque pas la séance : le président de la commission, ou à défaut le responsable, constate son </a:t>
                      </a:r>
                      <a:pPr indent="0" marL="0">
                        <a:buNone/>
                      </a:pPr>
                      <a:r>
                        <a:rPr lang="en-US" sz="1100" b="1" dirty="0">
                          <a:solidFill>
                            <a:srgbClr val="1B2A3A"/>
                          </a:solidFill>
                          <a:latin typeface="Segoe UI" pitchFamily="34" charset="0"/>
                          <a:ea typeface="Segoe UI" pitchFamily="34" charset="-122"/>
                          <a:cs typeface="Segoe UI" pitchFamily="34" charset="-120"/>
                        </a:rPr>
                        <a:t>empêchement</a:t>
                      </a:r>
                      <a:pPr indent="0" marL="0">
                        <a:buNone/>
                      </a:pPr>
                      <a:r>
                        <a:rPr lang="en-US" sz="1100" dirty="0">
                          <a:solidFill>
                            <a:srgbClr val="1B2A3A"/>
                          </a:solidFill>
                          <a:latin typeface="Segoe UI" pitchFamily="34" charset="0"/>
                          <a:ea typeface="Segoe UI" pitchFamily="34" charset="-122"/>
                          <a:cs typeface="Segoe UI" pitchFamily="34" charset="-120"/>
                        </a:rPr>
                        <a:t>, avec un motif porté au PV. Depuis le 10/10, un empêchement qui rendrait le quorum de la commission inatteignable est refusé.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Clôture à la dernière signature, au quorum</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dernière signature, la séance est close, l’extrait du PV est publié si la fiche le prévoit, et les intéressés sont avertis. Avant, rien n’est publié. Depuis le 10/10, la clôture exige le </a:t>
                      </a:r>
                      <a:pPr indent="0" marL="0">
                        <a:buNone/>
                      </a:pPr>
                      <a:r>
                        <a:rPr lang="en-US" sz="1100" b="1" dirty="0">
                          <a:solidFill>
                            <a:srgbClr val="1B2A3A"/>
                          </a:solidFill>
                          <a:latin typeface="Segoe UI" pitchFamily="34" charset="0"/>
                          <a:ea typeface="Segoe UI" pitchFamily="34" charset="-122"/>
                          <a:cs typeface="Segoe UI" pitchFamily="34" charset="-120"/>
                        </a:rPr>
                        <a:t>quorum de la commission</a:t>
                      </a:r>
                      <a:pPr indent="0" marL="0">
                        <a:buNone/>
                      </a:pPr>
                      <a:r>
                        <a:rPr lang="en-US" sz="1100" dirty="0">
                          <a:solidFill>
                            <a:srgbClr val="1B2A3A"/>
                          </a:solidFill>
                          <a:latin typeface="Segoe UI" pitchFamily="34" charset="0"/>
                          <a:ea typeface="Segoe UI" pitchFamily="34" charset="-122"/>
                          <a:cs typeface="Segoe UI" pitchFamily="34" charset="-120"/>
                        </a:rPr>
                        <a:t> sur les présents : une séance sans membre présent ne se clôt plus.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première séance n’ouvre que les techniques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Seules les enveloppes techniques sont listées, leurs parts demandées et ouvertes ; les financières restent scellées. Un montant trouvé dans une technique n’est pas lu (alerte « Montant dans l’enveloppe technique ») ; une proposition sans financière est signalée. Le PV ne lit aucun montant.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seconde séance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Elle s’ouvre quand l’évaluation technique est arrêtée sur chaque lot, avec les mêmes clés et le même quorum des parts. Seules les financières des propositions qualifiées s’ouvrent ; les autres ne s’ouvrent jamais, avec leur motif. Après l’échec d’une négociation, une séance complémentaire ouvre celle du suivant. Depuis le 10/10, son PV se signe comme celui de la première séance.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(9/16)</a:t>
            </a:r>
            <a:endParaRPr lang="en-US" sz="2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offres en ligne, lot par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évalue les offres dans l’application, lot par lot, en suivant le guide d’évaluation. Les offres papier n’y entrent pas ; les offres écartées au dépôt, retirées ou remplacées ne sont pas évaluées, et l’écran les nomme avec leur raison.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Ouverte après le PV signé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de la procédure ouvre l’évaluation une fois le </a:t>
                      </a:r>
                      <a:pPr indent="0" marL="0">
                        <a:buNone/>
                      </a:pPr>
                      <a:r>
                        <a:rPr lang="en-US" sz="1100" b="1" dirty="0">
                          <a:solidFill>
                            <a:srgbClr val="1B2A3A"/>
                          </a:solidFill>
                          <a:latin typeface="Segoe UI" pitchFamily="34" charset="0"/>
                          <a:ea typeface="Segoe UI" pitchFamily="34" charset="-122"/>
                          <a:cs typeface="Segoe UI" pitchFamily="34" charset="-120"/>
                        </a:rPr>
                        <a:t>PV d’ouverture signé</a:t>
                      </a:r>
                      <a:pPr indent="0" marL="0">
                        <a:buNone/>
                      </a:pPr>
                      <a:r>
                        <a:rPr lang="en-US" sz="1100" dirty="0">
                          <a:solidFill>
                            <a:srgbClr val="1B2A3A"/>
                          </a:solidFill>
                          <a:latin typeface="Segoe UI" pitchFamily="34" charset="0"/>
                          <a:ea typeface="Segoe UI" pitchFamily="34" charset="-122"/>
                          <a:cs typeface="Segoe UI" pitchFamily="34" charset="-120"/>
                        </a:rPr>
                        <a:t>. Les membres de la commission et la PRMP en sont avertis.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membres décident, le président arrête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membre déclaré sans conflit enregistre les décisions, visibles des autres ; le </a:t>
                      </a:r>
                      <a:pPr indent="0" marL="0">
                        <a:buNone/>
                      </a:pPr>
                      <a:r>
                        <a:rPr lang="en-US" sz="1100" b="1" dirty="0">
                          <a:solidFill>
                            <a:srgbClr val="1B2A3A"/>
                          </a:solidFill>
                          <a:latin typeface="Segoe UI" pitchFamily="34" charset="0"/>
                          <a:ea typeface="Segoe UI" pitchFamily="34" charset="-122"/>
                          <a:cs typeface="Segoe UI" pitchFamily="34" charset="-120"/>
                        </a:rPr>
                        <a:t>président</a:t>
                      </a:r>
                      <a:pPr indent="0" marL="0">
                        <a:buNone/>
                      </a:pPr>
                      <a:r>
                        <a:rPr lang="en-US" sz="1100" dirty="0">
                          <a:solidFill>
                            <a:srgbClr val="1B2A3A"/>
                          </a:solidFill>
                          <a:latin typeface="Segoe UI" pitchFamily="34" charset="0"/>
                          <a:ea typeface="Segoe UI" pitchFamily="34" charset="-122"/>
                          <a:cs typeface="Segoe UI" pitchFamily="34" charset="-120"/>
                        </a:rPr>
                        <a:t> arrête l’étape d’un lot, ce qui fige ses décisions. La PRMP demande les précisions et les justifications ; la PRMP et l’UGPM lisent.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déclaration préalable de chaque membre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président compris, signe d’abord une déclaration d’absence de </a:t>
                      </a:r>
                      <a:pPr indent="0" marL="0">
                        <a:buNone/>
                      </a:pPr>
                      <a:r>
                        <a:rPr lang="en-US" sz="1100" b="1" dirty="0">
                          <a:solidFill>
                            <a:srgbClr val="1B2A3A"/>
                          </a:solidFill>
                          <a:latin typeface="Segoe UI" pitchFamily="34" charset="0"/>
                          <a:ea typeface="Segoe UI" pitchFamily="34" charset="-122"/>
                          <a:cs typeface="Segoe UI" pitchFamily="34" charset="-120"/>
                        </a:rPr>
                        <a:t>conflit d’intérêts</a:t>
                      </a:r>
                      <a:pPr indent="0" marL="0">
                        <a:buNone/>
                      </a:pPr>
                      <a:r>
                        <a:rPr lang="en-US" sz="1100" dirty="0">
                          <a:solidFill>
                            <a:srgbClr val="1B2A3A"/>
                          </a:solidFill>
                          <a:latin typeface="Segoe UI" pitchFamily="34" charset="0"/>
                          <a:ea typeface="Segoe UI" pitchFamily="34" charset="-122"/>
                          <a:cs typeface="Segoe UI" pitchFamily="34" charset="-120"/>
                        </a:rPr>
                        <a:t> (art. 21-d) et de confidentialité (art. 12-V), qui ne se reprend pas. Un membre qui déclare un conflit lit tout mais ne décide rien.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décision pour chaque offre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étape ne s’arrête que lorsque chaque offre du lot a sa décision, et après l’arrêt de l’étape précédente.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(10/16)</a:t>
            </a:r>
            <a:endParaRPr lang="en-US" sz="2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grille de neuf vérifications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chaque offre, l’application pré-remplit une grille de neuf vérifications : acte d’engagement et prix, garantie, offre unique par candidat et par lot, exclusion, pouvoirs, pièces, conformité technique, intégrité, frais de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alertes sont des constats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alertes de la séance sont des constats, </a:t>
                      </a:r>
                      <a:pPr indent="0" marL="0">
                        <a:buNone/>
                      </a:pPr>
                      <a:r>
                        <a:rPr lang="en-US" sz="1100" b="1" dirty="0">
                          <a:solidFill>
                            <a:srgbClr val="1B2A3A"/>
                          </a:solidFill>
                          <a:latin typeface="Segoe UI" pitchFamily="34" charset="0"/>
                          <a:ea typeface="Segoe UI" pitchFamily="34" charset="-122"/>
                          <a:cs typeface="Segoe UI" pitchFamily="34" charset="-120"/>
                        </a:rPr>
                        <a:t>jamais des décisions</a:t>
                      </a:r>
                      <a:pPr indent="0" marL="0">
                        <a:buNone/>
                      </a:pPr>
                      <a:r>
                        <a:rPr lang="en-US" sz="1100" dirty="0">
                          <a:solidFill>
                            <a:srgbClr val="1B2A3A"/>
                          </a:solidFill>
                          <a:latin typeface="Segoe UI" pitchFamily="34" charset="0"/>
                          <a:ea typeface="Segoe UI" pitchFamily="34" charset="-122"/>
                          <a:cs typeface="Segoe UI" pitchFamily="34" charset="-120"/>
                        </a:rPr>
                        <a:t>. La commission confirme ou corrige chaque vérification, puis décide ; elle peut retenir une offre malgré une vérification non satisfaite.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Aucune offre écartée d’office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offre altérée ou illisible, ou sans frais de dossier réglés, n’est </a:t>
                      </a:r>
                      <a:pPr indent="0" marL="0">
                        <a:buNone/>
                      </a:pPr>
                      <a:r>
                        <a:rPr lang="en-US" sz="1100" b="1" dirty="0">
                          <a:solidFill>
                            <a:srgbClr val="1B2A3A"/>
                          </a:solidFill>
                          <a:latin typeface="Segoe UI" pitchFamily="34" charset="0"/>
                          <a:ea typeface="Segoe UI" pitchFamily="34" charset="-122"/>
                          <a:cs typeface="Segoe UI" pitchFamily="34" charset="-120"/>
                        </a:rPr>
                        <a:t>jamais écartée d’office</a:t>
                      </a:r>
                      <a:pPr indent="0" marL="0">
                        <a:buNone/>
                      </a:pPr>
                      <a:r>
                        <a:rPr lang="en-US" sz="1100" dirty="0">
                          <a:solidFill>
                            <a:srgbClr val="1B2A3A"/>
                          </a:solidFill>
                          <a:latin typeface="Segoe UI" pitchFamily="34" charset="0"/>
                          <a:ea typeface="Segoe UI" pitchFamily="34" charset="-122"/>
                          <a:cs typeface="Segoe UI" pitchFamily="34" charset="-120"/>
                        </a:rPr>
                        <a:t> : la vérification est proposée « non satisfaite », la commission tranche.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Écarter : motif, clause, qualification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Écarter une offre exige un motif, la </a:t>
                      </a:r>
                      <a:pPr indent="0" marL="0">
                        <a:buNone/>
                      </a:pPr>
                      <a:r>
                        <a:rPr lang="en-US" sz="1100" b="1" dirty="0">
                          <a:solidFill>
                            <a:srgbClr val="1B2A3A"/>
                          </a:solidFill>
                          <a:latin typeface="Segoe UI" pitchFamily="34" charset="0"/>
                          <a:ea typeface="Segoe UI" pitchFamily="34" charset="-122"/>
                          <a:cs typeface="Segoe UI" pitchFamily="34" charset="-120"/>
                        </a:rPr>
                        <a:t>clause du DAO</a:t>
                      </a:r>
                      <a:pPr indent="0" marL="0">
                        <a:buNone/>
                      </a:pPr>
                      <a:r>
                        <a:rPr lang="en-US" sz="1100" dirty="0">
                          <a:solidFill>
                            <a:srgbClr val="1B2A3A"/>
                          </a:solidFill>
                          <a:latin typeface="Segoe UI" pitchFamily="34" charset="0"/>
                          <a:ea typeface="Segoe UI" pitchFamily="34" charset="-122"/>
                          <a:cs typeface="Segoe UI" pitchFamily="34" charset="-120"/>
                        </a:rPr>
                        <a:t> visée et une qualification : irrecevable, non conforme, inappropriée ou inacceptable.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montant évalué hors taxes, calculé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montants se comparent </a:t>
                      </a:r>
                      <a:pPr indent="0" marL="0">
                        <a:buNone/>
                      </a:pPr>
                      <a:r>
                        <a:rPr lang="en-US" sz="1100" b="1" dirty="0">
                          <a:solidFill>
                            <a:srgbClr val="1B2A3A"/>
                          </a:solidFill>
                          <a:latin typeface="Segoe UI" pitchFamily="34" charset="0"/>
                          <a:ea typeface="Segoe UI" pitchFamily="34" charset="-122"/>
                          <a:cs typeface="Segoe UI" pitchFamily="34" charset="-120"/>
                        </a:rPr>
                        <a:t>hors taxes</a:t>
                      </a:r>
                      <a:pPr indent="0" marL="0">
                        <a:buNone/>
                      </a:pPr>
                      <a:r>
                        <a:rPr lang="en-US" sz="1100" dirty="0">
                          <a:solidFill>
                            <a:srgbClr val="1B2A3A"/>
                          </a:solidFill>
                          <a:latin typeface="Segoe UI" pitchFamily="34" charset="0"/>
                          <a:ea typeface="Segoe UI" pitchFamily="34" charset="-122"/>
                          <a:cs typeface="Segoe UI" pitchFamily="34" charset="-120"/>
                        </a:rPr>
                        <a:t> : prix lu, corrigé, diminué du rabais, plus la marge de préférence appliquée aux offres qui n’y ont pas droit, plus les critères monétisés du DAO. L’application fait le calcul ; le montant évalué n’est jamais saisi à la main (art. 46-47).</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(11/16)</a:t>
            </a:r>
            <a:endParaRPr lang="en-US" sz="2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classement, et l’égalité départagée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classement suit le montant évalué croissant. Deux offres premières à </a:t>
                      </a:r>
                      <a:pPr indent="0" marL="0">
                        <a:buNone/>
                      </a:pPr>
                      <a:r>
                        <a:rPr lang="en-US" sz="1100" b="1" dirty="0">
                          <a:solidFill>
                            <a:srgbClr val="1B2A3A"/>
                          </a:solidFill>
                          <a:latin typeface="Segoe UI" pitchFamily="34" charset="0"/>
                          <a:ea typeface="Segoe UI" pitchFamily="34" charset="-122"/>
                          <a:cs typeface="Segoe UI" pitchFamily="34" charset="-120"/>
                        </a:rPr>
                        <a:t>égalité</a:t>
                      </a:r>
                      <a:pPr indent="0" marL="0">
                        <a:buNone/>
                      </a:pPr>
                      <a:r>
                        <a:rPr lang="en-US" sz="1100" dirty="0">
                          <a:solidFill>
                            <a:srgbClr val="1B2A3A"/>
                          </a:solidFill>
                          <a:latin typeface="Segoe UI" pitchFamily="34" charset="0"/>
                          <a:ea typeface="Segoe UI" pitchFamily="34" charset="-122"/>
                          <a:cs typeface="Segoe UI" pitchFamily="34" charset="-120"/>
                        </a:rPr>
                        <a:t> sont départagées par la commission, avec un motif, avant que l’étape puisse être arrêtée.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corrections proposées, retenues ou non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L’application propose les corrections arithmétiques tirées du bordereau scellé : le prix en lettres prévaut sur les chiffres, le prix unitaire sur le total. La commission les retient ou non ; une correction de ces deux natures </a:t>
                      </a:r>
                      <a:pPr indent="0" marL="0">
                        <a:buNone/>
                      </a:pPr>
                      <a:r>
                        <a:rPr lang="en-US" sz="1100" b="1" dirty="0">
                          <a:solidFill>
                            <a:srgbClr val="1B2A3A"/>
                          </a:solidFill>
                          <a:latin typeface="Segoe UI" pitchFamily="34" charset="0"/>
                          <a:ea typeface="Segoe UI" pitchFamily="34" charset="-122"/>
                          <a:cs typeface="Segoe UI" pitchFamily="34" charset="-120"/>
                        </a:rPr>
                        <a:t>ne peut que reprendre</a:t>
                      </a:r>
                      <a:pPr indent="0" marL="0">
                        <a:buNone/>
                      </a:pPr>
                      <a:r>
                        <a:rPr lang="en-US" sz="1100" dirty="0">
                          <a:solidFill>
                            <a:srgbClr val="1B2A3A"/>
                          </a:solidFill>
                          <a:latin typeface="Segoe UI" pitchFamily="34" charset="0"/>
                          <a:ea typeface="Segoe UI" pitchFamily="34" charset="-122"/>
                          <a:cs typeface="Segoe UI" pitchFamily="34" charset="-120"/>
                        </a:rPr>
                        <a:t> celle que l’application a calculée. Toute autre correction suit RG-EVA-35.</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refus d’une correction constaté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qui refuse une correction voit son offre écartée si les instructions aux candidats le prévoient : la commission le constate, avec la clause.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préférence, si le DAO la prévoit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marge de préférence et les critères additionnels ne s’appliquent que si le DAO les prévoit. La commission marque, avec un motif, les offres éligibles ; la préférence sert à comparer, jamais au prix du marché.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rabais proposé sur le prix corrigé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rabais sans condition est proposé sur le prix corrigé ; la commission ne s’en écarte qu’avec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Un rabais lié à plusieurs lots n’est pas appliqué lot par lot : il est seulement rapporté.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(12/16)</a:t>
            </a:r>
            <a:endParaRPr lang="en-US" sz="2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correction hors calcul, motivée et signalée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correction que l’application ne calcule pas (erreur de report, autre) reste possible, mais </a:t>
                      </a:r>
                      <a:pPr indent="0" marL="0">
                        <a:buNone/>
                      </a:pPr>
                      <a:r>
                        <a:rPr lang="en-US" sz="1100" b="1" dirty="0">
                          <a:solidFill>
                            <a:srgbClr val="1B2A3A"/>
                          </a:solidFill>
                          <a:latin typeface="Segoe UI" pitchFamily="34" charset="0"/>
                          <a:ea typeface="Segoe UI" pitchFamily="34" charset="-122"/>
                          <a:cs typeface="Segoe UI" pitchFamily="34" charset="-120"/>
                        </a:rPr>
                        <a:t>avec un motif</a:t>
                      </a:r>
                      <a:pPr indent="0" marL="0">
                        <a:buNone/>
                      </a:pPr>
                      <a:r>
                        <a:rPr lang="en-US" sz="1100" dirty="0">
                          <a:solidFill>
                            <a:srgbClr val="1B2A3A"/>
                          </a:solidFill>
                          <a:latin typeface="Segoe UI" pitchFamily="34" charset="0"/>
                          <a:ea typeface="Segoe UI" pitchFamily="34" charset="-122"/>
                          <a:cs typeface="Segoe UI" pitchFamily="34" charset="-120"/>
                        </a:rPr>
                        <a:t> ; elle se lit « Hors calcul ». Elle est signalée au contrôle du dossier de marché, où le Membre de la Commission la lit avant de rendre un avis favorable. La même règle vaut pour l’enveloppe financière des prestations intellectuelles.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indicateurs, pas une décision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chaque offre classée, l’application donne son écart à l’estimation du plan et à la moyenne des offres, et rappelle la méthode du DAO s’il en porte une : ce sont des </a:t>
                      </a:r>
                      <a:pPr indent="0" marL="0">
                        <a:buNone/>
                      </a:pPr>
                      <a:r>
                        <a:rPr lang="en-US" sz="1100" b="1" dirty="0">
                          <a:solidFill>
                            <a:srgbClr val="1B2A3A"/>
                          </a:solidFill>
                          <a:latin typeface="Segoe UI" pitchFamily="34" charset="0"/>
                          <a:ea typeface="Segoe UI" pitchFamily="34" charset="-122"/>
                          <a:cs typeface="Segoe UI" pitchFamily="34" charset="-120"/>
                        </a:rPr>
                        <a:t>indicateurs</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offre classée examinée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examine chaque offre classée : non suspectée, ou suspectée avec un motif. L’étape ne s’arrête pas tant qu’une offre suspectée reste en suspens.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de rejet sans justification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offre n’est rejetée sans une </a:t>
                      </a:r>
                      <a:pPr indent="0" marL="0">
                        <a:buNone/>
                      </a:pPr>
                      <a:r>
                        <a:rPr lang="en-US" sz="1100" b="1" dirty="0">
                          <a:solidFill>
                            <a:srgbClr val="1B2A3A"/>
                          </a:solidFill>
                          <a:latin typeface="Segoe UI" pitchFamily="34" charset="0"/>
                          <a:ea typeface="Segoe UI" pitchFamily="34" charset="-122"/>
                          <a:cs typeface="Segoe UI" pitchFamily="34" charset="-120"/>
                        </a:rPr>
                        <a:t>demande écrite de justification</a:t>
                      </a:r>
                      <a:pPr indent="0" marL="0">
                        <a:buNone/>
                      </a:pPr>
                      <a:r>
                        <a:rPr lang="en-US" sz="1100" dirty="0">
                          <a:solidFill>
                            <a:srgbClr val="1B2A3A"/>
                          </a:solidFill>
                          <a:latin typeface="Segoe UI" pitchFamily="34" charset="0"/>
                          <a:ea typeface="Segoe UI" pitchFamily="34" charset="-122"/>
                          <a:cs typeface="Segoe UI" pitchFamily="34" charset="-120"/>
                        </a:rPr>
                        <a:t> de la PRMP, et sans la réponse du candidat ou l’expiration de son délai (art. 48). La commission maintient ou rejette, avec un motif ; l’offre rejetée sort du classement.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défaut de réponse vaut refus de justifier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l’échéance de la demande de justification passe sans réponse du candidat, la commission peut rejeter : le </a:t>
                      </a:r>
                      <a:pPr indent="0" marL="0">
                        <a:buNone/>
                      </a:pPr>
                      <a:r>
                        <a:rPr lang="en-US" sz="1100" b="1" dirty="0">
                          <a:solidFill>
                            <a:srgbClr val="1B2A3A"/>
                          </a:solidFill>
                          <a:latin typeface="Segoe UI" pitchFamily="34" charset="0"/>
                          <a:ea typeface="Segoe UI" pitchFamily="34" charset="-122"/>
                          <a:cs typeface="Segoe UI" pitchFamily="34" charset="-120"/>
                        </a:rPr>
                        <a:t>défaut de réponse</a:t>
                      </a:r>
                      <a:pPr indent="0" marL="0">
                        <a:buNone/>
                      </a:pPr>
                      <a:r>
                        <a:rPr lang="en-US" sz="1100" dirty="0">
                          <a:solidFill>
                            <a:srgbClr val="1B2A3A"/>
                          </a:solidFill>
                          <a:latin typeface="Segoe UI" pitchFamily="34" charset="0"/>
                          <a:ea typeface="Segoe UI" pitchFamily="34" charset="-122"/>
                          <a:cs typeface="Segoe UI" pitchFamily="34" charset="-120"/>
                        </a:rPr>
                        <a:t> vaut refus de justifier (art. 48). Il est écrit dans la décision et au journal, et l’offre porte la mention « Défaut de réponse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(13/16)</a:t>
            </a:r>
            <a:endParaRPr lang="en-US" sz="2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premier classé, puis le suivant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post-qualification porte sur le </a:t>
                      </a:r>
                      <a:pPr indent="0" marL="0">
                        <a:buNone/>
                      </a:pPr>
                      <a:r>
                        <a:rPr lang="en-US" sz="1100" b="1" dirty="0">
                          <a:solidFill>
                            <a:srgbClr val="1B2A3A"/>
                          </a:solidFill>
                          <a:latin typeface="Segoe UI" pitchFamily="34" charset="0"/>
                          <a:ea typeface="Segoe UI" pitchFamily="34" charset="-122"/>
                          <a:cs typeface="Segoe UI" pitchFamily="34" charset="-120"/>
                        </a:rPr>
                        <a:t>premier classé</a:t>
                      </a:r>
                      <a:pPr indent="0" marL="0">
                        <a:buNone/>
                      </a:pPr>
                      <a:r>
                        <a:rPr lang="en-US" sz="1100" dirty="0">
                          <a:solidFill>
                            <a:srgbClr val="1B2A3A"/>
                          </a:solidFill>
                          <a:latin typeface="Segoe UI" pitchFamily="34" charset="0"/>
                          <a:ea typeface="Segoe UI" pitchFamily="34" charset="-122"/>
                          <a:cs typeface="Segoe UI" pitchFamily="34" charset="-120"/>
                        </a:rPr>
                        <a:t>, puis, s’il échoue, sur le suivant, jusqu’à une offre qualifiée ou la fin du classement.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critères du DAO, et eux seuls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critères sont ceux du DAO, et eux seuls : capacité juridique, capacité financière, capacité technique et expérience, matériel et personnel exigés. Chacun est jugé satisfait ou non ; un échec se motive.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offre non qualifiée est écartée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offre non qualifiée est écartée avec un motif et la clause du DAO ; le tour passe à la suivante du classement.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proposition d’attribution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L’étape arrêtée, le lot porte sa </a:t>
                      </a:r>
                      <a:pPr indent="0" marL="0">
                        <a:buNone/>
                      </a:pPr>
                      <a:r>
                        <a:rPr lang="en-US" sz="1100" b="1" dirty="0">
                          <a:solidFill>
                            <a:srgbClr val="1B2A3A"/>
                          </a:solidFill>
                          <a:latin typeface="Segoe UI" pitchFamily="34" charset="0"/>
                          <a:ea typeface="Segoe UI" pitchFamily="34" charset="-122"/>
                          <a:cs typeface="Segoe UI" pitchFamily="34" charset="-120"/>
                        </a:rPr>
                        <a:t>proposition d’attribution</a:t>
                      </a:r>
                      <a:pPr indent="0" marL="0">
                        <a:buNone/>
                      </a:pPr>
                      <a:r>
                        <a:rPr lang="en-US" sz="1100" dirty="0">
                          <a:solidFill>
                            <a:srgbClr val="1B2A3A"/>
                          </a:solidFill>
                          <a:latin typeface="Segoe UI" pitchFamily="34" charset="0"/>
                          <a:ea typeface="Segoe UI" pitchFamily="34" charset="-122"/>
                          <a:cs typeface="Segoe UI" pitchFamily="34" charset="-120"/>
                        </a:rPr>
                        <a:t> (offre, montant hors taxes, délai), ou l’infructuosité si aucune offre n’est qualifiée. L’attribution elle-même revient à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Produit quand tout est arrêté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produit le rapport quand toutes les étapes de tous les lots sont arrêtées, et seulement si le quorum des signataires appelés peut être atteint ; dès lors, plus aucune décision ne change.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(14/16)</a:t>
            </a:r>
            <a:endParaRPr lang="en-US" sz="2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Signé, avec une observation possible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signe, hors ceux qui ont déclaré un conflit d’intérêts ; un membre en désaccord joint une </a:t>
                      </a:r>
                      <a:pPr indent="0" marL="0">
                        <a:buNone/>
                      </a:pPr>
                      <a:r>
                        <a:rPr lang="en-US" sz="1100" b="1" dirty="0">
                          <a:solidFill>
                            <a:srgbClr val="1B2A3A"/>
                          </a:solidFill>
                          <a:latin typeface="Segoe UI" pitchFamily="34" charset="0"/>
                          <a:ea typeface="Segoe UI" pitchFamily="34" charset="-122"/>
                          <a:cs typeface="Segoe UI" pitchFamily="34" charset="-120"/>
                        </a:rPr>
                        <a:t>observation</a:t>
                      </a:r>
                      <a:pPr indent="0" marL="0">
                        <a:buNone/>
                      </a:pPr>
                      <a:r>
                        <a:rPr lang="en-US" sz="1100" dirty="0">
                          <a:solidFill>
                            <a:srgbClr val="1B2A3A"/>
                          </a:solidFill>
                          <a:latin typeface="Segoe UI" pitchFamily="34" charset="0"/>
                          <a:ea typeface="Segoe UI" pitchFamily="34" charset="-122"/>
                          <a:cs typeface="Segoe UI" pitchFamily="34" charset="-120"/>
                        </a:rPr>
                        <a:t>. L’empêchement d’un membre est constaté par le président, avec un motif — jamais s’il rendait le quorum inatteignable.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Clos à la dernière signature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dernière signature, l’évaluation est close et la PRMP est avertie. Le rapport </a:t>
                      </a:r>
                      <a:pPr indent="0" marL="0">
                        <a:buNone/>
                      </a:pPr>
                      <a:r>
                        <a:rPr lang="en-US" sz="1100" b="1" dirty="0">
                          <a:solidFill>
                            <a:srgbClr val="1B2A3A"/>
                          </a:solidFill>
                          <a:latin typeface="Segoe UI" pitchFamily="34" charset="0"/>
                          <a:ea typeface="Segoe UI" pitchFamily="34" charset="-122"/>
                          <a:cs typeface="Segoe UI" pitchFamily="34" charset="-120"/>
                        </a:rPr>
                        <a:t>n’est pas public</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quorum, et le rapport qui vaut PV</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ne délibère qu’au </a:t>
                      </a:r>
                      <a:pPr indent="0" marL="0">
                        <a:buNone/>
                      </a:pPr>
                      <a:r>
                        <a:rPr lang="en-US" sz="1100" b="1" dirty="0">
                          <a:solidFill>
                            <a:srgbClr val="1B2A3A"/>
                          </a:solidFill>
                          <a:latin typeface="Segoe UI" pitchFamily="34" charset="0"/>
                          <a:ea typeface="Segoe UI" pitchFamily="34" charset="-122"/>
                          <a:cs typeface="Segoe UI" pitchFamily="34" charset="-120"/>
                        </a:rPr>
                        <a:t>quorum</a:t>
                      </a:r>
                      <a:pPr indent="0" marL="0">
                        <a:buNone/>
                      </a:pPr>
                      <a:r>
                        <a:rPr lang="en-US" sz="1100" dirty="0">
                          <a:solidFill>
                            <a:srgbClr val="1B2A3A"/>
                          </a:solidFill>
                          <a:latin typeface="Segoe UI" pitchFamily="34" charset="0"/>
                          <a:ea typeface="Segoe UI" pitchFamily="34" charset="-122"/>
                          <a:cs typeface="Segoe UI" pitchFamily="34" charset="-120"/>
                        </a:rPr>
                        <a:t> réglé par l’Administrateur (par défaut, plus de la moitié des membres désignés), le président ou son représentant étant toujours requis en plus. Le quorum bloque la production du rapport ; il est imprimé au rapport. Le rapport signé vaut PV de validation : date de la dernière signature, membres, empêchements, exclus pour conflit, observations.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plan du guide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rapport suit le plan du guide : références, plis reçus, chaque étape lot par lot, proposition d’attribution, signatures. En annexe, les déclarations des membres et les échanges avec les candidats.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notation technique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grille vient de la fiche validée. Chaque membre sans conflit note chaque élément de 0 à son maximum, et motive. La moyenne de chaque élément fait la note ; un écart de plus de 20 % du maximum entre la note haute et la basse est signalé. Le président arrête sur des grilles complètes ; sous le score minimum, la proposition est éliminée et son enveloppe financière ne s’ouvre pas.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(15/16)</a:t>
            </a:r>
            <a:endParaRPr lang="en-US" sz="2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L’évaluation financière et le classement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Corrections arithmétiques et dépenses remboursables saisies par la commission : le montant comparé est le prix corrigé diminué des remboursables. En qualité-coût, le score financier et le score combiné suivent les poids de la fiche ; en budget prédéterminé, une proposition au-delà est hors budget ; en moindre coût, le montant comparé croissant. Une égalité se départage, motivée, avant l’arrêt.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négociation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Conduite par la PRMP ou son UGPM avec le premier classé, sur des points non substantiels (art. 42-IV). Réussie, elle porte la proposition d’attribution ; échouée, elle se motive et le classé suivant vient. Une seule en cours, une seule réussie par lot ; son PV se produit en PDF et en Word.</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proposition et le rapport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lot est prêt quand sa négociation a réussi ou qu’il est infructueux (toutes écartées, aucune au score minimum, aucune financière recevable, négociations sans accord). Le rapport se produit quand chaque lot est prêt ; ensuite, plus aucune écriture de l’évaluation.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COMMISSION D’APPEL D’OFFRES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(16/16)</a:t>
            </a:r>
            <a:endParaRPr lang="en-US" sz="2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Reprendre l’évaluation, réattribuer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Après un avis défavorable, la PRMP peut reprendre l’évaluation (motif) : le rapport signé est archivé, l’évaluation rouverte, un nouveau rapport et un nouveau dossier suivront. La reprise est refusée quand un autre lot est déjà attribué, ou que le dossier de marché d’un autre lot est soumis. Après le retrait du marché, la PRMP réattribue au candidat suivant (offre encore valide, nouvelle post-qualification, nouvelle information, nouveau délai) ; sans suivant éligible, seul le sans suite reste.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commission d’appel d’offres · 67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La commission d’appel d’offres</dc:title>
  <dc:subject>PptxGenJS Presentation</dc:subject>
  <dc:creator>PRS 2.0</dc:creator>
  <cp:lastModifiedBy>PRS 2.0</cp:lastModifiedBy>
  <cp:revision>1</cp:revision>
  <dcterms:created xsi:type="dcterms:W3CDTF">2026-10-14T12:36:48Z</dcterms:created>
  <dcterms:modified xsi:type="dcterms:W3CDTF">2026-10-14T12:36:48Z</dcterms:modified>
</cp:coreProperties>
</file>