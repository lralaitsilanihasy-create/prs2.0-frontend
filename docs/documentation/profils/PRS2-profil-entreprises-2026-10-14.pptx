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24A"/>
        </a:solidFill>
      </p:bgPr>
    </p:bg>
    <p:spTree>
      <p:nvGrpSpPr>
        <p:cNvPr id="1" name=""/>
        <p:cNvGrpSpPr/>
        <p:nvPr/>
      </p:nvGrpSpPr>
      <p:grpSpPr>
        <a:xfrm>
          <a:off x="0" y="0"/>
          <a:ext cx="0" cy="0"/>
          <a:chOff x="0" y="0"/>
          <a:chExt cx="0" cy="0"/>
        </a:xfrm>
      </p:grpSpPr>
      <p:sp>
        <p:nvSpPr>
          <p:cNvPr id="2" name="Shape 0"/>
          <p:cNvSpPr/>
          <p:nvPr/>
        </p:nvSpPr>
        <p:spPr>
          <a:xfrm>
            <a:off x="0" y="0"/>
            <a:ext cx="152396" cy="6858000"/>
          </a:xfrm>
          <a:prstGeom prst="rect">
            <a:avLst/>
          </a:prstGeom>
          <a:solidFill>
            <a:srgbClr val="E3AE2E"/>
          </a:solidFill>
          <a:ln w="12700">
            <a:solidFill>
              <a:srgbClr val="E3AE2E"/>
            </a:solidFill>
            <a:prstDash val="solid"/>
          </a:ln>
        </p:spPr>
      </p:sp>
      <p:sp>
        <p:nvSpPr>
          <p:cNvPr id="3" name="Text 1"/>
          <p:cNvSpPr/>
          <p:nvPr/>
        </p:nvSpPr>
        <p:spPr>
          <a:xfrm>
            <a:off x="812780" y="812800"/>
            <a:ext cx="10159746" cy="317500"/>
          </a:xfrm>
          <a:prstGeom prst="rect">
            <a:avLst/>
          </a:prstGeom>
          <a:noFill/>
          <a:ln/>
        </p:spPr>
        <p:txBody>
          <a:bodyPr wrap="square" rtlCol="0" anchor="ctr"/>
          <a:lstStyle/>
          <a:p>
            <a:pPr indent="0" marL="0">
              <a:buNone/>
            </a:pPr>
            <a:r>
              <a:rPr lang="en-US" sz="1400" b="1" spc="300" kern="0" dirty="0">
                <a:solidFill>
                  <a:srgbClr val="E3AE2E"/>
                </a:solidFill>
                <a:latin typeface="Segoe UI" pitchFamily="34" charset="0"/>
                <a:ea typeface="Segoe UI" pitchFamily="34" charset="-122"/>
                <a:cs typeface="Segoe UI" pitchFamily="34" charset="-120"/>
              </a:rPr>
              <a:t>COMMISSION NATIONALE DES MARCHÉS · LES FONCTIONNALITÉS PAR PROFIL</a:t>
            </a:r>
            <a:endParaRPr lang="en-US" sz="1400" dirty="0"/>
          </a:p>
        </p:txBody>
      </p:sp>
      <p:sp>
        <p:nvSpPr>
          <p:cNvPr id="4" name="Text 2"/>
          <p:cNvSpPr/>
          <p:nvPr/>
        </p:nvSpPr>
        <p:spPr>
          <a:xfrm>
            <a:off x="812780" y="1206500"/>
            <a:ext cx="10477238" cy="1397000"/>
          </a:xfrm>
          <a:prstGeom prst="rect">
            <a:avLst/>
          </a:prstGeom>
          <a:noFill/>
          <a:ln/>
        </p:spPr>
        <p:txBody>
          <a:bodyPr wrap="square" rtlCol="0" anchor="t">
            <a:normAutofit/>
          </a:bodyPr>
          <a:lstStyle/>
          <a:p>
            <a:pPr indent="0" marL="0">
              <a:buNone/>
            </a:pPr>
            <a:r>
              <a:rPr lang="en-US" sz="4000" b="1" dirty="0">
                <a:solidFill>
                  <a:srgbClr val="FCFCFA"/>
                </a:solidFill>
                <a:latin typeface="Segoe UI" pitchFamily="34" charset="0"/>
                <a:ea typeface="Segoe UI" pitchFamily="34" charset="-122"/>
                <a:cs typeface="Segoe UI" pitchFamily="34" charset="-120"/>
              </a:rPr>
              <a:t>PRS 2.0 — Les fonctionnalités de les entreprises candidates</a:t>
            </a:r>
            <a:endParaRPr lang="en-US" sz="4000" dirty="0"/>
          </a:p>
        </p:txBody>
      </p:sp>
      <p:sp>
        <p:nvSpPr>
          <p:cNvPr id="5" name="Text 3"/>
          <p:cNvSpPr/>
          <p:nvPr/>
        </p:nvSpPr>
        <p:spPr>
          <a:xfrm>
            <a:off x="812780" y="2857500"/>
            <a:ext cx="9524762" cy="1270000"/>
          </a:xfrm>
          <a:prstGeom prst="rect">
            <a:avLst/>
          </a:prstGeom>
          <a:noFill/>
          <a:ln/>
        </p:spPr>
        <p:txBody>
          <a:bodyPr wrap="square" rtlCol="0" anchor="t">
            <a:normAutofit/>
          </a:bodyPr>
          <a:lstStyle/>
          <a:p>
            <a:pPr indent="0" marL="0">
              <a:buNone/>
            </a:pPr>
            <a:r>
              <a:rPr lang="en-US" sz="2000" dirty="0">
                <a:solidFill>
                  <a:srgbClr val="C9D6E2"/>
                </a:solidFill>
                <a:latin typeface="Segoe UI" pitchFamily="34" charset="0"/>
                <a:ea typeface="Segoe UI" pitchFamily="34" charset="-122"/>
                <a:cs typeface="Segoe UI" pitchFamily="34" charset="-120"/>
              </a:rPr>
              <a:t>Les entreprises retirent le dossier, déposent leur offre et suivent leur résultat ; le dépositaire garde la part de secours de la clé.</a:t>
            </a:r>
            <a:endParaRPr lang="en-US" sz="2000" dirty="0"/>
          </a:p>
        </p:txBody>
      </p:sp>
      <p:sp>
        <p:nvSpPr>
          <p:cNvPr id="6" name="Text 4"/>
          <p:cNvSpPr/>
          <p:nvPr/>
        </p:nvSpPr>
        <p:spPr>
          <a:xfrm>
            <a:off x="812780" y="5270500"/>
            <a:ext cx="9842254" cy="762000"/>
          </a:xfrm>
          <a:prstGeom prst="rect">
            <a:avLst/>
          </a:prstGeom>
          <a:noFill/>
          <a:ln/>
        </p:spPr>
        <p:txBody>
          <a:bodyPr wrap="square" rtlCol="0" anchor="t"/>
          <a:lstStyle/>
          <a:p>
            <a:pPr indent="0" marL="0">
              <a:buNone/>
            </a:pPr>
            <a:r>
              <a:rPr lang="en-US" sz="1400" dirty="0">
                <a:solidFill>
                  <a:srgbClr val="8FA6BB"/>
                </a:solidFill>
                <a:latin typeface="Segoe UI" pitchFamily="34" charset="0"/>
                <a:ea typeface="Segoe UI" pitchFamily="34" charset="-122"/>
                <a:cs typeface="Segoe UI" pitchFamily="34" charset="-120"/>
              </a:rPr>
              <a:t>38 écrans, étape par étape, et les règles à connaître</a:t>
            </a:r>
            <a:endParaRPr lang="en-US" sz="1400" dirty="0"/>
          </a:p>
          <a:p>
            <a:pPr indent="0" marL="0">
              <a:buNone/>
            </a:pPr>
            <a:r>
              <a:rPr lang="en-US" sz="1400" dirty="0">
                <a:solidFill>
                  <a:srgbClr val="8FA6BB"/>
                </a:solidFill>
                <a:latin typeface="Segoe UI" pitchFamily="34" charset="0"/>
                <a:ea typeface="Segoe UI" pitchFamily="34" charset="-122"/>
                <a:cs typeface="Segoe UI" pitchFamily="34" charset="-120"/>
              </a:rPr>
              <a:t>Captures de l’application réelle sur des dossiers de démonstration (14 octobre 2026) · noms de personnes remplacés par leur rôle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LES ENTREPRISES CANDIDATES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Ses fonctionnalités d’un coup d’œil</a:t>
            </a:r>
            <a:endParaRPr lang="en-US" sz="2600" dirty="0"/>
          </a:p>
        </p:txBody>
      </p:sp>
      <p:sp>
        <p:nvSpPr>
          <p:cNvPr id="4" name="Text 2"/>
          <p:cNvSpPr/>
          <p:nvPr/>
        </p:nvSpPr>
        <p:spPr>
          <a:xfrm>
            <a:off x="812780" y="1066800"/>
            <a:ext cx="10413740" cy="508000"/>
          </a:xfrm>
          <a:prstGeom prst="rect">
            <a:avLst/>
          </a:prstGeom>
          <a:noFill/>
          <a:ln/>
        </p:spPr>
        <p:txBody>
          <a:bodyPr wrap="square" rtlCol="0" anchor="t">
            <a:normAutofit/>
          </a:bodyPr>
          <a:lstStyle/>
          <a:p>
            <a:pPr indent="0" marL="0">
              <a:buNone/>
            </a:pPr>
            <a:r>
              <a:rPr lang="en-US" sz="1300" dirty="0">
                <a:solidFill>
                  <a:srgbClr val="465568"/>
                </a:solidFill>
                <a:latin typeface="Segoe UI" pitchFamily="34" charset="0"/>
                <a:ea typeface="Segoe UI" pitchFamily="34" charset="-122"/>
                <a:cs typeface="Segoe UI" pitchFamily="34" charset="-120"/>
              </a:rPr>
              <a:t>Les écrans où les entreprises candidates agit ou lit, rangés par étape de la chaîne ; chacun est présenté ensuite.</a:t>
            </a:r>
            <a:endParaRPr lang="en-US" sz="1300" dirty="0"/>
          </a:p>
        </p:txBody>
      </p:sp>
      <p:sp>
        <p:nvSpPr>
          <p:cNvPr id="5" name="Shape 3"/>
          <p:cNvSpPr/>
          <p:nvPr/>
        </p:nvSpPr>
        <p:spPr>
          <a:xfrm>
            <a:off x="812780" y="1651000"/>
            <a:ext cx="3420448" cy="2159000"/>
          </a:xfrm>
          <a:prstGeom prst="rect">
            <a:avLst/>
          </a:prstGeom>
          <a:solidFill>
            <a:srgbClr val="FCFCFA"/>
          </a:solidFill>
          <a:ln w="9525">
            <a:solidFill>
              <a:srgbClr val="D5DCE4"/>
            </a:solidFill>
            <a:prstDash val="solid"/>
          </a:ln>
        </p:spPr>
      </p:sp>
      <p:sp>
        <p:nvSpPr>
          <p:cNvPr id="6" name="Shape 4"/>
          <p:cNvSpPr/>
          <p:nvPr/>
        </p:nvSpPr>
        <p:spPr>
          <a:xfrm>
            <a:off x="812780" y="1651000"/>
            <a:ext cx="3420448" cy="38100"/>
          </a:xfrm>
          <a:prstGeom prst="rect">
            <a:avLst/>
          </a:prstGeom>
          <a:solidFill>
            <a:srgbClr val="1B6FA8"/>
          </a:solidFill>
          <a:ln/>
        </p:spPr>
      </p:sp>
      <p:sp>
        <p:nvSpPr>
          <p:cNvPr id="7" name="Text 5"/>
          <p:cNvSpPr/>
          <p:nvPr/>
        </p:nvSpPr>
        <p:spPr>
          <a:xfrm>
            <a:off x="952476" y="1752600"/>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01 · Entrer</a:t>
            </a:r>
            <a:endParaRPr lang="en-US" sz="1500" dirty="0"/>
          </a:p>
        </p:txBody>
      </p:sp>
      <p:sp>
        <p:nvSpPr>
          <p:cNvPr id="8" name="Text 6"/>
          <p:cNvSpPr/>
          <p:nvPr/>
        </p:nvSpPr>
        <p:spPr>
          <a:xfrm>
            <a:off x="952476" y="2038350"/>
            <a:ext cx="3141055" cy="170815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Le portail public : les entreprises</a:t>
            </a:r>
            <a:endParaRPr lang="en-US" sz="1200" dirty="0"/>
          </a:p>
        </p:txBody>
      </p:sp>
      <p:sp>
        <p:nvSpPr>
          <p:cNvPr id="9" name="Shape 7"/>
          <p:cNvSpPr/>
          <p:nvPr/>
        </p:nvSpPr>
        <p:spPr>
          <a:xfrm>
            <a:off x="4385624" y="1651000"/>
            <a:ext cx="3420448" cy="2159000"/>
          </a:xfrm>
          <a:prstGeom prst="rect">
            <a:avLst/>
          </a:prstGeom>
          <a:solidFill>
            <a:srgbClr val="FCFCFA"/>
          </a:solidFill>
          <a:ln w="9525">
            <a:solidFill>
              <a:srgbClr val="D5DCE4"/>
            </a:solidFill>
            <a:prstDash val="solid"/>
          </a:ln>
        </p:spPr>
      </p:sp>
      <p:sp>
        <p:nvSpPr>
          <p:cNvPr id="10" name="Shape 8"/>
          <p:cNvSpPr/>
          <p:nvPr/>
        </p:nvSpPr>
        <p:spPr>
          <a:xfrm>
            <a:off x="4385624" y="1651000"/>
            <a:ext cx="3420448" cy="38100"/>
          </a:xfrm>
          <a:prstGeom prst="rect">
            <a:avLst/>
          </a:prstGeom>
          <a:solidFill>
            <a:srgbClr val="2E8B57"/>
          </a:solidFill>
          <a:ln/>
        </p:spPr>
      </p:sp>
      <p:sp>
        <p:nvSpPr>
          <p:cNvPr id="11" name="Text 9"/>
          <p:cNvSpPr/>
          <p:nvPr/>
        </p:nvSpPr>
        <p:spPr>
          <a:xfrm>
            <a:off x="4525320" y="1752600"/>
            <a:ext cx="3141055" cy="4191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06 · Recevoir les offres en ligne</a:t>
            </a:r>
            <a:endParaRPr lang="en-US" sz="1500" dirty="0"/>
          </a:p>
        </p:txBody>
      </p:sp>
      <p:sp>
        <p:nvSpPr>
          <p:cNvPr id="12" name="Text 10"/>
          <p:cNvSpPr/>
          <p:nvPr/>
        </p:nvSpPr>
        <p:spPr>
          <a:xfrm>
            <a:off x="4525320" y="2209800"/>
            <a:ext cx="3141055" cy="15367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Les procédures ouvertes · Le détail d’une procédure · Créer un compte · Son entreprise · Le retrait attend le reçu · Déposer le reçu du versement · Le reçu attend la décision · Reçu refusé : le motif · Reçu validé : le dossier se retire · Le dossier à retirer · Sans reçu validé, pas de dépôt · Mes invitations · Le bordereau des prix et le calendrier de livraison · La conformité technique · Les avertissements, avant de déposer · L’acte d’engagement, calculé · Le devis quantitatif et les prix en lettres · Le coefficient K1 · Le sous-détail d’un prix · Les capacités financières et techniques · Le personnel proposé · Le matériel proposé · Les avertissements des travaux · Une saisie jamais perdue · Les pièces remplies en ligne · Le dépôt sans formulaires · Les pièces, puis le scellement · L’accusé de dépôt · Déposer l’enveloppe technique · L’accusé d’une proposition complète · Mes offres</a:t>
            </a:r>
            <a:endParaRPr lang="en-US" sz="1200" dirty="0"/>
          </a:p>
        </p:txBody>
      </p:sp>
      <p:sp>
        <p:nvSpPr>
          <p:cNvPr id="13" name="Shape 11"/>
          <p:cNvSpPr/>
          <p:nvPr/>
        </p:nvSpPr>
        <p:spPr>
          <a:xfrm>
            <a:off x="7958468" y="1651000"/>
            <a:ext cx="3420448" cy="2159000"/>
          </a:xfrm>
          <a:prstGeom prst="rect">
            <a:avLst/>
          </a:prstGeom>
          <a:solidFill>
            <a:srgbClr val="FCFCFA"/>
          </a:solidFill>
          <a:ln w="9525">
            <a:solidFill>
              <a:srgbClr val="D5DCE4"/>
            </a:solidFill>
            <a:prstDash val="solid"/>
          </a:ln>
        </p:spPr>
      </p:sp>
      <p:sp>
        <p:nvSpPr>
          <p:cNvPr id="14" name="Shape 12"/>
          <p:cNvSpPr/>
          <p:nvPr/>
        </p:nvSpPr>
        <p:spPr>
          <a:xfrm>
            <a:off x="7958468" y="1651000"/>
            <a:ext cx="3420448" cy="38100"/>
          </a:xfrm>
          <a:prstGeom prst="rect">
            <a:avLst/>
          </a:prstGeom>
          <a:solidFill>
            <a:srgbClr val="E3AE2E"/>
          </a:solidFill>
          <a:ln/>
        </p:spPr>
      </p:sp>
      <p:sp>
        <p:nvSpPr>
          <p:cNvPr id="15" name="Text 13"/>
          <p:cNvSpPr/>
          <p:nvPr/>
        </p:nvSpPr>
        <p:spPr>
          <a:xfrm>
            <a:off x="8098164" y="1752600"/>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07 · La séance d’ouverture</a:t>
            </a:r>
            <a:endParaRPr lang="en-US" sz="1500" dirty="0"/>
          </a:p>
        </p:txBody>
      </p:sp>
      <p:sp>
        <p:nvSpPr>
          <p:cNvPr id="16" name="Text 14"/>
          <p:cNvSpPr/>
          <p:nvPr/>
        </p:nvSpPr>
        <p:spPr>
          <a:xfrm>
            <a:off x="8098164" y="2038350"/>
            <a:ext cx="3141055" cy="170815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La procédure publique, après la séance</a:t>
            </a:r>
            <a:endParaRPr lang="en-US" sz="1200" dirty="0"/>
          </a:p>
        </p:txBody>
      </p:sp>
      <p:sp>
        <p:nvSpPr>
          <p:cNvPr id="17" name="Shape 15"/>
          <p:cNvSpPr/>
          <p:nvPr/>
        </p:nvSpPr>
        <p:spPr>
          <a:xfrm>
            <a:off x="812780" y="3962400"/>
            <a:ext cx="3420448" cy="2159000"/>
          </a:xfrm>
          <a:prstGeom prst="rect">
            <a:avLst/>
          </a:prstGeom>
          <a:solidFill>
            <a:srgbClr val="FCFCFA"/>
          </a:solidFill>
          <a:ln w="9525">
            <a:solidFill>
              <a:srgbClr val="D5DCE4"/>
            </a:solidFill>
            <a:prstDash val="solid"/>
          </a:ln>
        </p:spPr>
      </p:sp>
      <p:sp>
        <p:nvSpPr>
          <p:cNvPr id="18" name="Shape 16"/>
          <p:cNvSpPr/>
          <p:nvPr/>
        </p:nvSpPr>
        <p:spPr>
          <a:xfrm>
            <a:off x="812780" y="3962400"/>
            <a:ext cx="3420448" cy="38100"/>
          </a:xfrm>
          <a:prstGeom prst="rect">
            <a:avLst/>
          </a:prstGeom>
          <a:solidFill>
            <a:srgbClr val="12324A"/>
          </a:solidFill>
          <a:ln/>
        </p:spPr>
      </p:sp>
      <p:sp>
        <p:nvSpPr>
          <p:cNvPr id="19" name="Text 17"/>
          <p:cNvSpPr/>
          <p:nvPr/>
        </p:nvSpPr>
        <p:spPr>
          <a:xfrm>
            <a:off x="952476" y="4064000"/>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08 · Évaluer les offres</a:t>
            </a:r>
            <a:endParaRPr lang="en-US" sz="1500" dirty="0"/>
          </a:p>
        </p:txBody>
      </p:sp>
      <p:sp>
        <p:nvSpPr>
          <p:cNvPr id="20" name="Text 18"/>
          <p:cNvSpPr/>
          <p:nvPr/>
        </p:nvSpPr>
        <p:spPr>
          <a:xfrm>
            <a:off x="952476" y="4349750"/>
            <a:ext cx="3141055" cy="170815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Répondre depuis « Mes offres » · Une offre maintenue après justification</a:t>
            </a:r>
            <a:endParaRPr lang="en-US" sz="1200" dirty="0"/>
          </a:p>
        </p:txBody>
      </p:sp>
      <p:sp>
        <p:nvSpPr>
          <p:cNvPr id="21" name="Shape 19"/>
          <p:cNvSpPr/>
          <p:nvPr/>
        </p:nvSpPr>
        <p:spPr>
          <a:xfrm>
            <a:off x="4385624" y="3962400"/>
            <a:ext cx="3420448" cy="2159000"/>
          </a:xfrm>
          <a:prstGeom prst="rect">
            <a:avLst/>
          </a:prstGeom>
          <a:solidFill>
            <a:srgbClr val="FCFCFA"/>
          </a:solidFill>
          <a:ln w="9525">
            <a:solidFill>
              <a:srgbClr val="D5DCE4"/>
            </a:solidFill>
            <a:prstDash val="solid"/>
          </a:ln>
        </p:spPr>
      </p:sp>
      <p:sp>
        <p:nvSpPr>
          <p:cNvPr id="22" name="Shape 20"/>
          <p:cNvSpPr/>
          <p:nvPr/>
        </p:nvSpPr>
        <p:spPr>
          <a:xfrm>
            <a:off x="4385624" y="3962400"/>
            <a:ext cx="3420448" cy="38100"/>
          </a:xfrm>
          <a:prstGeom prst="rect">
            <a:avLst/>
          </a:prstGeom>
          <a:solidFill>
            <a:srgbClr val="1B6FA8"/>
          </a:solidFill>
          <a:ln/>
        </p:spPr>
      </p:sp>
      <p:sp>
        <p:nvSpPr>
          <p:cNvPr id="23" name="Text 21"/>
          <p:cNvSpPr/>
          <p:nvPr/>
        </p:nvSpPr>
        <p:spPr>
          <a:xfrm>
            <a:off x="4525320" y="4064000"/>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09 · Attribuer et notifier</a:t>
            </a:r>
            <a:endParaRPr lang="en-US" sz="1500" dirty="0"/>
          </a:p>
        </p:txBody>
      </p:sp>
      <p:sp>
        <p:nvSpPr>
          <p:cNvPr id="24" name="Text 22"/>
          <p:cNvSpPr/>
          <p:nvPr/>
        </p:nvSpPr>
        <p:spPr>
          <a:xfrm>
            <a:off x="4525320" y="4349750"/>
            <a:ext cx="3141055" cy="170815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Le candidat écarté : résultat et motif · Le résultat public de la procédure · L’attributaire dépose ses pièces</a:t>
            </a:r>
            <a:endParaRPr lang="en-US" sz="1200" dirty="0"/>
          </a:p>
        </p:txBody>
      </p:sp>
      <p:sp>
        <p:nvSpPr>
          <p:cNvPr id="25" name="Text 2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Les entreprises candidates · 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PUBLIC · ENTREPRISES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portail public : les entreprises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portail public : les entreprise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Les entreprises candidates.</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procédures ouvertes se consultent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sans compte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un compte confirmé permet de retirer le dossier d’appel d’offres.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 compte par entreprise (un NIF, un STAT, un RCS), confirmé par un code reçu par courriel.</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L’offre, chiffrée sur le poste du candidat, ne s’ouvre qu’en séance, à l’heure prévue (voir la partie 06).</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Les entreprises candidates · 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ÉTAPE 06</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Recevoir les offres en ligne</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De l’avis publié à l’offre scellée</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Les entreprises candidates · 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 · PUBLIC</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procédures ouvertes</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Les procédures ouvertes">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Toute entreprise, sans compte.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Référence, objet, lots, date limite et heure de référence de chaque procédure en remise électronique.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date limite la plus proche d’abord. (Capture du 08/10 : toutes les procédures de démonstration sont closes aujourd’hui, la liste est vide.)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Les entreprises candidates · 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 · PUBLIC</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détail d’une procédure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détail d’une procédur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Toute entreprise, sans compte.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calendrier à l’</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heure du serveur</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les lots, les règles de la remise électronique (signature simple, formats, tailles) et l’assistance.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Après la séance : le PV d’ouverture publié, puis le résultat de l’appel d’offres.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dossier se retire avec un compte ; les questions des candidats et les réponses diffusées se lisent ici.</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Les entreprises candidates · 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Créer un compte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Créer un compt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personne qui représente l’entreprise.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 compte par entreprise : nom, adresse électronique (l’identifiant), téléphone, mot de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code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reçu par courriel confirme le compte.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Les entreprises candidates · 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Son entreprise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Son entrepris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candidat.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Raison sociale, NIF, STAT, RCS, adresse et représentant, déclarés une fois ; un NIF, un STAT ou un RCS n’appartient qu’à une seule entreprise.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carte fiscale téléversée permet à l’Administrateur de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vérifier le NIF</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la vérification ne bloque aucun dépôt, la commission en lit l’état à l’ouverture.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Les entreprises candidates · 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retrait attend le reçu</a:t>
            </a:r>
            <a:endParaRPr lang="en-US" sz="2600" dirty="0"/>
          </a:p>
        </p:txBody>
      </p:sp>
      <p:sp>
        <p:nvSpPr>
          <p:cNvPr id="4" name="Shape 2"/>
          <p:cNvSpPr/>
          <p:nvPr/>
        </p:nvSpPr>
        <p:spPr>
          <a:xfrm>
            <a:off x="1583090" y="1193800"/>
            <a:ext cx="9025515" cy="3327400"/>
          </a:xfrm>
          <a:prstGeom prst="rect">
            <a:avLst/>
          </a:prstGeom>
          <a:solidFill>
            <a:srgbClr val="FCFCFA"/>
          </a:solidFill>
          <a:ln w="9525">
            <a:solidFill>
              <a:srgbClr val="D5DCE4"/>
            </a:solidFill>
            <a:prstDash val="solid"/>
          </a:ln>
        </p:spPr>
      </p:sp>
      <p:pic>
        <p:nvPicPr>
          <p:cNvPr id="5" name="Image 0" descr="Le retrait attend le reçu">    </p:cNvPr>
          <p:cNvPicPr>
            <a:picLocks noChangeAspect="1"/>
          </p:cNvPicPr>
          <p:nvPr/>
        </p:nvPicPr>
        <p:blipFill>
          <a:blip r:embed="rId1"/>
          <a:stretch>
            <a:fillRect/>
          </a:stretch>
        </p:blipFill>
        <p:spPr>
          <a:xfrm>
            <a:off x="1595790" y="1206500"/>
            <a:ext cx="9000116" cy="3302000"/>
          </a:xfrm>
          <a:prstGeom prst="rect">
            <a:avLst/>
          </a:prstGeom>
        </p:spPr>
      </p:pic>
      <p:sp>
        <p:nvSpPr>
          <p:cNvPr id="6" name="Shape 3"/>
          <p:cNvSpPr/>
          <p:nvPr/>
        </p:nvSpPr>
        <p:spPr>
          <a:xfrm>
            <a:off x="812780" y="4660900"/>
            <a:ext cx="10566136" cy="1314450"/>
          </a:xfrm>
          <a:prstGeom prst="rect">
            <a:avLst/>
          </a:prstGeom>
          <a:solidFill>
            <a:srgbClr val="FCFCFA"/>
          </a:solidFill>
          <a:ln w="9525">
            <a:solidFill>
              <a:srgbClr val="D5DCE4"/>
            </a:solidFill>
            <a:prstDash val="solid"/>
          </a:ln>
        </p:spPr>
      </p:sp>
      <p:sp>
        <p:nvSpPr>
          <p:cNvPr id="7" name="Shape 4"/>
          <p:cNvSpPr/>
          <p:nvPr/>
        </p:nvSpPr>
        <p:spPr>
          <a:xfrm>
            <a:off x="812780" y="4660900"/>
            <a:ext cx="38099" cy="1314450"/>
          </a:xfrm>
          <a:prstGeom prst="rect">
            <a:avLst/>
          </a:prstGeom>
          <a:solidFill>
            <a:srgbClr val="1B6FA8"/>
          </a:solidFill>
          <a:ln/>
        </p:spPr>
      </p:sp>
      <p:sp>
        <p:nvSpPr>
          <p:cNvPr id="8" name="Text 5"/>
          <p:cNvSpPr/>
          <p:nvPr/>
        </p:nvSpPr>
        <p:spPr>
          <a:xfrm>
            <a:off x="977876" y="4762500"/>
            <a:ext cx="10274043" cy="112395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candidat connecté.</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frais du dossier sont affichés ; les boutons « Retirer » restent inactifs et l’écran dit pourquoi.</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Les entreprises candidates · 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Déposer le reçu du versement</a:t>
            </a:r>
            <a:endParaRPr lang="en-US" sz="2600" dirty="0"/>
          </a:p>
        </p:txBody>
      </p:sp>
      <p:sp>
        <p:nvSpPr>
          <p:cNvPr id="4" name="Shape 2"/>
          <p:cNvSpPr/>
          <p:nvPr/>
        </p:nvSpPr>
        <p:spPr>
          <a:xfrm>
            <a:off x="800080" y="1193800"/>
            <a:ext cx="10591535" cy="3083142"/>
          </a:xfrm>
          <a:prstGeom prst="rect">
            <a:avLst/>
          </a:prstGeom>
          <a:solidFill>
            <a:srgbClr val="FCFCFA"/>
          </a:solidFill>
          <a:ln w="9525">
            <a:solidFill>
              <a:srgbClr val="D5DCE4"/>
            </a:solidFill>
            <a:prstDash val="solid"/>
          </a:ln>
        </p:spPr>
      </p:sp>
      <p:pic>
        <p:nvPicPr>
          <p:cNvPr id="5" name="Image 0" descr="Déposer le reçu du versement">    </p:cNvPr>
          <p:cNvPicPr>
            <a:picLocks noChangeAspect="1"/>
          </p:cNvPicPr>
          <p:nvPr/>
        </p:nvPicPr>
        <p:blipFill>
          <a:blip r:embed="rId1"/>
          <a:stretch>
            <a:fillRect/>
          </a:stretch>
        </p:blipFill>
        <p:spPr>
          <a:xfrm>
            <a:off x="812780" y="1206500"/>
            <a:ext cx="10566136" cy="3057742"/>
          </a:xfrm>
          <a:prstGeom prst="rect">
            <a:avLst/>
          </a:prstGeom>
        </p:spPr>
      </p:pic>
      <p:sp>
        <p:nvSpPr>
          <p:cNvPr id="6" name="Shape 3"/>
          <p:cNvSpPr/>
          <p:nvPr/>
        </p:nvSpPr>
        <p:spPr>
          <a:xfrm>
            <a:off x="812780" y="4416642"/>
            <a:ext cx="10566136" cy="1314450"/>
          </a:xfrm>
          <a:prstGeom prst="rect">
            <a:avLst/>
          </a:prstGeom>
          <a:solidFill>
            <a:srgbClr val="FCFCFA"/>
          </a:solidFill>
          <a:ln w="9525">
            <a:solidFill>
              <a:srgbClr val="D5DCE4"/>
            </a:solidFill>
            <a:prstDash val="solid"/>
          </a:ln>
        </p:spPr>
      </p:sp>
      <p:sp>
        <p:nvSpPr>
          <p:cNvPr id="7" name="Shape 4"/>
          <p:cNvSpPr/>
          <p:nvPr/>
        </p:nvSpPr>
        <p:spPr>
          <a:xfrm>
            <a:off x="812780" y="4416642"/>
            <a:ext cx="38099" cy="1314450"/>
          </a:xfrm>
          <a:prstGeom prst="rect">
            <a:avLst/>
          </a:prstGeom>
          <a:solidFill>
            <a:srgbClr val="1B6FA8"/>
          </a:solidFill>
          <a:ln/>
        </p:spPr>
      </p:sp>
      <p:sp>
        <p:nvSpPr>
          <p:cNvPr id="8" name="Text 5"/>
          <p:cNvSpPr/>
          <p:nvPr/>
        </p:nvSpPr>
        <p:spPr>
          <a:xfrm>
            <a:off x="977876" y="4518242"/>
            <a:ext cx="10274043" cy="112395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candidat.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Montant, référence, date, banque, lots couverts, et le reçu (PDF ou image).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Les entreprises candidates · 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reçu attend la décision</a:t>
            </a:r>
            <a:endParaRPr lang="en-US" sz="2600" dirty="0"/>
          </a:p>
        </p:txBody>
      </p:sp>
      <p:sp>
        <p:nvSpPr>
          <p:cNvPr id="4" name="Shape 2"/>
          <p:cNvSpPr/>
          <p:nvPr/>
        </p:nvSpPr>
        <p:spPr>
          <a:xfrm>
            <a:off x="800080" y="1193800"/>
            <a:ext cx="10591535" cy="1509038"/>
          </a:xfrm>
          <a:prstGeom prst="rect">
            <a:avLst/>
          </a:prstGeom>
          <a:solidFill>
            <a:srgbClr val="FCFCFA"/>
          </a:solidFill>
          <a:ln w="9525">
            <a:solidFill>
              <a:srgbClr val="D5DCE4"/>
            </a:solidFill>
            <a:prstDash val="solid"/>
          </a:ln>
        </p:spPr>
      </p:sp>
      <p:pic>
        <p:nvPicPr>
          <p:cNvPr id="5" name="Image 0" descr="Le reçu attend la décision">    </p:cNvPr>
          <p:cNvPicPr>
            <a:picLocks noChangeAspect="1"/>
          </p:cNvPicPr>
          <p:nvPr/>
        </p:nvPicPr>
        <p:blipFill>
          <a:blip r:embed="rId1"/>
          <a:stretch>
            <a:fillRect/>
          </a:stretch>
        </p:blipFill>
        <p:spPr>
          <a:xfrm>
            <a:off x="812780" y="1206500"/>
            <a:ext cx="10566136" cy="1483638"/>
          </a:xfrm>
          <a:prstGeom prst="rect">
            <a:avLst/>
          </a:prstGeom>
        </p:spPr>
      </p:pic>
      <p:sp>
        <p:nvSpPr>
          <p:cNvPr id="6" name="Shape 3"/>
          <p:cNvSpPr/>
          <p:nvPr/>
        </p:nvSpPr>
        <p:spPr>
          <a:xfrm>
            <a:off x="812780" y="2842538"/>
            <a:ext cx="10566136" cy="1314450"/>
          </a:xfrm>
          <a:prstGeom prst="rect">
            <a:avLst/>
          </a:prstGeom>
          <a:solidFill>
            <a:srgbClr val="FCFCFA"/>
          </a:solidFill>
          <a:ln w="9525">
            <a:solidFill>
              <a:srgbClr val="D5DCE4"/>
            </a:solidFill>
            <a:prstDash val="solid"/>
          </a:ln>
        </p:spPr>
      </p:sp>
      <p:sp>
        <p:nvSpPr>
          <p:cNvPr id="7" name="Shape 4"/>
          <p:cNvSpPr/>
          <p:nvPr/>
        </p:nvSpPr>
        <p:spPr>
          <a:xfrm>
            <a:off x="812780" y="2842538"/>
            <a:ext cx="38099" cy="1314450"/>
          </a:xfrm>
          <a:prstGeom prst="rect">
            <a:avLst/>
          </a:prstGeom>
          <a:solidFill>
            <a:srgbClr val="1B6FA8"/>
          </a:solidFill>
          <a:ln/>
        </p:spPr>
      </p:sp>
      <p:sp>
        <p:nvSpPr>
          <p:cNvPr id="8" name="Text 5"/>
          <p:cNvSpPr/>
          <p:nvPr/>
        </p:nvSpPr>
        <p:spPr>
          <a:xfrm>
            <a:off x="977876" y="2944138"/>
            <a:ext cx="10274043" cy="112395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candidat.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L’état du reçu et son document ; tant qu’il n’est pas validé, le dossier ne se retire pas.</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Les entreprises candidates · 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Reçu refusé : le motif</a:t>
            </a:r>
            <a:endParaRPr lang="en-US" sz="2600" dirty="0"/>
          </a:p>
        </p:txBody>
      </p:sp>
      <p:sp>
        <p:nvSpPr>
          <p:cNvPr id="4" name="Shape 2"/>
          <p:cNvSpPr/>
          <p:nvPr/>
        </p:nvSpPr>
        <p:spPr>
          <a:xfrm>
            <a:off x="800080" y="1193800"/>
            <a:ext cx="10591535" cy="2359416"/>
          </a:xfrm>
          <a:prstGeom prst="rect">
            <a:avLst/>
          </a:prstGeom>
          <a:solidFill>
            <a:srgbClr val="FCFCFA"/>
          </a:solidFill>
          <a:ln w="9525">
            <a:solidFill>
              <a:srgbClr val="D5DCE4"/>
            </a:solidFill>
            <a:prstDash val="solid"/>
          </a:ln>
        </p:spPr>
      </p:sp>
      <p:pic>
        <p:nvPicPr>
          <p:cNvPr id="5" name="Image 0" descr="Reçu refusé : le motif">    </p:cNvPr>
          <p:cNvPicPr>
            <a:picLocks noChangeAspect="1"/>
          </p:cNvPicPr>
          <p:nvPr/>
        </p:nvPicPr>
        <p:blipFill>
          <a:blip r:embed="rId1"/>
          <a:stretch>
            <a:fillRect/>
          </a:stretch>
        </p:blipFill>
        <p:spPr>
          <a:xfrm>
            <a:off x="812780" y="1206500"/>
            <a:ext cx="10566136" cy="2334016"/>
          </a:xfrm>
          <a:prstGeom prst="rect">
            <a:avLst/>
          </a:prstGeom>
        </p:spPr>
      </p:pic>
      <p:sp>
        <p:nvSpPr>
          <p:cNvPr id="6" name="Shape 3"/>
          <p:cNvSpPr/>
          <p:nvPr/>
        </p:nvSpPr>
        <p:spPr>
          <a:xfrm>
            <a:off x="812780" y="3692916"/>
            <a:ext cx="10566136" cy="1314450"/>
          </a:xfrm>
          <a:prstGeom prst="rect">
            <a:avLst/>
          </a:prstGeom>
          <a:solidFill>
            <a:srgbClr val="FCFCFA"/>
          </a:solidFill>
          <a:ln w="9525">
            <a:solidFill>
              <a:srgbClr val="D5DCE4"/>
            </a:solidFill>
            <a:prstDash val="solid"/>
          </a:ln>
        </p:spPr>
      </p:sp>
      <p:sp>
        <p:nvSpPr>
          <p:cNvPr id="7" name="Shape 4"/>
          <p:cNvSpPr/>
          <p:nvPr/>
        </p:nvSpPr>
        <p:spPr>
          <a:xfrm>
            <a:off x="812780" y="3692916"/>
            <a:ext cx="38099" cy="1314450"/>
          </a:xfrm>
          <a:prstGeom prst="rect">
            <a:avLst/>
          </a:prstGeom>
          <a:solidFill>
            <a:srgbClr val="1B6FA8"/>
          </a:solidFill>
          <a:ln/>
        </p:spPr>
      </p:sp>
      <p:sp>
        <p:nvSpPr>
          <p:cNvPr id="8" name="Text 5"/>
          <p:cNvSpPr/>
          <p:nvPr/>
        </p:nvSpPr>
        <p:spPr>
          <a:xfrm>
            <a:off x="977876" y="3794516"/>
            <a:ext cx="10274043" cy="112395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candidat.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L’ancien reçu et son motif restent visibles ; un nouveau dépôt est proposé.</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Les entreprises candidates · 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Reçu validé : le dossier se retire</a:t>
            </a:r>
            <a:endParaRPr lang="en-US" sz="2600" dirty="0"/>
          </a:p>
        </p:txBody>
      </p:sp>
      <p:sp>
        <p:nvSpPr>
          <p:cNvPr id="4" name="Shape 2"/>
          <p:cNvSpPr/>
          <p:nvPr/>
        </p:nvSpPr>
        <p:spPr>
          <a:xfrm>
            <a:off x="800080" y="1193800"/>
            <a:ext cx="10591535" cy="1509038"/>
          </a:xfrm>
          <a:prstGeom prst="rect">
            <a:avLst/>
          </a:prstGeom>
          <a:solidFill>
            <a:srgbClr val="FCFCFA"/>
          </a:solidFill>
          <a:ln w="9525">
            <a:solidFill>
              <a:srgbClr val="D5DCE4"/>
            </a:solidFill>
            <a:prstDash val="solid"/>
          </a:ln>
        </p:spPr>
      </p:sp>
      <p:pic>
        <p:nvPicPr>
          <p:cNvPr id="5" name="Image 0" descr="Reçu validé : le dossier se retire">    </p:cNvPr>
          <p:cNvPicPr>
            <a:picLocks noChangeAspect="1"/>
          </p:cNvPicPr>
          <p:nvPr/>
        </p:nvPicPr>
        <p:blipFill>
          <a:blip r:embed="rId1"/>
          <a:stretch>
            <a:fillRect/>
          </a:stretch>
        </p:blipFill>
        <p:spPr>
          <a:xfrm>
            <a:off x="812780" y="1206500"/>
            <a:ext cx="10566136" cy="1483638"/>
          </a:xfrm>
          <a:prstGeom prst="rect">
            <a:avLst/>
          </a:prstGeom>
        </p:spPr>
      </p:pic>
      <p:sp>
        <p:nvSpPr>
          <p:cNvPr id="6" name="Shape 3"/>
          <p:cNvSpPr/>
          <p:nvPr/>
        </p:nvSpPr>
        <p:spPr>
          <a:xfrm>
            <a:off x="812780" y="2842538"/>
            <a:ext cx="10566136" cy="1314450"/>
          </a:xfrm>
          <a:prstGeom prst="rect">
            <a:avLst/>
          </a:prstGeom>
          <a:solidFill>
            <a:srgbClr val="FCFCFA"/>
          </a:solidFill>
          <a:ln w="9525">
            <a:solidFill>
              <a:srgbClr val="D5DCE4"/>
            </a:solidFill>
            <a:prstDash val="solid"/>
          </a:ln>
        </p:spPr>
      </p:sp>
      <p:sp>
        <p:nvSpPr>
          <p:cNvPr id="7" name="Shape 4"/>
          <p:cNvSpPr/>
          <p:nvPr/>
        </p:nvSpPr>
        <p:spPr>
          <a:xfrm>
            <a:off x="812780" y="2842538"/>
            <a:ext cx="38099" cy="1314450"/>
          </a:xfrm>
          <a:prstGeom prst="rect">
            <a:avLst/>
          </a:prstGeom>
          <a:solidFill>
            <a:srgbClr val="1B6FA8"/>
          </a:solidFill>
          <a:ln/>
        </p:spPr>
      </p:sp>
      <p:sp>
        <p:nvSpPr>
          <p:cNvPr id="8" name="Text 5"/>
          <p:cNvSpPr/>
          <p:nvPr/>
        </p:nvSpPr>
        <p:spPr>
          <a:xfrm>
            <a:off x="977876" y="2944138"/>
            <a:ext cx="10274043" cy="112395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candidat.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boutons « Retirer » s’ouvrent, ainsi que « Déposer une offre ».</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Les entreprises candidates · 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dossier à retirer</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dossier à retirer">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candidat connecté.</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dossier d’appel d’offres complet</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en Word et en PDF, le bordereau des prix et le tableau de conformité.</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retrait est inscrit au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registre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de la PRMP, avec le compte et l’entreprise (registre présenté en partie 04).</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Les entreprises candidates · 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Sans reçu validé, pas de dépôt</a:t>
            </a:r>
            <a:endParaRPr lang="en-US" sz="2600" dirty="0"/>
          </a:p>
        </p:txBody>
      </p:sp>
      <p:sp>
        <p:nvSpPr>
          <p:cNvPr id="4" name="Shape 2"/>
          <p:cNvSpPr/>
          <p:nvPr/>
        </p:nvSpPr>
        <p:spPr>
          <a:xfrm>
            <a:off x="800080" y="1193800"/>
            <a:ext cx="10591535" cy="2300111"/>
          </a:xfrm>
          <a:prstGeom prst="rect">
            <a:avLst/>
          </a:prstGeom>
          <a:solidFill>
            <a:srgbClr val="FCFCFA"/>
          </a:solidFill>
          <a:ln w="9525">
            <a:solidFill>
              <a:srgbClr val="D5DCE4"/>
            </a:solidFill>
            <a:prstDash val="solid"/>
          </a:ln>
        </p:spPr>
      </p:sp>
      <p:pic>
        <p:nvPicPr>
          <p:cNvPr id="5" name="Image 0" descr="Sans reçu validé, pas de dépôt">    </p:cNvPr>
          <p:cNvPicPr>
            <a:picLocks noChangeAspect="1"/>
          </p:cNvPicPr>
          <p:nvPr/>
        </p:nvPicPr>
        <p:blipFill>
          <a:blip r:embed="rId1"/>
          <a:stretch>
            <a:fillRect/>
          </a:stretch>
        </p:blipFill>
        <p:spPr>
          <a:xfrm>
            <a:off x="812780" y="1206500"/>
            <a:ext cx="10566136" cy="2274711"/>
          </a:xfrm>
          <a:prstGeom prst="rect">
            <a:avLst/>
          </a:prstGeom>
        </p:spPr>
      </p:pic>
      <p:sp>
        <p:nvSpPr>
          <p:cNvPr id="6" name="Shape 3"/>
          <p:cNvSpPr/>
          <p:nvPr/>
        </p:nvSpPr>
        <p:spPr>
          <a:xfrm>
            <a:off x="812780" y="3633611"/>
            <a:ext cx="10566136" cy="1314450"/>
          </a:xfrm>
          <a:prstGeom prst="rect">
            <a:avLst/>
          </a:prstGeom>
          <a:solidFill>
            <a:srgbClr val="FCFCFA"/>
          </a:solidFill>
          <a:ln w="9525">
            <a:solidFill>
              <a:srgbClr val="D5DCE4"/>
            </a:solidFill>
            <a:prstDash val="solid"/>
          </a:ln>
        </p:spPr>
      </p:sp>
      <p:sp>
        <p:nvSpPr>
          <p:cNvPr id="7" name="Shape 4"/>
          <p:cNvSpPr/>
          <p:nvPr/>
        </p:nvSpPr>
        <p:spPr>
          <a:xfrm>
            <a:off x="812780" y="3633611"/>
            <a:ext cx="38099" cy="1314450"/>
          </a:xfrm>
          <a:prstGeom prst="rect">
            <a:avLst/>
          </a:prstGeom>
          <a:solidFill>
            <a:srgbClr val="1B6FA8"/>
          </a:solidFill>
          <a:ln/>
        </p:spPr>
      </p:sp>
      <p:sp>
        <p:nvSpPr>
          <p:cNvPr id="8" name="Text 5"/>
          <p:cNvSpPr/>
          <p:nvPr/>
        </p:nvSpPr>
        <p:spPr>
          <a:xfrm>
            <a:off x="977876" y="3735211"/>
            <a:ext cx="10274043" cy="112395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candidat.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L’écran de dépôt ne s’ouvre pas et renvoie aux frais de dossier ; les formulaires de l’offre ne sont pas servis.</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Les entreprises candidates · 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PRESTATIONS INTELLECTUELLES · CANDIDAT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Mes invitations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Mes invitation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Un candidat invité à une consultation restreinte.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consultation restreinte n’est pas publiée : seule la lettre d’invitation y donne accès.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Son rang sur la liste restreinte, la date d’invitation, la date limite et la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lettre d’invitation</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en PDF.</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Les entreprises candidates · 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 · FOURNITURES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bordereau des prix et le calendrier de livraison</a:t>
            </a:r>
            <a:endParaRPr lang="en-US" sz="2600" dirty="0"/>
          </a:p>
        </p:txBody>
      </p:sp>
      <p:sp>
        <p:nvSpPr>
          <p:cNvPr id="4" name="Shape 2"/>
          <p:cNvSpPr/>
          <p:nvPr/>
        </p:nvSpPr>
        <p:spPr>
          <a:xfrm>
            <a:off x="1536618" y="1193800"/>
            <a:ext cx="9118459" cy="3327400"/>
          </a:xfrm>
          <a:prstGeom prst="rect">
            <a:avLst/>
          </a:prstGeom>
          <a:solidFill>
            <a:srgbClr val="FCFCFA"/>
          </a:solidFill>
          <a:ln w="9525">
            <a:solidFill>
              <a:srgbClr val="D5DCE4"/>
            </a:solidFill>
            <a:prstDash val="solid"/>
          </a:ln>
        </p:spPr>
      </p:sp>
      <p:pic>
        <p:nvPicPr>
          <p:cNvPr id="5" name="Image 0" descr="Le bordereau des prix et le calendrier de livraison">    </p:cNvPr>
          <p:cNvPicPr>
            <a:picLocks noChangeAspect="1"/>
          </p:cNvPicPr>
          <p:nvPr/>
        </p:nvPicPr>
        <p:blipFill>
          <a:blip r:embed="rId1"/>
          <a:stretch>
            <a:fillRect/>
          </a:stretch>
        </p:blipFill>
        <p:spPr>
          <a:xfrm>
            <a:off x="1549318" y="1206500"/>
            <a:ext cx="9093060" cy="3302000"/>
          </a:xfrm>
          <a:prstGeom prst="rect">
            <a:avLst/>
          </a:prstGeom>
        </p:spPr>
      </p:pic>
      <p:sp>
        <p:nvSpPr>
          <p:cNvPr id="6" name="Shape 3"/>
          <p:cNvSpPr/>
          <p:nvPr/>
        </p:nvSpPr>
        <p:spPr>
          <a:xfrm>
            <a:off x="812780" y="4660900"/>
            <a:ext cx="10566136" cy="1517650"/>
          </a:xfrm>
          <a:prstGeom prst="rect">
            <a:avLst/>
          </a:prstGeom>
          <a:solidFill>
            <a:srgbClr val="FCFCFA"/>
          </a:solidFill>
          <a:ln w="9525">
            <a:solidFill>
              <a:srgbClr val="D5DCE4"/>
            </a:solidFill>
            <a:prstDash val="solid"/>
          </a:ln>
        </p:spPr>
      </p:sp>
      <p:sp>
        <p:nvSpPr>
          <p:cNvPr id="7" name="Shape 4"/>
          <p:cNvSpPr/>
          <p:nvPr/>
        </p:nvSpPr>
        <p:spPr>
          <a:xfrm>
            <a:off x="812780" y="4660900"/>
            <a:ext cx="38099" cy="1517650"/>
          </a:xfrm>
          <a:prstGeom prst="rect">
            <a:avLst/>
          </a:prstGeom>
          <a:solidFill>
            <a:srgbClr val="1B6FA8"/>
          </a:solidFill>
          <a:ln/>
        </p:spPr>
      </p:sp>
      <p:sp>
        <p:nvSpPr>
          <p:cNvPr id="8" name="Text 5"/>
          <p:cNvSpPr/>
          <p:nvPr/>
        </p:nvSpPr>
        <p:spPr>
          <a:xfrm>
            <a:off x="977876" y="4762500"/>
            <a:ext cx="10274043" cy="132715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candidat.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prix unitaire et la date de livraison de chaque article ; pour un marché à commande, aux quantités minimales et maximales.</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Les entreprises candidates · 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 · FOURNITURES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conformité technique</a:t>
            </a:r>
            <a:endParaRPr lang="en-US" sz="2600" dirty="0"/>
          </a:p>
        </p:txBody>
      </p:sp>
      <p:sp>
        <p:nvSpPr>
          <p:cNvPr id="4" name="Shape 2"/>
          <p:cNvSpPr/>
          <p:nvPr/>
        </p:nvSpPr>
        <p:spPr>
          <a:xfrm>
            <a:off x="800080" y="1193800"/>
            <a:ext cx="7327717" cy="4420592"/>
          </a:xfrm>
          <a:prstGeom prst="rect">
            <a:avLst/>
          </a:prstGeom>
          <a:solidFill>
            <a:srgbClr val="FCFCFA"/>
          </a:solidFill>
          <a:ln w="9525">
            <a:solidFill>
              <a:srgbClr val="D5DCE4"/>
            </a:solidFill>
            <a:prstDash val="solid"/>
          </a:ln>
        </p:spPr>
      </p:sp>
      <p:pic>
        <p:nvPicPr>
          <p:cNvPr id="5" name="Image 0" descr="La conformité technique">    </p:cNvPr>
          <p:cNvPicPr>
            <a:picLocks noChangeAspect="1"/>
          </p:cNvPicPr>
          <p:nvPr/>
        </p:nvPicPr>
        <p:blipFill>
          <a:blip r:embed="rId1"/>
          <a:stretch>
            <a:fillRect/>
          </a:stretch>
        </p:blipFill>
        <p:spPr>
          <a:xfrm>
            <a:off x="812780" y="1206500"/>
            <a:ext cx="7302317" cy="4395192"/>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candidat.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Marque, modèle et, pour chaque caractéristique exigée, ce qui est proposé et s’il est conforme.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Les entreprises candidates · 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 · FOURNITURES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avertissements, avant de déposer</a:t>
            </a:r>
            <a:endParaRPr lang="en-US" sz="2600" dirty="0"/>
          </a:p>
        </p:txBody>
      </p:sp>
      <p:sp>
        <p:nvSpPr>
          <p:cNvPr id="4" name="Shape 2"/>
          <p:cNvSpPr/>
          <p:nvPr/>
        </p:nvSpPr>
        <p:spPr>
          <a:xfrm>
            <a:off x="800080" y="1193800"/>
            <a:ext cx="10591535" cy="3314192"/>
          </a:xfrm>
          <a:prstGeom prst="rect">
            <a:avLst/>
          </a:prstGeom>
          <a:solidFill>
            <a:srgbClr val="FCFCFA"/>
          </a:solidFill>
          <a:ln w="9525">
            <a:solidFill>
              <a:srgbClr val="D5DCE4"/>
            </a:solidFill>
            <a:prstDash val="solid"/>
          </a:ln>
        </p:spPr>
      </p:sp>
      <p:pic>
        <p:nvPicPr>
          <p:cNvPr id="5" name="Image 0" descr="Les avertissements, avant de déposer">    </p:cNvPr>
          <p:cNvPicPr>
            <a:picLocks noChangeAspect="1"/>
          </p:cNvPicPr>
          <p:nvPr/>
        </p:nvPicPr>
        <p:blipFill>
          <a:blip r:embed="rId1"/>
          <a:stretch>
            <a:fillRect/>
          </a:stretch>
        </p:blipFill>
        <p:spPr>
          <a:xfrm>
            <a:off x="812780" y="1206500"/>
            <a:ext cx="10566136" cy="3288792"/>
          </a:xfrm>
          <a:prstGeom prst="rect">
            <a:avLst/>
          </a:prstGeom>
        </p:spPr>
      </p:pic>
      <p:sp>
        <p:nvSpPr>
          <p:cNvPr id="6" name="Shape 3"/>
          <p:cNvSpPr/>
          <p:nvPr/>
        </p:nvSpPr>
        <p:spPr>
          <a:xfrm>
            <a:off x="812780" y="4647692"/>
            <a:ext cx="10566136" cy="1517650"/>
          </a:xfrm>
          <a:prstGeom prst="rect">
            <a:avLst/>
          </a:prstGeom>
          <a:solidFill>
            <a:srgbClr val="FCFCFA"/>
          </a:solidFill>
          <a:ln w="9525">
            <a:solidFill>
              <a:srgbClr val="D5DCE4"/>
            </a:solidFill>
            <a:prstDash val="solid"/>
          </a:ln>
        </p:spPr>
      </p:sp>
      <p:sp>
        <p:nvSpPr>
          <p:cNvPr id="7" name="Shape 4"/>
          <p:cNvSpPr/>
          <p:nvPr/>
        </p:nvSpPr>
        <p:spPr>
          <a:xfrm>
            <a:off x="812780" y="4647692"/>
            <a:ext cx="38099" cy="1517650"/>
          </a:xfrm>
          <a:prstGeom prst="rect">
            <a:avLst/>
          </a:prstGeom>
          <a:solidFill>
            <a:srgbClr val="1B6FA8"/>
          </a:solidFill>
          <a:ln/>
        </p:spPr>
      </p:sp>
      <p:sp>
        <p:nvSpPr>
          <p:cNvPr id="8" name="Text 5"/>
          <p:cNvSpPr/>
          <p:nvPr/>
        </p:nvSpPr>
        <p:spPr>
          <a:xfrm>
            <a:off x="977876" y="4749292"/>
            <a:ext cx="10274043" cy="132715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candidat.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non-conformité déclarée ou une livraison au-delà du délai : le candidat est averti, il peut déposer.</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mêmes contrôles seront rejoués en séance, en alertes pour la commission.</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Les entreprises candidates · 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L’acte d’engagement, calculé</a:t>
            </a:r>
            <a:endParaRPr lang="en-US" sz="2600" dirty="0"/>
          </a:p>
        </p:txBody>
      </p:sp>
      <p:sp>
        <p:nvSpPr>
          <p:cNvPr id="4" name="Shape 2"/>
          <p:cNvSpPr/>
          <p:nvPr/>
        </p:nvSpPr>
        <p:spPr>
          <a:xfrm>
            <a:off x="800080" y="1193800"/>
            <a:ext cx="10591535" cy="2594356"/>
          </a:xfrm>
          <a:prstGeom prst="rect">
            <a:avLst/>
          </a:prstGeom>
          <a:solidFill>
            <a:srgbClr val="FCFCFA"/>
          </a:solidFill>
          <a:ln w="9525">
            <a:solidFill>
              <a:srgbClr val="D5DCE4"/>
            </a:solidFill>
            <a:prstDash val="solid"/>
          </a:ln>
        </p:spPr>
      </p:sp>
      <p:pic>
        <p:nvPicPr>
          <p:cNvPr id="5" name="Image 0" descr="L’acte d’engagement, calculé">    </p:cNvPr>
          <p:cNvPicPr>
            <a:picLocks noChangeAspect="1"/>
          </p:cNvPicPr>
          <p:nvPr/>
        </p:nvPicPr>
        <p:blipFill>
          <a:blip r:embed="rId1"/>
          <a:stretch>
            <a:fillRect/>
          </a:stretch>
        </p:blipFill>
        <p:spPr>
          <a:xfrm>
            <a:off x="812780" y="1206500"/>
            <a:ext cx="10566136" cy="2568956"/>
          </a:xfrm>
          <a:prstGeom prst="rect">
            <a:avLst/>
          </a:prstGeom>
        </p:spPr>
      </p:pic>
      <p:sp>
        <p:nvSpPr>
          <p:cNvPr id="6" name="Shape 3"/>
          <p:cNvSpPr/>
          <p:nvPr/>
        </p:nvSpPr>
        <p:spPr>
          <a:xfrm>
            <a:off x="812780" y="3927856"/>
            <a:ext cx="10566136" cy="1517650"/>
          </a:xfrm>
          <a:prstGeom prst="rect">
            <a:avLst/>
          </a:prstGeom>
          <a:solidFill>
            <a:srgbClr val="FCFCFA"/>
          </a:solidFill>
          <a:ln w="9525">
            <a:solidFill>
              <a:srgbClr val="D5DCE4"/>
            </a:solidFill>
            <a:prstDash val="solid"/>
          </a:ln>
        </p:spPr>
      </p:sp>
      <p:sp>
        <p:nvSpPr>
          <p:cNvPr id="7" name="Shape 4"/>
          <p:cNvSpPr/>
          <p:nvPr/>
        </p:nvSpPr>
        <p:spPr>
          <a:xfrm>
            <a:off x="812780" y="3927856"/>
            <a:ext cx="38099" cy="1517650"/>
          </a:xfrm>
          <a:prstGeom prst="rect">
            <a:avLst/>
          </a:prstGeom>
          <a:solidFill>
            <a:srgbClr val="1B6FA8"/>
          </a:solidFill>
          <a:ln/>
        </p:spPr>
      </p:sp>
      <p:sp>
        <p:nvSpPr>
          <p:cNvPr id="8" name="Text 5"/>
          <p:cNvSpPr/>
          <p:nvPr/>
        </p:nvSpPr>
        <p:spPr>
          <a:xfrm>
            <a:off x="977876" y="4029456"/>
            <a:ext cx="10274043" cy="132715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candidat.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montants ne se saisissent pas : ce sont ceux du bordereau.</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Restent le délai, la validité et le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rabais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déclaré en pourcentage ou en montant, avec ou sans condition.</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Les entreprises candidates · 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 · TRAVAUX</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devis quantitatif et les prix en lettres</a:t>
            </a:r>
            <a:endParaRPr lang="en-US" sz="2600" dirty="0"/>
          </a:p>
        </p:txBody>
      </p:sp>
      <p:sp>
        <p:nvSpPr>
          <p:cNvPr id="4" name="Shape 2"/>
          <p:cNvSpPr/>
          <p:nvPr/>
        </p:nvSpPr>
        <p:spPr>
          <a:xfrm>
            <a:off x="2265902" y="1193800"/>
            <a:ext cx="7659891" cy="3327400"/>
          </a:xfrm>
          <a:prstGeom prst="rect">
            <a:avLst/>
          </a:prstGeom>
          <a:solidFill>
            <a:srgbClr val="FCFCFA"/>
          </a:solidFill>
          <a:ln w="9525">
            <a:solidFill>
              <a:srgbClr val="D5DCE4"/>
            </a:solidFill>
            <a:prstDash val="solid"/>
          </a:ln>
        </p:spPr>
      </p:sp>
      <p:pic>
        <p:nvPicPr>
          <p:cNvPr id="5" name="Image 0" descr="Le devis quantitatif et les prix en lettres">    </p:cNvPr>
          <p:cNvPicPr>
            <a:picLocks noChangeAspect="1"/>
          </p:cNvPicPr>
          <p:nvPr/>
        </p:nvPicPr>
        <p:blipFill>
          <a:blip r:embed="rId1"/>
          <a:stretch>
            <a:fillRect/>
          </a:stretch>
        </p:blipFill>
        <p:spPr>
          <a:xfrm>
            <a:off x="2278602" y="1206500"/>
            <a:ext cx="7634491" cy="3302000"/>
          </a:xfrm>
          <a:prstGeom prst="rect">
            <a:avLst/>
          </a:prstGeom>
        </p:spPr>
      </p:pic>
      <p:sp>
        <p:nvSpPr>
          <p:cNvPr id="6" name="Shape 3"/>
          <p:cNvSpPr/>
          <p:nvPr/>
        </p:nvSpPr>
        <p:spPr>
          <a:xfrm>
            <a:off x="812780" y="4660900"/>
            <a:ext cx="10566136" cy="1314450"/>
          </a:xfrm>
          <a:prstGeom prst="rect">
            <a:avLst/>
          </a:prstGeom>
          <a:solidFill>
            <a:srgbClr val="FCFCFA"/>
          </a:solidFill>
          <a:ln w="9525">
            <a:solidFill>
              <a:srgbClr val="D5DCE4"/>
            </a:solidFill>
            <a:prstDash val="solid"/>
          </a:ln>
        </p:spPr>
      </p:sp>
      <p:sp>
        <p:nvSpPr>
          <p:cNvPr id="7" name="Shape 4"/>
          <p:cNvSpPr/>
          <p:nvPr/>
        </p:nvSpPr>
        <p:spPr>
          <a:xfrm>
            <a:off x="812780" y="4660900"/>
            <a:ext cx="38099" cy="1314450"/>
          </a:xfrm>
          <a:prstGeom prst="rect">
            <a:avLst/>
          </a:prstGeom>
          <a:solidFill>
            <a:srgbClr val="1B6FA8"/>
          </a:solidFill>
          <a:ln/>
        </p:spPr>
      </p:sp>
      <p:sp>
        <p:nvSpPr>
          <p:cNvPr id="8" name="Text 5"/>
          <p:cNvSpPr/>
          <p:nvPr/>
        </p:nvSpPr>
        <p:spPr>
          <a:xfrm>
            <a:off x="977876" y="4762500"/>
            <a:ext cx="10274043" cy="112395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candidat.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prix par série ; chaque prix s’écrit aussi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en lettres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qui font foi.</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Les entreprises candidates · 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 · TRAVAUX</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coefficient K1</a:t>
            </a:r>
            <a:endParaRPr lang="en-US" sz="2600" dirty="0"/>
          </a:p>
        </p:txBody>
      </p:sp>
      <p:sp>
        <p:nvSpPr>
          <p:cNvPr id="4" name="Shape 2"/>
          <p:cNvSpPr/>
          <p:nvPr/>
        </p:nvSpPr>
        <p:spPr>
          <a:xfrm>
            <a:off x="800080" y="1193800"/>
            <a:ext cx="7327717" cy="4370388"/>
          </a:xfrm>
          <a:prstGeom prst="rect">
            <a:avLst/>
          </a:prstGeom>
          <a:solidFill>
            <a:srgbClr val="FCFCFA"/>
          </a:solidFill>
          <a:ln w="9525">
            <a:solidFill>
              <a:srgbClr val="D5DCE4"/>
            </a:solidFill>
            <a:prstDash val="solid"/>
          </a:ln>
        </p:spPr>
      </p:sp>
      <p:pic>
        <p:nvPicPr>
          <p:cNvPr id="5" name="Image 0" descr="Le coefficient K1">    </p:cNvPr>
          <p:cNvPicPr>
            <a:picLocks noChangeAspect="1"/>
          </p:cNvPicPr>
          <p:nvPr/>
        </p:nvPicPr>
        <p:blipFill>
          <a:blip r:embed="rId1"/>
          <a:stretch>
            <a:fillRect/>
          </a:stretch>
        </p:blipFill>
        <p:spPr>
          <a:xfrm>
            <a:off x="812780" y="1206500"/>
            <a:ext cx="7302317" cy="4344988"/>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candidat.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neuf frais de l’annexe 2 de l’acte d’engagement ; le siège à Madagascar ou à l’étranger.</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Les entreprises candidates · 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 · TRAVAUX</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sous-détail d’un prix</a:t>
            </a:r>
            <a:endParaRPr lang="en-US" sz="2600" dirty="0"/>
          </a:p>
        </p:txBody>
      </p:sp>
      <p:sp>
        <p:nvSpPr>
          <p:cNvPr id="4" name="Shape 2"/>
          <p:cNvSpPr/>
          <p:nvPr/>
        </p:nvSpPr>
        <p:spPr>
          <a:xfrm>
            <a:off x="1209469" y="1193800"/>
            <a:ext cx="9772757" cy="3327400"/>
          </a:xfrm>
          <a:prstGeom prst="rect">
            <a:avLst/>
          </a:prstGeom>
          <a:solidFill>
            <a:srgbClr val="FCFCFA"/>
          </a:solidFill>
          <a:ln w="9525">
            <a:solidFill>
              <a:srgbClr val="D5DCE4"/>
            </a:solidFill>
            <a:prstDash val="solid"/>
          </a:ln>
        </p:spPr>
      </p:sp>
      <p:pic>
        <p:nvPicPr>
          <p:cNvPr id="5" name="Image 0" descr="Le sous-détail d’un prix">    </p:cNvPr>
          <p:cNvPicPr>
            <a:picLocks noChangeAspect="1"/>
          </p:cNvPicPr>
          <p:nvPr/>
        </p:nvPicPr>
        <p:blipFill>
          <a:blip r:embed="rId1"/>
          <a:stretch>
            <a:fillRect/>
          </a:stretch>
        </p:blipFill>
        <p:spPr>
          <a:xfrm>
            <a:off x="1222169" y="1206500"/>
            <a:ext cx="9747358" cy="3302000"/>
          </a:xfrm>
          <a:prstGeom prst="rect">
            <a:avLst/>
          </a:prstGeom>
        </p:spPr>
      </p:pic>
      <p:sp>
        <p:nvSpPr>
          <p:cNvPr id="6" name="Shape 3"/>
          <p:cNvSpPr/>
          <p:nvPr/>
        </p:nvSpPr>
        <p:spPr>
          <a:xfrm>
            <a:off x="812780" y="4660900"/>
            <a:ext cx="10566136" cy="1314450"/>
          </a:xfrm>
          <a:prstGeom prst="rect">
            <a:avLst/>
          </a:prstGeom>
          <a:solidFill>
            <a:srgbClr val="FCFCFA"/>
          </a:solidFill>
          <a:ln w="9525">
            <a:solidFill>
              <a:srgbClr val="D5DCE4"/>
            </a:solidFill>
            <a:prstDash val="solid"/>
          </a:ln>
        </p:spPr>
      </p:sp>
      <p:sp>
        <p:nvSpPr>
          <p:cNvPr id="7" name="Shape 4"/>
          <p:cNvSpPr/>
          <p:nvPr/>
        </p:nvSpPr>
        <p:spPr>
          <a:xfrm>
            <a:off x="812780" y="4660900"/>
            <a:ext cx="38099" cy="1314450"/>
          </a:xfrm>
          <a:prstGeom prst="rect">
            <a:avLst/>
          </a:prstGeom>
          <a:solidFill>
            <a:srgbClr val="1B6FA8"/>
          </a:solidFill>
          <a:ln/>
        </p:spPr>
      </p:sp>
      <p:sp>
        <p:nvSpPr>
          <p:cNvPr id="8" name="Text 5"/>
          <p:cNvSpPr/>
          <p:nvPr/>
        </p:nvSpPr>
        <p:spPr>
          <a:xfrm>
            <a:off x="977876" y="4762500"/>
            <a:ext cx="10274043" cy="112395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candidat.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déboursés secs et le rendement ; le prix calculé est comparé au bordereau, un écart de plus de 1 % est signalé.</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Les entreprises candidates · 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 · TRAVAUX</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capacités financières et techniques</a:t>
            </a:r>
            <a:endParaRPr lang="en-US" sz="2600" dirty="0"/>
          </a:p>
        </p:txBody>
      </p:sp>
      <p:sp>
        <p:nvSpPr>
          <p:cNvPr id="4" name="Shape 2"/>
          <p:cNvSpPr/>
          <p:nvPr/>
        </p:nvSpPr>
        <p:spPr>
          <a:xfrm>
            <a:off x="2459645" y="1193800"/>
            <a:ext cx="7272406" cy="3327400"/>
          </a:xfrm>
          <a:prstGeom prst="rect">
            <a:avLst/>
          </a:prstGeom>
          <a:solidFill>
            <a:srgbClr val="FCFCFA"/>
          </a:solidFill>
          <a:ln w="9525">
            <a:solidFill>
              <a:srgbClr val="D5DCE4"/>
            </a:solidFill>
            <a:prstDash val="solid"/>
          </a:ln>
        </p:spPr>
      </p:sp>
      <p:pic>
        <p:nvPicPr>
          <p:cNvPr id="5" name="Image 0" descr="Les capacités financières et techniques">    </p:cNvPr>
          <p:cNvPicPr>
            <a:picLocks noChangeAspect="1"/>
          </p:cNvPicPr>
          <p:nvPr/>
        </p:nvPicPr>
        <p:blipFill>
          <a:blip r:embed="rId1"/>
          <a:stretch>
            <a:fillRect/>
          </a:stretch>
        </p:blipFill>
        <p:spPr>
          <a:xfrm>
            <a:off x="2472344" y="1206500"/>
            <a:ext cx="7247007" cy="3302000"/>
          </a:xfrm>
          <a:prstGeom prst="rect">
            <a:avLst/>
          </a:prstGeom>
        </p:spPr>
      </p:pic>
      <p:sp>
        <p:nvSpPr>
          <p:cNvPr id="6" name="Shape 3"/>
          <p:cNvSpPr/>
          <p:nvPr/>
        </p:nvSpPr>
        <p:spPr>
          <a:xfrm>
            <a:off x="812780" y="4660900"/>
            <a:ext cx="10566136" cy="1314450"/>
          </a:xfrm>
          <a:prstGeom prst="rect">
            <a:avLst/>
          </a:prstGeom>
          <a:solidFill>
            <a:srgbClr val="FCFCFA"/>
          </a:solidFill>
          <a:ln w="9525">
            <a:solidFill>
              <a:srgbClr val="D5DCE4"/>
            </a:solidFill>
            <a:prstDash val="solid"/>
          </a:ln>
        </p:spPr>
      </p:sp>
      <p:sp>
        <p:nvSpPr>
          <p:cNvPr id="7" name="Shape 4"/>
          <p:cNvSpPr/>
          <p:nvPr/>
        </p:nvSpPr>
        <p:spPr>
          <a:xfrm>
            <a:off x="812780" y="4660900"/>
            <a:ext cx="38099" cy="1314450"/>
          </a:xfrm>
          <a:prstGeom prst="rect">
            <a:avLst/>
          </a:prstGeom>
          <a:solidFill>
            <a:srgbClr val="1B6FA8"/>
          </a:solidFill>
          <a:ln/>
        </p:spPr>
      </p:sp>
      <p:sp>
        <p:nvSpPr>
          <p:cNvPr id="8" name="Text 5"/>
          <p:cNvSpPr/>
          <p:nvPr/>
        </p:nvSpPr>
        <p:spPr>
          <a:xfrm>
            <a:off x="977876" y="4762500"/>
            <a:ext cx="10274043" cy="112395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candidat.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Chiffre d’affaires et moyenne des meilleures années, liquidité face au seuil exigé, références de la période.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Les entreprises candidates · 24</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 · TRAVAUX</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personnel proposé</a:t>
            </a:r>
            <a:endParaRPr lang="en-US" sz="2600" dirty="0"/>
          </a:p>
        </p:txBody>
      </p:sp>
      <p:sp>
        <p:nvSpPr>
          <p:cNvPr id="4" name="Shape 2"/>
          <p:cNvSpPr/>
          <p:nvPr/>
        </p:nvSpPr>
        <p:spPr>
          <a:xfrm>
            <a:off x="800080" y="1193800"/>
            <a:ext cx="10591535" cy="3089656"/>
          </a:xfrm>
          <a:prstGeom prst="rect">
            <a:avLst/>
          </a:prstGeom>
          <a:solidFill>
            <a:srgbClr val="FCFCFA"/>
          </a:solidFill>
          <a:ln w="9525">
            <a:solidFill>
              <a:srgbClr val="D5DCE4"/>
            </a:solidFill>
            <a:prstDash val="solid"/>
          </a:ln>
        </p:spPr>
      </p:sp>
      <p:pic>
        <p:nvPicPr>
          <p:cNvPr id="5" name="Image 0" descr="Le personnel proposé">    </p:cNvPr>
          <p:cNvPicPr>
            <a:picLocks noChangeAspect="1"/>
          </p:cNvPicPr>
          <p:nvPr/>
        </p:nvPicPr>
        <p:blipFill>
          <a:blip r:embed="rId1"/>
          <a:stretch>
            <a:fillRect/>
          </a:stretch>
        </p:blipFill>
        <p:spPr>
          <a:xfrm>
            <a:off x="812780" y="1206500"/>
            <a:ext cx="10566136" cy="3064256"/>
          </a:xfrm>
          <a:prstGeom prst="rect">
            <a:avLst/>
          </a:prstGeom>
        </p:spPr>
      </p:pic>
      <p:sp>
        <p:nvSpPr>
          <p:cNvPr id="6" name="Shape 3"/>
          <p:cNvSpPr/>
          <p:nvPr/>
        </p:nvSpPr>
        <p:spPr>
          <a:xfrm>
            <a:off x="812780" y="4423156"/>
            <a:ext cx="10566136" cy="1314450"/>
          </a:xfrm>
          <a:prstGeom prst="rect">
            <a:avLst/>
          </a:prstGeom>
          <a:solidFill>
            <a:srgbClr val="FCFCFA"/>
          </a:solidFill>
          <a:ln w="9525">
            <a:solidFill>
              <a:srgbClr val="D5DCE4"/>
            </a:solidFill>
            <a:prstDash val="solid"/>
          </a:ln>
        </p:spPr>
      </p:sp>
      <p:sp>
        <p:nvSpPr>
          <p:cNvPr id="7" name="Shape 4"/>
          <p:cNvSpPr/>
          <p:nvPr/>
        </p:nvSpPr>
        <p:spPr>
          <a:xfrm>
            <a:off x="812780" y="4423156"/>
            <a:ext cx="38099" cy="1314450"/>
          </a:xfrm>
          <a:prstGeom prst="rect">
            <a:avLst/>
          </a:prstGeom>
          <a:solidFill>
            <a:srgbClr val="1B6FA8"/>
          </a:solidFill>
          <a:ln/>
        </p:spPr>
      </p:sp>
      <p:sp>
        <p:nvSpPr>
          <p:cNvPr id="8" name="Text 5"/>
          <p:cNvSpPr/>
          <p:nvPr/>
        </p:nvSpPr>
        <p:spPr>
          <a:xfrm>
            <a:off x="977876" y="4524756"/>
            <a:ext cx="10274043" cy="112395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candidat.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ligne par personne exigée par la fiche ; les CV et diplômes restent à joindre.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Les entreprises candidates · 25</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 · TRAVAUX</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matériel proposé</a:t>
            </a:r>
            <a:endParaRPr lang="en-US" sz="2600" dirty="0"/>
          </a:p>
        </p:txBody>
      </p:sp>
      <p:sp>
        <p:nvSpPr>
          <p:cNvPr id="4" name="Shape 2"/>
          <p:cNvSpPr/>
          <p:nvPr/>
        </p:nvSpPr>
        <p:spPr>
          <a:xfrm>
            <a:off x="800080" y="1193800"/>
            <a:ext cx="7327717" cy="4187825"/>
          </a:xfrm>
          <a:prstGeom prst="rect">
            <a:avLst/>
          </a:prstGeom>
          <a:solidFill>
            <a:srgbClr val="FCFCFA"/>
          </a:solidFill>
          <a:ln w="9525">
            <a:solidFill>
              <a:srgbClr val="D5DCE4"/>
            </a:solidFill>
            <a:prstDash val="solid"/>
          </a:ln>
        </p:spPr>
      </p:sp>
      <p:pic>
        <p:nvPicPr>
          <p:cNvPr id="5" name="Image 0" descr="Le matériel proposé">    </p:cNvPr>
          <p:cNvPicPr>
            <a:picLocks noChangeAspect="1"/>
          </p:cNvPicPr>
          <p:nvPr/>
        </p:nvPicPr>
        <p:blipFill>
          <a:blip r:embed="rId1"/>
          <a:stretch>
            <a:fillRect/>
          </a:stretch>
        </p:blipFill>
        <p:spPr>
          <a:xfrm>
            <a:off x="812780" y="1206500"/>
            <a:ext cx="7302317" cy="416242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candidat.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Pour chaque matériel exigé, le nombre proposé, et combien en propre.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Les entreprises candidates · 26</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 · TRAVAUX</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avertissements des travaux</a:t>
            </a:r>
            <a:endParaRPr lang="en-US" sz="2600" dirty="0"/>
          </a:p>
        </p:txBody>
      </p:sp>
      <p:sp>
        <p:nvSpPr>
          <p:cNvPr id="4" name="Shape 2"/>
          <p:cNvSpPr/>
          <p:nvPr/>
        </p:nvSpPr>
        <p:spPr>
          <a:xfrm>
            <a:off x="800080" y="1193800"/>
            <a:ext cx="10591535" cy="1965529"/>
          </a:xfrm>
          <a:prstGeom prst="rect">
            <a:avLst/>
          </a:prstGeom>
          <a:solidFill>
            <a:srgbClr val="FCFCFA"/>
          </a:solidFill>
          <a:ln w="9525">
            <a:solidFill>
              <a:srgbClr val="D5DCE4"/>
            </a:solidFill>
            <a:prstDash val="solid"/>
          </a:ln>
        </p:spPr>
      </p:sp>
      <p:pic>
        <p:nvPicPr>
          <p:cNvPr id="5" name="Image 0" descr="Les avertissements des travaux">    </p:cNvPr>
          <p:cNvPicPr>
            <a:picLocks noChangeAspect="1"/>
          </p:cNvPicPr>
          <p:nvPr/>
        </p:nvPicPr>
        <p:blipFill>
          <a:blip r:embed="rId1"/>
          <a:stretch>
            <a:fillRect/>
          </a:stretch>
        </p:blipFill>
        <p:spPr>
          <a:xfrm>
            <a:off x="812780" y="1206500"/>
            <a:ext cx="10566136" cy="1940129"/>
          </a:xfrm>
          <a:prstGeom prst="rect">
            <a:avLst/>
          </a:prstGeom>
        </p:spPr>
      </p:pic>
      <p:sp>
        <p:nvSpPr>
          <p:cNvPr id="6" name="Shape 3"/>
          <p:cNvSpPr/>
          <p:nvPr/>
        </p:nvSpPr>
        <p:spPr>
          <a:xfrm>
            <a:off x="812780" y="3299029"/>
            <a:ext cx="10566136" cy="1314450"/>
          </a:xfrm>
          <a:prstGeom prst="rect">
            <a:avLst/>
          </a:prstGeom>
          <a:solidFill>
            <a:srgbClr val="FCFCFA"/>
          </a:solidFill>
          <a:ln w="9525">
            <a:solidFill>
              <a:srgbClr val="D5DCE4"/>
            </a:solidFill>
            <a:prstDash val="solid"/>
          </a:ln>
        </p:spPr>
      </p:sp>
      <p:sp>
        <p:nvSpPr>
          <p:cNvPr id="7" name="Shape 4"/>
          <p:cNvSpPr/>
          <p:nvPr/>
        </p:nvSpPr>
        <p:spPr>
          <a:xfrm>
            <a:off x="812780" y="3299029"/>
            <a:ext cx="38099" cy="1314450"/>
          </a:xfrm>
          <a:prstGeom prst="rect">
            <a:avLst/>
          </a:prstGeom>
          <a:solidFill>
            <a:srgbClr val="1B6FA8"/>
          </a:solidFill>
          <a:ln/>
        </p:spPr>
      </p:sp>
      <p:sp>
        <p:nvSpPr>
          <p:cNvPr id="8" name="Text 5"/>
          <p:cNvSpPr/>
          <p:nvPr/>
        </p:nvSpPr>
        <p:spPr>
          <a:xfrm>
            <a:off x="977876" y="3400629"/>
            <a:ext cx="10274043" cy="112395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candidat.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écart aux exigences est dit, chiffres à l’appui ; ce sont des avertissements, jamais un refus.</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Les entreprises candidates · 27</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Une saisie jamais perdue</a:t>
            </a:r>
            <a:endParaRPr lang="en-US" sz="2600" dirty="0"/>
          </a:p>
        </p:txBody>
      </p:sp>
      <p:sp>
        <p:nvSpPr>
          <p:cNvPr id="4" name="Shape 2"/>
          <p:cNvSpPr/>
          <p:nvPr/>
        </p:nvSpPr>
        <p:spPr>
          <a:xfrm>
            <a:off x="800080" y="1193800"/>
            <a:ext cx="10591535" cy="798068"/>
          </a:xfrm>
          <a:prstGeom prst="rect">
            <a:avLst/>
          </a:prstGeom>
          <a:solidFill>
            <a:srgbClr val="FCFCFA"/>
          </a:solidFill>
          <a:ln w="9525">
            <a:solidFill>
              <a:srgbClr val="D5DCE4"/>
            </a:solidFill>
            <a:prstDash val="solid"/>
          </a:ln>
        </p:spPr>
      </p:sp>
      <p:pic>
        <p:nvPicPr>
          <p:cNvPr id="5" name="Image 0" descr="Une saisie jamais perdue">    </p:cNvPr>
          <p:cNvPicPr>
            <a:picLocks noChangeAspect="1"/>
          </p:cNvPicPr>
          <p:nvPr/>
        </p:nvPicPr>
        <p:blipFill>
          <a:blip r:embed="rId1"/>
          <a:stretch>
            <a:fillRect/>
          </a:stretch>
        </p:blipFill>
        <p:spPr>
          <a:xfrm>
            <a:off x="812780" y="1206500"/>
            <a:ext cx="10566136" cy="772668"/>
          </a:xfrm>
          <a:prstGeom prst="rect">
            <a:avLst/>
          </a:prstGeom>
        </p:spPr>
      </p:pic>
      <p:sp>
        <p:nvSpPr>
          <p:cNvPr id="6" name="Shape 3"/>
          <p:cNvSpPr/>
          <p:nvPr/>
        </p:nvSpPr>
        <p:spPr>
          <a:xfrm>
            <a:off x="812780" y="2131568"/>
            <a:ext cx="10566136" cy="1517650"/>
          </a:xfrm>
          <a:prstGeom prst="rect">
            <a:avLst/>
          </a:prstGeom>
          <a:solidFill>
            <a:srgbClr val="FCFCFA"/>
          </a:solidFill>
          <a:ln w="9525">
            <a:solidFill>
              <a:srgbClr val="D5DCE4"/>
            </a:solidFill>
            <a:prstDash val="solid"/>
          </a:ln>
        </p:spPr>
      </p:sp>
      <p:sp>
        <p:nvSpPr>
          <p:cNvPr id="7" name="Shape 4"/>
          <p:cNvSpPr/>
          <p:nvPr/>
        </p:nvSpPr>
        <p:spPr>
          <a:xfrm>
            <a:off x="812780" y="2131568"/>
            <a:ext cx="38099" cy="1517650"/>
          </a:xfrm>
          <a:prstGeom prst="rect">
            <a:avLst/>
          </a:prstGeom>
          <a:solidFill>
            <a:srgbClr val="1B6FA8"/>
          </a:solidFill>
          <a:ln/>
        </p:spPr>
      </p:sp>
      <p:sp>
        <p:nvSpPr>
          <p:cNvPr id="8" name="Text 5"/>
          <p:cNvSpPr/>
          <p:nvPr/>
        </p:nvSpPr>
        <p:spPr>
          <a:xfrm>
            <a:off x="977876" y="2233168"/>
            <a:ext cx="10274043" cy="132715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candidat.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Page fermée ou rechargée : la saisie est reprise.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Elle est gardée sur le poste du candidat seulement, jamais envoyée, et effacée au dépôt.</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Les entreprises candidates · 28</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pièces remplies en ligne</a:t>
            </a:r>
            <a:endParaRPr lang="en-US" sz="2600" dirty="0"/>
          </a:p>
        </p:txBody>
      </p:sp>
      <p:sp>
        <p:nvSpPr>
          <p:cNvPr id="4" name="Shape 2"/>
          <p:cNvSpPr/>
          <p:nvPr/>
        </p:nvSpPr>
        <p:spPr>
          <a:xfrm>
            <a:off x="1856694" y="1193800"/>
            <a:ext cx="8478308" cy="3327400"/>
          </a:xfrm>
          <a:prstGeom prst="rect">
            <a:avLst/>
          </a:prstGeom>
          <a:solidFill>
            <a:srgbClr val="FCFCFA"/>
          </a:solidFill>
          <a:ln w="9525">
            <a:solidFill>
              <a:srgbClr val="D5DCE4"/>
            </a:solidFill>
            <a:prstDash val="solid"/>
          </a:ln>
        </p:spPr>
      </p:sp>
      <p:pic>
        <p:nvPicPr>
          <p:cNvPr id="5" name="Image 0" descr="Les pièces remplies en ligne">    </p:cNvPr>
          <p:cNvPicPr>
            <a:picLocks noChangeAspect="1"/>
          </p:cNvPicPr>
          <p:nvPr/>
        </p:nvPicPr>
        <p:blipFill>
          <a:blip r:embed="rId1"/>
          <a:stretch>
            <a:fillRect/>
          </a:stretch>
        </p:blipFill>
        <p:spPr>
          <a:xfrm>
            <a:off x="1869393" y="1206500"/>
            <a:ext cx="8452909" cy="3302000"/>
          </a:xfrm>
          <a:prstGeom prst="rect">
            <a:avLst/>
          </a:prstGeom>
        </p:spPr>
      </p:pic>
      <p:sp>
        <p:nvSpPr>
          <p:cNvPr id="6" name="Shape 3"/>
          <p:cNvSpPr/>
          <p:nvPr/>
        </p:nvSpPr>
        <p:spPr>
          <a:xfrm>
            <a:off x="812780" y="4660900"/>
            <a:ext cx="10566136" cy="1517650"/>
          </a:xfrm>
          <a:prstGeom prst="rect">
            <a:avLst/>
          </a:prstGeom>
          <a:solidFill>
            <a:srgbClr val="FCFCFA"/>
          </a:solidFill>
          <a:ln w="9525">
            <a:solidFill>
              <a:srgbClr val="D5DCE4"/>
            </a:solidFill>
            <a:prstDash val="solid"/>
          </a:ln>
        </p:spPr>
      </p:sp>
      <p:sp>
        <p:nvSpPr>
          <p:cNvPr id="7" name="Shape 4"/>
          <p:cNvSpPr/>
          <p:nvPr/>
        </p:nvSpPr>
        <p:spPr>
          <a:xfrm>
            <a:off x="812780" y="4660900"/>
            <a:ext cx="38099" cy="1517650"/>
          </a:xfrm>
          <a:prstGeom prst="rect">
            <a:avLst/>
          </a:prstGeom>
          <a:solidFill>
            <a:srgbClr val="1B6FA8"/>
          </a:solidFill>
          <a:ln/>
        </p:spPr>
      </p:sp>
      <p:sp>
        <p:nvSpPr>
          <p:cNvPr id="8" name="Text 5"/>
          <p:cNvSpPr/>
          <p:nvPr/>
        </p:nvSpPr>
        <p:spPr>
          <a:xfrm>
            <a:off x="977876" y="4762500"/>
            <a:ext cx="10274043" cy="132715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candidat.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bordereau, la conformité et le calendrier sont marqués « Remplie en ligne » ; les autres pièces se joignent.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reçu des frais déjà validé n’est pas redemandé.</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Les entreprises candidates · 29</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dépôt sans formulaires</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Le dépôt sans formulaires">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candidat.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procédure sans formulaires : les montants de l’acte d’engagement se saisissent.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temps restant s’affiche à l’horloge du serveur.</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Les entreprises candidates · 30</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pièces, puis le scellement</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Les pièces, puis le scellement">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candidat.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pièce attendue est contrôlée (type, taille) ; puis «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Sceller et déposer</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 l’offre est chiffrée sur le poste, pour les détenteurs des clés de la procédure.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Les entreprises candidates · 31</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L’accusé de dépôt</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L’accusé de dépôt">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candidat.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L’heure du dépôt, le numéro d’arrivée et l’</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empreinte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de l’offre ; l’accusé en PDF.</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Personne ne peut lire l’offre avant la séance.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Les entreprises candidates · 32</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PRESTATIONS INTELLECTUELLES · CANDIDAT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Déposer l’enveloppe technique</a:t>
            </a:r>
            <a:endParaRPr lang="en-US" sz="2600" dirty="0"/>
          </a:p>
        </p:txBody>
      </p:sp>
      <p:sp>
        <p:nvSpPr>
          <p:cNvPr id="4" name="Shape 2"/>
          <p:cNvSpPr/>
          <p:nvPr/>
        </p:nvSpPr>
        <p:spPr>
          <a:xfrm>
            <a:off x="800080" y="1193800"/>
            <a:ext cx="3699441" cy="5105400"/>
          </a:xfrm>
          <a:prstGeom prst="rect">
            <a:avLst/>
          </a:prstGeom>
          <a:solidFill>
            <a:srgbClr val="FCFCFA"/>
          </a:solidFill>
          <a:ln w="9525">
            <a:solidFill>
              <a:srgbClr val="D5DCE4"/>
            </a:solidFill>
            <a:prstDash val="solid"/>
          </a:ln>
        </p:spPr>
      </p:sp>
      <p:pic>
        <p:nvPicPr>
          <p:cNvPr id="5" name="Image 0" descr="Déposer l’enveloppe technique">    </p:cNvPr>
          <p:cNvPicPr>
            <a:picLocks noChangeAspect="1"/>
          </p:cNvPicPr>
          <p:nvPr/>
        </p:nvPicPr>
        <p:blipFill>
          <a:blip r:embed="rId1"/>
          <a:stretch>
            <a:fillRect/>
          </a:stretch>
        </p:blipFill>
        <p:spPr>
          <a:xfrm>
            <a:off x="812780" y="1206500"/>
            <a:ext cx="3674042" cy="5080000"/>
          </a:xfrm>
          <a:prstGeom prst="rect">
            <a:avLst/>
          </a:prstGeom>
        </p:spPr>
      </p:pic>
      <p:sp>
        <p:nvSpPr>
          <p:cNvPr id="6" name="Shape 3"/>
          <p:cNvSpPr/>
          <p:nvPr/>
        </p:nvSpPr>
        <p:spPr>
          <a:xfrm>
            <a:off x="4664617" y="1206500"/>
            <a:ext cx="6714299" cy="5080000"/>
          </a:xfrm>
          <a:prstGeom prst="rect">
            <a:avLst/>
          </a:prstGeom>
          <a:solidFill>
            <a:srgbClr val="FCFCFA"/>
          </a:solidFill>
          <a:ln w="9525">
            <a:solidFill>
              <a:srgbClr val="D5DCE4"/>
            </a:solidFill>
            <a:prstDash val="solid"/>
          </a:ln>
        </p:spPr>
      </p:sp>
      <p:sp>
        <p:nvSpPr>
          <p:cNvPr id="7" name="Shape 4"/>
          <p:cNvSpPr/>
          <p:nvPr/>
        </p:nvSpPr>
        <p:spPr>
          <a:xfrm>
            <a:off x="4664617" y="1206500"/>
            <a:ext cx="38099" cy="5080000"/>
          </a:xfrm>
          <a:prstGeom prst="rect">
            <a:avLst/>
          </a:prstGeom>
          <a:solidFill>
            <a:srgbClr val="1B6FA8"/>
          </a:solidFill>
          <a:ln/>
        </p:spPr>
      </p:sp>
      <p:sp>
        <p:nvSpPr>
          <p:cNvPr id="8" name="Text 5"/>
          <p:cNvSpPr/>
          <p:nvPr/>
        </p:nvSpPr>
        <p:spPr>
          <a:xfrm>
            <a:off x="4829713" y="1308100"/>
            <a:ext cx="6422206"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candidat invité.</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Deux enveloppes, déposées l’une après l’autre : la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technique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ne demande ni ne scelle aucun montant, l’écran le rappelle.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Les entreprises candidates · 33</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PRESTATIONS INTELLECTUELLES · CANDIDAT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L’accusé d’une proposition complète</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L’accusé d’une proposition complète">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candidat invité.</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L’accusé de l’enveloppe financière porte l’empreinte de l’enveloppe technique : la proposition est complète.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Les entreprises candidates · 34</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Mes offres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Mes offre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candidat.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offre déposée avec sa date, son numéro d’arrivée, sa taille, son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empreinte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et son accusé en PDF ; une proposition de prestations intellectuelles en deux enveloppes.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Avant la date limite, et si la fiche le permet :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remplacer</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ou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retirer</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son offre.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Plus bas, les demandes reçues pendant l’évaluation et le résultat (parties 08 et 09).</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Les entreprises candidates · 35</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 · PUBLIC</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procédure publique, après la séance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 procédure publique, après la séanc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Toute entreprise, sans compte.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procédure passe à « close » : les dépôts sont clos.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Quand la fiche le prévoit, l’</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extrait du PV d’ouverture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(sans les alertes) se lit ici dès la dernière signature, puis le résultat de l’appel d’offres.</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Les entreprises candidates · 36</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EXAMEN PRÉLIMINAIRE · CANDIDAT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Répondre depuis « Mes offres »</a:t>
            </a:r>
            <a:endParaRPr lang="en-US" sz="2600" dirty="0"/>
          </a:p>
        </p:txBody>
      </p:sp>
      <p:sp>
        <p:nvSpPr>
          <p:cNvPr id="4" name="Shape 2"/>
          <p:cNvSpPr/>
          <p:nvPr/>
        </p:nvSpPr>
        <p:spPr>
          <a:xfrm>
            <a:off x="915246" y="1193800"/>
            <a:ext cx="10361203" cy="3327400"/>
          </a:xfrm>
          <a:prstGeom prst="rect">
            <a:avLst/>
          </a:prstGeom>
          <a:solidFill>
            <a:srgbClr val="FCFCFA"/>
          </a:solidFill>
          <a:ln w="9525">
            <a:solidFill>
              <a:srgbClr val="D5DCE4"/>
            </a:solidFill>
            <a:prstDash val="solid"/>
          </a:ln>
        </p:spPr>
      </p:sp>
      <p:pic>
        <p:nvPicPr>
          <p:cNvPr id="5" name="Image 0" descr="Répondre depuis « Mes offres »">    </p:cNvPr>
          <p:cNvPicPr>
            <a:picLocks noChangeAspect="1"/>
          </p:cNvPicPr>
          <p:nvPr/>
        </p:nvPicPr>
        <p:blipFill>
          <a:blip r:embed="rId1"/>
          <a:stretch>
            <a:fillRect/>
          </a:stretch>
        </p:blipFill>
        <p:spPr>
          <a:xfrm>
            <a:off x="927946" y="1206500"/>
            <a:ext cx="10335803" cy="3302000"/>
          </a:xfrm>
          <a:prstGeom prst="rect">
            <a:avLst/>
          </a:prstGeom>
        </p:spPr>
      </p:pic>
      <p:sp>
        <p:nvSpPr>
          <p:cNvPr id="6" name="Shape 3"/>
          <p:cNvSpPr/>
          <p:nvPr/>
        </p:nvSpPr>
        <p:spPr>
          <a:xfrm>
            <a:off x="812780" y="4660900"/>
            <a:ext cx="10566136" cy="1625600"/>
          </a:xfrm>
          <a:prstGeom prst="rect">
            <a:avLst/>
          </a:prstGeom>
          <a:solidFill>
            <a:srgbClr val="FCFCFA"/>
          </a:solidFill>
          <a:ln w="9525">
            <a:solidFill>
              <a:srgbClr val="D5DCE4"/>
            </a:solidFill>
            <a:prstDash val="solid"/>
          </a:ln>
        </p:spPr>
      </p:sp>
      <p:sp>
        <p:nvSpPr>
          <p:cNvPr id="7" name="Shape 4"/>
          <p:cNvSpPr/>
          <p:nvPr/>
        </p:nvSpPr>
        <p:spPr>
          <a:xfrm>
            <a:off x="812780" y="4660900"/>
            <a:ext cx="38099" cy="1625600"/>
          </a:xfrm>
          <a:prstGeom prst="rect">
            <a:avLst/>
          </a:prstGeom>
          <a:solidFill>
            <a:srgbClr val="1B6FA8"/>
          </a:solidFill>
          <a:ln/>
        </p:spPr>
      </p:sp>
      <p:sp>
        <p:nvSpPr>
          <p:cNvPr id="8" name="Text 5"/>
          <p:cNvSpPr/>
          <p:nvPr/>
        </p:nvSpPr>
        <p:spPr>
          <a:xfrm>
            <a:off x="977876" y="4762500"/>
            <a:ext cx="10274043" cy="14351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candidat interrogé.</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demande arrive par notification et par courriel ; le candidat répond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une fois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dans le délai, par un texte et, s’il le veut, une pièce.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demande et la réponse sont jointes au rapport.</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Les entreprises candidates · 37</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OFFRES ANORMALES · PRMP ET COMMISSION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Une offre maintenue après justification</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Une offre maintenue après justification">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demande ; le candidat répond ; la commission décide.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méthode du DAO est rappelée en clair : moyenne de référence, seuils de 20 % au-dessus et de 10 % au-dessous.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justification demandée, son échéance, la réponse du candidat : la commission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maintient</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l’offre, motif à l’appui.</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Faute de réponse à l’échéance, l’offre porterait la mention «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Défaut de réponse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 le silence vaut refus de justifier (art. 48).</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Les entreprises candidates · 38</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ÉTAPE 09</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Attribuer et notifier</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Du rapport signé au marché notifié</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Les entreprises candidates · 39</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INFORMER · CANDIDAT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candidat écarté : résultat et motif</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candidat écarté : résultat et motif">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candidat non retenu, dans « Mes offres ».</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Offre non retenue », avec son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motif</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écartée à l’examen préliminaire pour une garantie insuffisante (DPAO 6.6).</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L’attributaire et le montant, les dates d’information, d’affichage et de signature possible ; la lettre à lire en PDF ou en Word.</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Sa demande d’explication et la réponse de la PRMP, sous le résultat.</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Les entreprises candidates · 40</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INFORMER · PUBLIC</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résultat public de la procédure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résultat public de la procédur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Tout visiteur, sans compte.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Sur la page publique de la procédure : le résultat par lot — attributaire et montant hors taxes —, avec les dates de communication et d’affichage.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L’extrait du PV d’ouverture et les questions des candidats y restent lisibles ; l’avis d’attribution y paraîtra une fois publié.</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Les entreprises candidates · 41</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PIÈCES · CANDIDAT ATTRIBUTAIRE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L’attributaire dépose ses pièces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ttributaire dépose ses pièce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candidat attributaire, dans « Mes offres ».</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Votre offre est retenue » ; la lettre d’attribution se lit en PDF ou en Word.</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pièces fiscale et sociale à déposer avant le 22/10/2026 (art. 20-I) : « Sans elles, le marché vous est retiré » ; chacune se lit ensuite « conforme ».</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Offre déposée et scellée en ligne : il remet aussi l’</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original signé de son acte d’engagement</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et en dépose le scan ici, sans l’échéance des quinze jours.</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Les entreprises candidates · 42</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RÈGLES À CONNAÎTRE</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Ce que l’application applique pour les entreprises candidates</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40 règles de gestion, tirées des écrans présentés : ce que l’application vérifie, bloque ou trace.</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Les entreprises candidates · 43</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LES ENTREPRISES CANDIDATES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(1/8)</a:t>
            </a:r>
            <a:endParaRPr lang="en-US" sz="26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entrée publique par public</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RG-ENT-26</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portail public a </a:t>
                      </a:r>
                      <a:pPr indent="0" marL="0">
                        <a:buNone/>
                      </a:pPr>
                      <a:r>
                        <a:rPr lang="en-US" sz="1100" b="1" dirty="0">
                          <a:solidFill>
                            <a:srgbClr val="1B2A3A"/>
                          </a:solidFill>
                          <a:latin typeface="Segoe UI" pitchFamily="34" charset="0"/>
                          <a:ea typeface="Segoe UI" pitchFamily="34" charset="-122"/>
                          <a:cs typeface="Segoe UI" pitchFamily="34" charset="-120"/>
                        </a:rPr>
                        <a:t>trois entrées</a:t>
                      </a:r>
                      <a:pPr indent="0" marL="0">
                        <a:buNone/>
                      </a:pPr>
                      <a:r>
                        <a:rPr lang="en-US" sz="1100" dirty="0">
                          <a:solidFill>
                            <a:srgbClr val="1B2A3A"/>
                          </a:solidFill>
                          <a:latin typeface="Segoe UI" pitchFamily="34" charset="0"/>
                          <a:ea typeface="Segoe UI" pitchFamily="34" charset="-122"/>
                          <a:cs typeface="Segoe UI" pitchFamily="34" charset="-120"/>
                        </a:rPr>
                        <a:t> : PRMP et UGPM, Commission, entreprises. Hors session, la racine du site y mène ; un utilisateur connecté qui y revient est renvoyé à son accueil. Les entreprises consultent les procédures ouvertes sans compte ; les membres de commission d’appel d’offres n’ont pas d’entrée publique et arrivent par leur invitation.</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Ce que montre la liste publique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RG-OFF-06</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liste publique montre, sans compte, les appels d’offres en remise électronique dont l’avis est publié et la date limite non passée, ainsi que les appels à manifestation d’intérêt en cours, la date limite la plus proche d’abord. Aucun paramètre interne n’y figure ; une procédure close sort de la liste mais reste lisible par son lien, avec son PV d’ouverture publié et son résultat.</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 signature simple seule acceptée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RG-OFF-07</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Tant que la liste officielle des prestataires de certification n’existe pas, seule la </a:t>
                      </a:r>
                      <a:pPr indent="0" marL="0">
                        <a:buNone/>
                      </a:pPr>
                      <a:r>
                        <a:rPr lang="en-US" sz="1100" b="1" dirty="0">
                          <a:solidFill>
                            <a:srgbClr val="1B2A3A"/>
                          </a:solidFill>
                          <a:latin typeface="Segoe UI" pitchFamily="34" charset="0"/>
                          <a:ea typeface="Segoe UI" pitchFamily="34" charset="-122"/>
                          <a:cs typeface="Segoe UI" pitchFamily="34" charset="-120"/>
                        </a:rPr>
                        <a:t>signature simple</a:t>
                      </a:r>
                      <a:pPr indent="0" marL="0">
                        <a:buNone/>
                      </a:pPr>
                      <a:r>
                        <a:rPr lang="en-US" sz="1100" dirty="0">
                          <a:solidFill>
                            <a:srgbClr val="1B2A3A"/>
                          </a:solidFill>
                          <a:latin typeface="Segoe UI" pitchFamily="34" charset="0"/>
                          <a:ea typeface="Segoe UI" pitchFamily="34" charset="-122"/>
                          <a:cs typeface="Segoe UI" pitchFamily="34" charset="-120"/>
                        </a:rPr>
                        <a:t> est acceptée : une fiche qui exige une signature avancée ou qualifiée ne peut pas paraître en ligne.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Des questions jusqu’à dix jours avant la date limite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RG-OFF-34</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 candidat qui a retiré le dossier peut poser une question à la PRMP jusqu’à </a:t>
                      </a:r>
                      <a:pPr indent="0" marL="0">
                        <a:buNone/>
                      </a:pPr>
                      <a:r>
                        <a:rPr lang="en-US" sz="1100" b="1" dirty="0">
                          <a:solidFill>
                            <a:srgbClr val="1B2A3A"/>
                          </a:solidFill>
                          <a:latin typeface="Segoe UI" pitchFamily="34" charset="0"/>
                          <a:ea typeface="Segoe UI" pitchFamily="34" charset="-122"/>
                          <a:cs typeface="Segoe UI" pitchFamily="34" charset="-120"/>
                        </a:rPr>
                        <a:t>dix jours avant la date limite</a:t>
                      </a:r>
                      <a:pPr indent="0" marL="0">
                        <a:buNone/>
                      </a:pPr>
                      <a:r>
                        <a:rPr lang="en-US" sz="1100" dirty="0">
                          <a:solidFill>
                            <a:srgbClr val="1B2A3A"/>
                          </a:solidFill>
                          <a:latin typeface="Segoe UI" pitchFamily="34" charset="0"/>
                          <a:ea typeface="Segoe UI" pitchFamily="34" charset="-122"/>
                          <a:cs typeface="Segoe UI" pitchFamily="34" charset="-120"/>
                        </a:rPr>
                        <a:t>, ce dixième jour compris (art. 35-II) ; ensuite les questions sont closes. La PRMP répond par écrit, avec une pièce jointe si elle le souhaite ; une question n’a qu’une réponse, définitive.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 compte confirmé par code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RG-OFF-01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candidat s’inscrit avec son adresse électronique, qui devient son identifiant. Le compte s’active par un </a:t>
                      </a:r>
                      <a:pPr indent="0" marL="0">
                        <a:buNone/>
                      </a:pPr>
                      <a:r>
                        <a:rPr lang="en-US" sz="1100" b="1" dirty="0">
                          <a:solidFill>
                            <a:srgbClr val="1B2A3A"/>
                          </a:solidFill>
                          <a:latin typeface="Segoe UI" pitchFamily="34" charset="0"/>
                          <a:ea typeface="Segoe UI" pitchFamily="34" charset="-122"/>
                          <a:cs typeface="Segoe UI" pitchFamily="34" charset="-120"/>
                        </a:rPr>
                        <a:t>code</a:t>
                      </a:r>
                      <a:pPr indent="0" marL="0">
                        <a:buNone/>
                      </a:pPr>
                      <a:r>
                        <a:rPr lang="en-US" sz="1100" dirty="0">
                          <a:solidFill>
                            <a:srgbClr val="1B2A3A"/>
                          </a:solidFill>
                          <a:latin typeface="Segoe UI" pitchFamily="34" charset="0"/>
                          <a:ea typeface="Segoe UI" pitchFamily="34" charset="-122"/>
                          <a:cs typeface="Segoe UI" pitchFamily="34" charset="-120"/>
                        </a:rPr>
                        <a:t> à six chiffres reçu par courriel, valable 15 minutes. Un compte jamais confirmé est supprimé ; un compte inactif est archivé, jamais supprimé.</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Les entreprises candidates · 44</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LES ENTREPRISES CANDIDATES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(2/8)</a:t>
            </a:r>
            <a:endParaRPr lang="en-US" sz="26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entreprise par compte, NIF unique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RG-OFF-02</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 compte déclare une seule entreprise. Le </a:t>
                      </a:r>
                      <a:pPr indent="0" marL="0">
                        <a:buNone/>
                      </a:pPr>
                      <a:r>
                        <a:rPr lang="en-US" sz="1100" b="1" dirty="0">
                          <a:solidFill>
                            <a:srgbClr val="1B2A3A"/>
                          </a:solidFill>
                          <a:latin typeface="Segoe UI" pitchFamily="34" charset="0"/>
                          <a:ea typeface="Segoe UI" pitchFamily="34" charset="-122"/>
                          <a:cs typeface="Segoe UI" pitchFamily="34" charset="-120"/>
                        </a:rPr>
                        <a:t>NIF</a:t>
                      </a:r>
                      <a:pPr indent="0" marL="0">
                        <a:buNone/>
                      </a:pPr>
                      <a:r>
                        <a:rPr lang="en-US" sz="1100" dirty="0">
                          <a:solidFill>
                            <a:srgbClr val="1B2A3A"/>
                          </a:solidFill>
                          <a:latin typeface="Segoe UI" pitchFamily="34" charset="0"/>
                          <a:ea typeface="Segoe UI" pitchFamily="34" charset="-122"/>
                          <a:cs typeface="Segoe UI" pitchFamily="34" charset="-120"/>
                        </a:rPr>
                        <a:t>, le STAT et le RCS sont uniques sur la plateforme : un NIF déjà déclaré est refusé, avec un renvoi vers le compte qui l’a déclaré, sans le nommer.</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Vérification du NIF, jamais bloquante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RG-OFF-03</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NIF se vérifie sur pièces par l’Administrateur, ou auprès de la DGI quand le raccordement existera. Un NIF nouveau ou changé redevient non vérifié. La vérification ne bloque </a:t>
                      </a:r>
                      <a:pPr indent="0" marL="0">
                        <a:buNone/>
                      </a:pPr>
                      <a:r>
                        <a:rPr lang="en-US" sz="1100" b="1" dirty="0">
                          <a:solidFill>
                            <a:srgbClr val="1B2A3A"/>
                          </a:solidFill>
                          <a:latin typeface="Segoe UI" pitchFamily="34" charset="0"/>
                          <a:ea typeface="Segoe UI" pitchFamily="34" charset="-122"/>
                          <a:cs typeface="Segoe UI" pitchFamily="34" charset="-120"/>
                        </a:rPr>
                        <a:t>jamais</a:t>
                      </a:r>
                      <a:pPr indent="0" marL="0">
                        <a:buNone/>
                      </a:pPr>
                      <a:r>
                        <a:rPr lang="en-US" sz="1100" dirty="0">
                          <a:solidFill>
                            <a:srgbClr val="1B2A3A"/>
                          </a:solidFill>
                          <a:latin typeface="Segoe UI" pitchFamily="34" charset="0"/>
                          <a:ea typeface="Segoe UI" pitchFamily="34" charset="-122"/>
                          <a:cs typeface="Segoe UI" pitchFamily="34" charset="-120"/>
                        </a:rPr>
                        <a:t> le dépôt ; la commission en lit l’état à l’ouverture.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Exclusions de l’ARMP : refus au dépôt</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RG-OFF-04</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L’Administrateur tient le répertoire des exclusions de l’ARMP ; une exclusion ne se supprime pas, elle se corrige. L’entreprise exclue est signalée à sa déclaration, puis </a:t>
                      </a:r>
                      <a:pPr indent="0" marL="0">
                        <a:buNone/>
                      </a:pPr>
                      <a:r>
                        <a:rPr lang="en-US" sz="1100" b="1" dirty="0">
                          <a:solidFill>
                            <a:srgbClr val="1B2A3A"/>
                          </a:solidFill>
                          <a:latin typeface="Segoe UI" pitchFamily="34" charset="0"/>
                          <a:ea typeface="Segoe UI" pitchFamily="34" charset="-122"/>
                          <a:cs typeface="Segoe UI" pitchFamily="34" charset="-120"/>
                        </a:rPr>
                        <a:t>refusée</a:t>
                      </a:r>
                      <a:pPr indent="0" marL="0">
                        <a:buNone/>
                      </a:pPr>
                      <a:r>
                        <a:rPr lang="en-US" sz="1100" dirty="0">
                          <a:solidFill>
                            <a:srgbClr val="1B2A3A"/>
                          </a:solidFill>
                          <a:latin typeface="Segoe UI" pitchFamily="34" charset="0"/>
                          <a:ea typeface="Segoe UI" pitchFamily="34" charset="-122"/>
                          <a:cs typeface="Segoe UI" pitchFamily="34" charset="-120"/>
                        </a:rPr>
                        <a:t> au dépôt du reçu et de l’offre, groupement compris.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Reçu validé avant le retrait</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RG-OFF-09</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Quand la fiche fixe des frais, le candidat ne télécharge le dossier qu’après avoir déposé le reçu de son versement sur le compte de l’ARMP, et que la PRMP ou son UGPM l’a </a:t>
                      </a:r>
                      <a:pPr indent="0" marL="0">
                        <a:buNone/>
                      </a:pPr>
                      <a:r>
                        <a:rPr lang="en-US" sz="1100" b="1" dirty="0">
                          <a:solidFill>
                            <a:srgbClr val="1B2A3A"/>
                          </a:solidFill>
                          <a:latin typeface="Segoe UI" pitchFamily="34" charset="0"/>
                          <a:ea typeface="Segoe UI" pitchFamily="34" charset="-122"/>
                          <a:cs typeface="Segoe UI" pitchFamily="34" charset="-120"/>
                        </a:rPr>
                        <a:t>validé</a:t>
                      </a:r>
                      <a:pPr indent="0" marL="0">
                        <a:buNone/>
                      </a:pPr>
                      <a:r>
                        <a:rPr lang="en-US" sz="1100" dirty="0">
                          <a:solidFill>
                            <a:srgbClr val="1B2A3A"/>
                          </a:solidFill>
                          <a:latin typeface="Segoe UI" pitchFamily="34" charset="0"/>
                          <a:ea typeface="Segoe UI" pitchFamily="34" charset="-122"/>
                          <a:cs typeface="Segoe UI" pitchFamily="34" charset="-120"/>
                        </a:rPr>
                        <a:t>. La plateforme n’encaisse rien.</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 reçu par entreprise, par lots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RG-OFF-10</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reçu vaut pour l’entreprise, identifiée par son NIF, pour un ou plusieurs lots ; un lot payé ouvre tout le dossier. Un nouveau reçu ne vaut que pour des lots non couverts. Un montant inférieur aux frais n’est pas refusé : la PRMP le voit.</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Les entreprises candidates · 45</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LES ENTREPRISES CANDIDATES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(3/8)</a:t>
            </a:r>
            <a:endParaRPr lang="en-US" sz="2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Sans reçu validé, pas de dépôt</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RG-OFF-12</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Sans reçu validé, le candidat ne lit pas les formulaires pré-remplis du dossier et ne peut pas déposer d’offre pour un lot que son reçu ne couvre pas. Un reçu en attente de décision ne suffit pas.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 refus motivé, une décision définitive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RG-OFF-11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PRMP ou son UGPM valide ou refuse le reçu ; un refus porte un </a:t>
                      </a:r>
                      <a:pPr indent="0" marL="0">
                        <a:buNone/>
                      </a:pPr>
                      <a:r>
                        <a:rPr lang="en-US" sz="1100" b="1" dirty="0">
                          <a:solidFill>
                            <a:srgbClr val="1B2A3A"/>
                          </a:solidFill>
                          <a:latin typeface="Segoe UI" pitchFamily="34" charset="0"/>
                          <a:ea typeface="Segoe UI" pitchFamily="34" charset="-122"/>
                          <a:cs typeface="Segoe UI" pitchFamily="34" charset="-120"/>
                        </a:rPr>
                        <a:t>motif</a:t>
                      </a:r>
                      <a:pPr indent="0" marL="0">
                        <a:buNone/>
                      </a:pPr>
                      <a:r>
                        <a:rPr lang="en-US" sz="1100" dirty="0">
                          <a:solidFill>
                            <a:srgbClr val="1B2A3A"/>
                          </a:solidFill>
                          <a:latin typeface="Segoe UI" pitchFamily="34" charset="0"/>
                          <a:ea typeface="Segoe UI" pitchFamily="34" charset="-122"/>
                          <a:cs typeface="Segoe UI" pitchFamily="34" charset="-120"/>
                        </a:rPr>
                        <a:t>, et le candidat dépose un nouveau reçu. Une décision ne se reprend pas. Le candidat en est averti par courriel.</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reçu validé vaut preuve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RG-OFF-13</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reçu validé est la preuve du paiement : il n’est plus redemandé dans l’offre. Un dossier gratuit, ou une procédure lancée avant cette règle, garde le </a:t>
                      </a:r>
                      <a:pPr indent="0" marL="0">
                        <a:buNone/>
                      </a:pPr>
                      <a:r>
                        <a:rPr lang="en-US" sz="1100" b="1" dirty="0">
                          <a:solidFill>
                            <a:srgbClr val="1B2A3A"/>
                          </a:solidFill>
                          <a:latin typeface="Segoe UI" pitchFamily="34" charset="0"/>
                          <a:ea typeface="Segoe UI" pitchFamily="34" charset="-122"/>
                          <a:cs typeface="Segoe UI" pitchFamily="34" charset="-120"/>
                        </a:rPr>
                        <a:t>retrait libre</a:t>
                      </a:r>
                      <a:pPr indent="0" marL="0">
                        <a:buNone/>
                      </a:pPr>
                      <a:r>
                        <a:rPr lang="en-US" sz="1100" dirty="0">
                          <a:solidFill>
                            <a:srgbClr val="1B2A3A"/>
                          </a:solidFill>
                          <a:latin typeface="Segoe UI" pitchFamily="34" charset="0"/>
                          <a:ea typeface="Segoe UI" pitchFamily="34" charset="-122"/>
                          <a:cs typeface="Segoe UI" pitchFamily="34" charset="-120"/>
                        </a:rPr>
                        <a:t>.</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Chaque retrait inscrit au registre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RG-OFF-08</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Les documents du dossier se téléchargent par un candidat connecté. Chaque téléchargement inscrit une ligne au </a:t>
                      </a:r>
                      <a:pPr indent="0" marL="0">
                        <a:buNone/>
                      </a:pPr>
                      <a:r>
                        <a:rPr lang="en-US" sz="1100" b="1" dirty="0">
                          <a:solidFill>
                            <a:srgbClr val="1B2A3A"/>
                          </a:solidFill>
                          <a:latin typeface="Segoe UI" pitchFamily="34" charset="0"/>
                          <a:ea typeface="Segoe UI" pitchFamily="34" charset="-122"/>
                          <a:cs typeface="Segoe UI" pitchFamily="34" charset="-120"/>
                        </a:rPr>
                        <a:t>registre des retraits</a:t>
                      </a:r>
                      <a:pPr indent="0" marL="0">
                        <a:buNone/>
                      </a:pPr>
                      <a:r>
                        <a:rPr lang="en-US" sz="1100" dirty="0">
                          <a:solidFill>
                            <a:srgbClr val="1B2A3A"/>
                          </a:solidFill>
                          <a:latin typeface="Segoe UI" pitchFamily="34" charset="0"/>
                          <a:ea typeface="Segoe UI" pitchFamily="34" charset="-122"/>
                          <a:cs typeface="Segoe UI" pitchFamily="34" charset="-120"/>
                        </a:rPr>
                        <a:t> : compte, entreprise, document, version. Seule la PRMP de la fiche lit ce registre.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procédure réservée aux invités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RG-OFF-31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consultation restreinte de prestations intellectuelles naît à l’impression des lettres d’invitation ; elle n’apparaît pas parmi les procédures ouvertes et reste introuvable pour les non-invités. Les invités sont la liste de l’AMI, ou les candidats saisis avec leur adresse : le compte qui porte cette adresse est rattaché à l’invitation, même créé après.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Les entreprises candidates · 46</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LES ENTREPRISES CANDIDATES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(4/8)</a:t>
            </a:r>
            <a:endParaRPr lang="en-US" sz="2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L’offre saisie dans des formulaires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RG-OFF-14</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Quand la fiche porte un besoin (fournitures, travaux), le candidat </a:t>
                      </a:r>
                      <a:pPr indent="0" marL="0">
                        <a:buNone/>
                      </a:pPr>
                      <a:r>
                        <a:rPr lang="en-US" sz="1100" b="1" dirty="0">
                          <a:solidFill>
                            <a:srgbClr val="1B2A3A"/>
                          </a:solidFill>
                          <a:latin typeface="Segoe UI" pitchFamily="34" charset="0"/>
                          <a:ea typeface="Segoe UI" pitchFamily="34" charset="-122"/>
                          <a:cs typeface="Segoe UI" pitchFamily="34" charset="-120"/>
                        </a:rPr>
                        <a:t>remplit</a:t>
                      </a:r>
                      <a:pPr indent="0" marL="0">
                        <a:buNone/>
                      </a:pPr>
                      <a:r>
                        <a:rPr lang="en-US" sz="1100" dirty="0">
                          <a:solidFill>
                            <a:srgbClr val="1B2A3A"/>
                          </a:solidFill>
                          <a:latin typeface="Segoe UI" pitchFamily="34" charset="0"/>
                          <a:ea typeface="Segoe UI" pitchFamily="34" charset="-122"/>
                          <a:cs typeface="Segoe UI" pitchFamily="34" charset="-120"/>
                        </a:rPr>
                        <a:t> son bordereau ou son devis quantitatif, sa conformité et son calendrier dans des formulaires pré-remplis depuis la fiche ; les pièces correspondantes ne sont plus exigées en fichier.</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Des avertissements, jamais un refus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RG-OFF-18</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serveur ne lit rien de l’offre avant l’ouverture : les contrôles faits avant le scellement avertissent le candidat, puis sont rejoués à l’ouverture en </a:t>
                      </a:r>
                      <a:pPr indent="0" marL="0">
                        <a:buNone/>
                      </a:pPr>
                      <a:r>
                        <a:rPr lang="en-US" sz="1100" b="1" dirty="0">
                          <a:solidFill>
                            <a:srgbClr val="1B2A3A"/>
                          </a:solidFill>
                          <a:latin typeface="Segoe UI" pitchFamily="34" charset="0"/>
                          <a:ea typeface="Segoe UI" pitchFamily="34" charset="-122"/>
                          <a:cs typeface="Segoe UI" pitchFamily="34" charset="-120"/>
                        </a:rPr>
                        <a:t>alertes</a:t>
                      </a:r>
                      <a:pPr indent="0" marL="0">
                        <a:buNone/>
                      </a:pPr>
                      <a:r>
                        <a:rPr lang="en-US" sz="1100" dirty="0">
                          <a:solidFill>
                            <a:srgbClr val="1B2A3A"/>
                          </a:solidFill>
                          <a:latin typeface="Segoe UI" pitchFamily="34" charset="0"/>
                          <a:ea typeface="Segoe UI" pitchFamily="34" charset="-122"/>
                          <a:cs typeface="Segoe UI" pitchFamily="34" charset="-120"/>
                        </a:rPr>
                        <a:t> pour la commission, jamais en refus.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L’acte d’engagement suit le bordereau</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RG-OFF-16</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Les montants de l’acte d’engagement sont ceux du bordereau. L’acte d’engagement signé et la garantie de soumission restent des </a:t>
                      </a:r>
                      <a:pPr indent="0" marL="0">
                        <a:buNone/>
                      </a:pPr>
                      <a:r>
                        <a:rPr lang="en-US" sz="1100" b="1" dirty="0">
                          <a:solidFill>
                            <a:srgbClr val="1B2A3A"/>
                          </a:solidFill>
                          <a:latin typeface="Segoe UI" pitchFamily="34" charset="0"/>
                          <a:ea typeface="Segoe UI" pitchFamily="34" charset="-122"/>
                          <a:cs typeface="Segoe UI" pitchFamily="34" charset="-120"/>
                        </a:rPr>
                        <a:t>pièces</a:t>
                      </a:r>
                      <a:pPr indent="0" marL="0">
                        <a:buNone/>
                      </a:pPr>
                      <a:r>
                        <a:rPr lang="en-US" sz="1100" dirty="0">
                          <a:solidFill>
                            <a:srgbClr val="1B2A3A"/>
                          </a:solidFill>
                          <a:latin typeface="Segoe UI" pitchFamily="34" charset="0"/>
                          <a:ea typeface="Segoe UI" pitchFamily="34" charset="-122"/>
                          <a:cs typeface="Segoe UI" pitchFamily="34" charset="-120"/>
                        </a:rPr>
                        <a:t> à joindre ; sans formulaires, l’offre se dépose par pièces seules et les montants de l’acte se saisissent.</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 rabais déclaré de façon structurée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RG-OFF-17</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candidat déclare son rabais : un pourcentage ou un montant hors taxes, sans condition ou subordonné à l’attribution de plusieurs lots. Sa cohérence est contrôlée dans le navigateur, avant le scellement.</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capacités déclarées aux travaux</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RG-OFF-15</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Aux travaux, le candidat déclare aussi le coefficient K1, les sous-détails de prix, ses capacités financières et techniques, son personnel et son matériel, face aux exigences de la fiche.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Les entreprises candidates · 47</a:t>
            </a:r>
            <a:endParaRPr lang="en-US" sz="11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LES ENTREPRISES CANDIDATES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(5/8)</a:t>
            </a:r>
            <a:endParaRPr lang="en-US" sz="2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L’offre scellée dans le navigateur</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RG-OFF-19</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candidat </a:t>
                      </a:r>
                      <a:pPr indent="0" marL="0">
                        <a:buNone/>
                      </a:pPr>
                      <a:r>
                        <a:rPr lang="en-US" sz="1100" b="1" dirty="0">
                          <a:solidFill>
                            <a:srgbClr val="1B2A3A"/>
                          </a:solidFill>
                          <a:latin typeface="Segoe UI" pitchFamily="34" charset="0"/>
                          <a:ea typeface="Segoe UI" pitchFamily="34" charset="-122"/>
                          <a:cs typeface="Segoe UI" pitchFamily="34" charset="-120"/>
                        </a:rPr>
                        <a:t>scelle</a:t>
                      </a:r>
                      <a:pPr indent="0" marL="0">
                        <a:buNone/>
                      </a:pPr>
                      <a:r>
                        <a:rPr lang="en-US" sz="1100" dirty="0">
                          <a:solidFill>
                            <a:srgbClr val="1B2A3A"/>
                          </a:solidFill>
                          <a:latin typeface="Segoe UI" pitchFamily="34" charset="0"/>
                          <a:ea typeface="Segoe UI" pitchFamily="34" charset="-122"/>
                          <a:cs typeface="Segoe UI" pitchFamily="34" charset="-120"/>
                        </a:rPr>
                        <a:t> son offre dans son navigateur, avec les clés publiques de la procédure. Le serveur reçoit un contenu qu’il ne peut pas lire : il sait qui a déposé, quand, pour quel lot et quelle taille, jamais un prix.</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conditions du dépôt</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RG-OFF-20</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On dépose si la procédure est en ligne et ses dépôts ouverts à l’</a:t>
                      </a:r>
                      <a:pPr indent="0" marL="0">
                        <a:buNone/>
                      </a:pPr>
                      <a:r>
                        <a:rPr lang="en-US" sz="1100" b="1" dirty="0">
                          <a:solidFill>
                            <a:srgbClr val="1B2A3A"/>
                          </a:solidFill>
                          <a:latin typeface="Segoe UI" pitchFamily="34" charset="0"/>
                          <a:ea typeface="Segoe UI" pitchFamily="34" charset="-122"/>
                          <a:cs typeface="Segoe UI" pitchFamily="34" charset="-120"/>
                        </a:rPr>
                        <a:t>horloge du serveur</a:t>
                      </a:r>
                      <a:pPr indent="0" marL="0">
                        <a:buNone/>
                      </a:pPr>
                      <a:r>
                        <a:rPr lang="en-US" sz="1100" dirty="0">
                          <a:solidFill>
                            <a:srgbClr val="1B2A3A"/>
                          </a:solidFill>
                          <a:latin typeface="Segoe UI" pitchFamily="34" charset="0"/>
                          <a:ea typeface="Segoe UI" pitchFamily="34" charset="-122"/>
                          <a:cs typeface="Segoe UI" pitchFamily="34" charset="-120"/>
                        </a:rPr>
                        <a:t>, la cérémonie des clés close, l’entreprise déclarée et non exclue. Date limite et exclusion sont revérifiées au scellement : un dépôt non scellé à l’échéance est refusé.</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 accusé portant l’empreinte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RG-OFF-22</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scellement donne un accusé de dépôt, en PDF et par courriel : numéro d’arrivée, date à l’horloge du serveur, </a:t>
                      </a:r>
                      <a:pPr indent="0" marL="0">
                        <a:buNone/>
                      </a:pPr>
                      <a:r>
                        <a:rPr lang="en-US" sz="1100" b="1" dirty="0">
                          <a:solidFill>
                            <a:srgbClr val="1B2A3A"/>
                          </a:solidFill>
                          <a:latin typeface="Segoe UI" pitchFamily="34" charset="0"/>
                          <a:ea typeface="Segoe UI" pitchFamily="34" charset="-122"/>
                          <a:cs typeface="Segoe UI" pitchFamily="34" charset="-120"/>
                        </a:rPr>
                        <a:t>empreinte</a:t>
                      </a:r>
                      <a:pPr indent="0" marL="0">
                        <a:buNone/>
                      </a:pPr>
                      <a:r>
                        <a:rPr lang="en-US" sz="1100" dirty="0">
                          <a:solidFill>
                            <a:srgbClr val="1B2A3A"/>
                          </a:solidFill>
                          <a:latin typeface="Segoe UI" pitchFamily="34" charset="0"/>
                          <a:ea typeface="Segoe UI" pitchFamily="34" charset="-122"/>
                          <a:cs typeface="Segoe UI" pitchFamily="34" charset="-120"/>
                        </a:rPr>
                        <a:t> de l’offre et empreintes des clés employées.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Deux enveloppes, une proposition</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RG-OFF-32</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proposition se dépose en deux enveloppes scellées l’une après l’autre : la </a:t>
                      </a:r>
                      <a:pPr indent="0" marL="0">
                        <a:buNone/>
                      </a:pPr>
                      <a:r>
                        <a:rPr lang="en-US" sz="1100" b="1" dirty="0">
                          <a:solidFill>
                            <a:srgbClr val="1B2A3A"/>
                          </a:solidFill>
                          <a:latin typeface="Segoe UI" pitchFamily="34" charset="0"/>
                          <a:ea typeface="Segoe UI" pitchFamily="34" charset="-122"/>
                          <a:cs typeface="Segoe UI" pitchFamily="34" charset="-120"/>
                        </a:rPr>
                        <a:t>technique</a:t>
                      </a:r>
                      <a:pPr indent="0" marL="0">
                        <a:buNone/>
                      </a:pPr>
                      <a:r>
                        <a:rPr lang="en-US" sz="1100" dirty="0">
                          <a:solidFill>
                            <a:srgbClr val="1B2A3A"/>
                          </a:solidFill>
                          <a:latin typeface="Segoe UI" pitchFamily="34" charset="0"/>
                          <a:ea typeface="Segoe UI" pitchFamily="34" charset="-122"/>
                          <a:cs typeface="Segoe UI" pitchFamily="34" charset="-120"/>
                        </a:rPr>
                        <a:t>, sans aucun montant, et la </a:t>
                      </a:r>
                      <a:pPr indent="0" marL="0">
                        <a:buNone/>
                      </a:pPr>
                      <a:r>
                        <a:rPr lang="en-US" sz="1100" b="1" dirty="0">
                          <a:solidFill>
                            <a:srgbClr val="1B2A3A"/>
                          </a:solidFill>
                          <a:latin typeface="Segoe UI" pitchFamily="34" charset="0"/>
                          <a:ea typeface="Segoe UI" pitchFamily="34" charset="-122"/>
                          <a:cs typeface="Segoe UI" pitchFamily="34" charset="-120"/>
                        </a:rPr>
                        <a:t>financière</a:t>
                      </a:r>
                      <a:pPr indent="0" marL="0">
                        <a:buNone/>
                      </a:pPr>
                      <a:r>
                        <a:rPr lang="en-US" sz="1100" dirty="0">
                          <a:solidFill>
                            <a:srgbClr val="1B2A3A"/>
                          </a:solidFill>
                          <a:latin typeface="Segoe UI" pitchFamily="34" charset="0"/>
                          <a:ea typeface="Segoe UI" pitchFamily="34" charset="-122"/>
                          <a:cs typeface="Segoe UI" pitchFamily="34" charset="-120"/>
                        </a:rPr>
                        <a:t>, avec l’acte d’engagement et les formulaires financiers. Les deux portent le même numéro ; l’accusé de la seconde porte l’empreinte de la première ; retirer l’une retire les deux.</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offre par entreprise et par lot</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RG-OFF-21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Une seule offre déposée par entreprise et par lot. Un dépôt commencé et non scellé est purgé au bout de 24 heures sans envoi, ou à la date limite.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Les entreprises candidates · 48</a:t>
            </a:r>
            <a:endParaRPr lang="en-US" sz="1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LES ENTREPRISES CANDIDATES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(6/8)</a:t>
            </a:r>
            <a:endParaRPr lang="en-US" sz="2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Remplacer ou retirer avant l’échéance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RG-OFF-23</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Remplacer ou retirer une offre n’est possible qu’avant la date limite, et si la fiche l’autorise. L’ancienne offre n’est remplacée qu’au scellement de la nouvelle ; une offre retirée est conservée et ne s’ouvre jamais.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Clôture à la dernière signature, au quorum</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RG-SEA-23</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À la dernière signature, la séance est close, l’extrait du PV est publié si la fiche le prévoit, et les intéressés sont avertis. Avant, rien n’est publié. Depuis le 10/10, la clôture exige le </a:t>
                      </a:r>
                      <a:pPr indent="0" marL="0">
                        <a:buNone/>
                      </a:pPr>
                      <a:r>
                        <a:rPr lang="en-US" sz="1100" b="1" dirty="0">
                          <a:solidFill>
                            <a:srgbClr val="1B2A3A"/>
                          </a:solidFill>
                          <a:latin typeface="Segoe UI" pitchFamily="34" charset="0"/>
                          <a:ea typeface="Segoe UI" pitchFamily="34" charset="-122"/>
                          <a:cs typeface="Segoe UI" pitchFamily="34" charset="-120"/>
                        </a:rPr>
                        <a:t>quorum de la commission</a:t>
                      </a:r>
                      <a:pPr indent="0" marL="0">
                        <a:buNone/>
                      </a:pPr>
                      <a:r>
                        <a:rPr lang="en-US" sz="1100" dirty="0">
                          <a:solidFill>
                            <a:srgbClr val="1B2A3A"/>
                          </a:solidFill>
                          <a:latin typeface="Segoe UI" pitchFamily="34" charset="0"/>
                          <a:ea typeface="Segoe UI" pitchFamily="34" charset="-122"/>
                          <a:cs typeface="Segoe UI" pitchFamily="34" charset="-120"/>
                        </a:rPr>
                        <a:t> sur les présents : une séance sans membre présent ne se clôt plus.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L’extrait public, sans les alertes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RG-SEA-24</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L’extrait publié du PV ne porte ni les alertes ni la vérification des NIF : elles restent réservées à la commission.</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Demander une précision au candidat</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RG-EVA-12</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PRMP pose une question au candidat d’une offre (art. 35-VI), avec un délai, celui de la fiche par défaut. Le candidat répond </a:t>
                      </a:r>
                      <a:pPr indent="0" marL="0">
                        <a:buNone/>
                      </a:pPr>
                      <a:r>
                        <a:rPr lang="en-US" sz="1100" b="1" dirty="0">
                          <a:solidFill>
                            <a:srgbClr val="1B2A3A"/>
                          </a:solidFill>
                          <a:latin typeface="Segoe UI" pitchFamily="34" charset="0"/>
                          <a:ea typeface="Segoe UI" pitchFamily="34" charset="-122"/>
                          <a:cs typeface="Segoe UI" pitchFamily="34" charset="-120"/>
                        </a:rPr>
                        <a:t>une fois</a:t>
                      </a:r>
                      <a:pPr indent="0" marL="0">
                        <a:buNone/>
                      </a:pPr>
                      <a:r>
                        <a:rPr lang="en-US" sz="1100" dirty="0">
                          <a:solidFill>
                            <a:srgbClr val="1B2A3A"/>
                          </a:solidFill>
                          <a:latin typeface="Segoe UI" pitchFamily="34" charset="0"/>
                          <a:ea typeface="Segoe UI" pitchFamily="34" charset="-122"/>
                          <a:cs typeface="Segoe UI" pitchFamily="34" charset="-120"/>
                        </a:rPr>
                        <a:t>, dans le délai, par un texte et, s’il le veut, un fichier.</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Chaque offre classée examinée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RG-EVA-21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commission examine chaque offre classée : non suspectée, ou suspectée avec un motif. L’étape ne s’arrête pas tant qu’une offre suspectée reste en suspens.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Les entreprises candidates · 49</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LES ENTREPRISES CANDIDATES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(7/8)</a:t>
            </a:r>
            <a:endParaRPr lang="en-US" sz="2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Pas de rejet sans justification</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RG-EVA-22</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Aucune offre n’est rejetée sans une </a:t>
                      </a:r>
                      <a:pPr indent="0" marL="0">
                        <a:buNone/>
                      </a:pPr>
                      <a:r>
                        <a:rPr lang="en-US" sz="1100" b="1" dirty="0">
                          <a:solidFill>
                            <a:srgbClr val="1B2A3A"/>
                          </a:solidFill>
                          <a:latin typeface="Segoe UI" pitchFamily="34" charset="0"/>
                          <a:ea typeface="Segoe UI" pitchFamily="34" charset="-122"/>
                          <a:cs typeface="Segoe UI" pitchFamily="34" charset="-120"/>
                        </a:rPr>
                        <a:t>demande écrite de justification</a:t>
                      </a:r>
                      <a:pPr indent="0" marL="0">
                        <a:buNone/>
                      </a:pPr>
                      <a:r>
                        <a:rPr lang="en-US" sz="1100" dirty="0">
                          <a:solidFill>
                            <a:srgbClr val="1B2A3A"/>
                          </a:solidFill>
                          <a:latin typeface="Segoe UI" pitchFamily="34" charset="0"/>
                          <a:ea typeface="Segoe UI" pitchFamily="34" charset="-122"/>
                          <a:cs typeface="Segoe UI" pitchFamily="34" charset="-120"/>
                        </a:rPr>
                        <a:t> de la PRMP, et sans la réponse du candidat ou l’expiration de son délai (art. 48). La commission maintient ou rejette, avec un motif ; l’offre rejetée sort du classement.</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défaut de réponse vaut refus de justifier</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RG-EVA-36</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Quand l’échéance de la demande de justification passe sans réponse du candidat, la commission peut rejeter : le </a:t>
                      </a:r>
                      <a:pPr indent="0" marL="0">
                        <a:buNone/>
                      </a:pPr>
                      <a:r>
                        <a:rPr lang="en-US" sz="1100" b="1" dirty="0">
                          <a:solidFill>
                            <a:srgbClr val="1B2A3A"/>
                          </a:solidFill>
                          <a:latin typeface="Segoe UI" pitchFamily="34" charset="0"/>
                          <a:ea typeface="Segoe UI" pitchFamily="34" charset="-122"/>
                          <a:cs typeface="Segoe UI" pitchFamily="34" charset="-120"/>
                        </a:rPr>
                        <a:t>défaut de réponse</a:t>
                      </a:r>
                      <a:pPr indent="0" marL="0">
                        <a:buNone/>
                      </a:pPr>
                      <a:r>
                        <a:rPr lang="en-US" sz="1100" dirty="0">
                          <a:solidFill>
                            <a:srgbClr val="1B2A3A"/>
                          </a:solidFill>
                          <a:latin typeface="Segoe UI" pitchFamily="34" charset="0"/>
                          <a:ea typeface="Segoe UI" pitchFamily="34" charset="-122"/>
                          <a:cs typeface="Segoe UI" pitchFamily="34" charset="-120"/>
                        </a:rPr>
                        <a:t> vaut refus de justifier (art. 48). Il est écrit dans la décision et au journal, et l’offre porte la mention « Défaut de réponse ».</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lettre à chaque candidat évalué</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RG-ATT-09</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PRMP informe tous les candidats dont l’offre a été évaluée (art. 52) : lettre d’attribution à l’attributaire, lettre de rejet aux autres, avec les </a:t>
                      </a:r>
                      <a:pPr indent="0" marL="0">
                        <a:buNone/>
                      </a:pPr>
                      <a:r>
                        <a:rPr lang="en-US" sz="1100" b="1" dirty="0">
                          <a:solidFill>
                            <a:srgbClr val="1B2A3A"/>
                          </a:solidFill>
                          <a:latin typeface="Segoe UI" pitchFamily="34" charset="0"/>
                          <a:ea typeface="Segoe UI" pitchFamily="34" charset="-122"/>
                          <a:cs typeface="Segoe UI" pitchFamily="34" charset="-120"/>
                        </a:rPr>
                        <a:t>motifs tirés du rapport</a:t>
                      </a:r>
                      <a:pPr indent="0" marL="0">
                        <a:buNone/>
                      </a:pPr>
                      <a:r>
                        <a:rPr lang="en-US" sz="1100" dirty="0">
                          <a:solidFill>
                            <a:srgbClr val="1B2A3A"/>
                          </a:solidFill>
                          <a:latin typeface="Segoe UI" pitchFamily="34" charset="0"/>
                          <a:ea typeface="Segoe UI" pitchFamily="34" charset="-122"/>
                          <a:cs typeface="Segoe UI" pitchFamily="34" charset="-120"/>
                        </a:rPr>
                        <a:t>, le nom de l’attributaire et le montant du marché.</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Signées en ligne, lues avec accusé</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RG-ATT-10</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PRMP signe ces lettres électroniquement ; elles partent sur la plateforme et par courriel. La première lecture par le candidat sur la plateforme vaut </a:t>
                      </a:r>
                      <a:pPr indent="0" marL="0">
                        <a:buNone/>
                      </a:pPr>
                      <a:r>
                        <a:rPr lang="en-US" sz="1100" b="1" dirty="0">
                          <a:solidFill>
                            <a:srgbClr val="1B2A3A"/>
                          </a:solidFill>
                          <a:latin typeface="Segoe UI" pitchFamily="34" charset="0"/>
                          <a:ea typeface="Segoe UI" pitchFamily="34" charset="-122"/>
                          <a:cs typeface="Segoe UI" pitchFamily="34" charset="-120"/>
                        </a:rPr>
                        <a:t>accusé de réception</a:t>
                      </a:r>
                      <a:pPr indent="0" marL="0">
                        <a:buNone/>
                      </a:pPr>
                      <a:r>
                        <a:rPr lang="en-US" sz="1100" dirty="0">
                          <a:solidFill>
                            <a:srgbClr val="1B2A3A"/>
                          </a:solidFill>
                          <a:latin typeface="Segoe UI" pitchFamily="34" charset="0"/>
                          <a:ea typeface="Segoe UI" pitchFamily="34" charset="-122"/>
                          <a:cs typeface="Segoe UI" pitchFamily="34" charset="-120"/>
                        </a:rPr>
                        <a:t>.</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explications, par écrit</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RG-ATT-13</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 candidat non retenu peut demander par écrit des </a:t>
                      </a:r>
                      <a:pPr indent="0" marL="0">
                        <a:buNone/>
                      </a:pPr>
                      <a:r>
                        <a:rPr lang="en-US" sz="1100" b="1" dirty="0">
                          <a:solidFill>
                            <a:srgbClr val="1B2A3A"/>
                          </a:solidFill>
                          <a:latin typeface="Segoe UI" pitchFamily="34" charset="0"/>
                          <a:ea typeface="Segoe UI" pitchFamily="34" charset="-122"/>
                          <a:cs typeface="Segoe UI" pitchFamily="34" charset="-120"/>
                        </a:rPr>
                        <a:t>explications</a:t>
                      </a:r>
                      <a:pPr indent="0" marL="0">
                        <a:buNone/>
                      </a:pPr>
                      <a:r>
                        <a:rPr lang="en-US" sz="1100" dirty="0">
                          <a:solidFill>
                            <a:srgbClr val="1B2A3A"/>
                          </a:solidFill>
                          <a:latin typeface="Segoe UI" pitchFamily="34" charset="0"/>
                          <a:ea typeface="Segoe UI" pitchFamily="34" charset="-122"/>
                          <a:cs typeface="Segoe UI" pitchFamily="34" charset="-120"/>
                        </a:rPr>
                        <a:t> sur le rejet de son offre ; la PRMP y répond par écrit, avec un fichier si elle le souhaite.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Les entreprises candidates · 50</a:t>
            </a:r>
            <a:endParaRPr lang="en-US" sz="1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LES ENTREPRISES CANDIDATES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(8/8)</a:t>
            </a:r>
            <a:endParaRPr lang="en-US" sz="2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L’affichage déclaré, le résultat publié</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RG-ATT-11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PRMP déclare la date d’</a:t>
                      </a:r>
                      <a:pPr indent="0" marL="0">
                        <a:buNone/>
                      </a:pPr>
                      <a:r>
                        <a:rPr lang="en-US" sz="1100" b="1" dirty="0">
                          <a:solidFill>
                            <a:srgbClr val="1B2A3A"/>
                          </a:solidFill>
                          <a:latin typeface="Segoe UI" pitchFamily="34" charset="0"/>
                          <a:ea typeface="Segoe UI" pitchFamily="34" charset="-122"/>
                          <a:cs typeface="Segoe UI" pitchFamily="34" charset="-120"/>
                        </a:rPr>
                        <a:t>affichage</a:t>
                      </a:r>
                      <a:pPr indent="0" marL="0">
                        <a:buNone/>
                      </a:pPr>
                      <a:r>
                        <a:rPr lang="en-US" sz="1100" dirty="0">
                          <a:solidFill>
                            <a:srgbClr val="1B2A3A"/>
                          </a:solidFill>
                          <a:latin typeface="Segoe UI" pitchFamily="34" charset="0"/>
                          <a:ea typeface="Segoe UI" pitchFamily="34" charset="-122"/>
                          <a:cs typeface="Segoe UI" pitchFamily="34" charset="-120"/>
                        </a:rPr>
                        <a:t> du résultat à son siège ; l’attributaire et le montant paraissent sur la page publique de la procédure.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L’avis d’attribution sous trente jours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RG-ATT-24</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L’avis d’attribution est publié dans les </a:t>
                      </a:r>
                      <a:pPr indent="0" marL="0">
                        <a:buNone/>
                      </a:pPr>
                      <a:r>
                        <a:rPr lang="en-US" sz="1100" b="1" dirty="0">
                          <a:solidFill>
                            <a:srgbClr val="1B2A3A"/>
                          </a:solidFill>
                          <a:latin typeface="Segoe UI" pitchFamily="34" charset="0"/>
                          <a:ea typeface="Segoe UI" pitchFamily="34" charset="-122"/>
                          <a:cs typeface="Segoe UI" pitchFamily="34" charset="-120"/>
                        </a:rPr>
                        <a:t>trente jours</a:t>
                      </a:r>
                      <a:pPr indent="0" marL="0">
                        <a:buNone/>
                      </a:pPr>
                      <a:r>
                        <a:rPr lang="en-US" sz="1100" dirty="0">
                          <a:solidFill>
                            <a:srgbClr val="1B2A3A"/>
                          </a:solidFill>
                          <a:latin typeface="Segoe UI" pitchFamily="34" charset="0"/>
                          <a:ea typeface="Segoe UI" pitchFamily="34" charset="-122"/>
                          <a:cs typeface="Segoe UI" pitchFamily="34" charset="-120"/>
                        </a:rPr>
                        <a:t> de la réception de la notification par le titulaire (déclarée ou constatée par la plateforme), à défaut de la notification, sur la page publique de la procédure. La PRMP est alertée au vingtième jour ; un avis en retard est signalé « En retard » sur le lot et par une pastille sur son entrée « Fiches DAO ». La règle ne bloque rien : une publication tardive se lit « Publié après l’échéance ».</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Pièces fiscales et sociales en quinze jours, et récentes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RG-ATT-18</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L’attributaire dépose, dans les </a:t>
                      </a:r>
                      <a:pPr indent="0" marL="0">
                        <a:buNone/>
                      </a:pPr>
                      <a:r>
                        <a:rPr lang="en-US" sz="1100" b="1" dirty="0">
                          <a:solidFill>
                            <a:srgbClr val="1B2A3A"/>
                          </a:solidFill>
                          <a:latin typeface="Segoe UI" pitchFamily="34" charset="0"/>
                          <a:ea typeface="Segoe UI" pitchFamily="34" charset="-122"/>
                          <a:cs typeface="Segoe UI" pitchFamily="34" charset="-120"/>
                        </a:rPr>
                        <a:t>quinze jours</a:t>
                      </a:r>
                      <a:pPr indent="0" marL="0">
                        <a:buNone/>
                      </a:pPr>
                      <a:r>
                        <a:rPr lang="en-US" sz="1100" dirty="0">
                          <a:solidFill>
                            <a:srgbClr val="1B2A3A"/>
                          </a:solidFill>
                          <a:latin typeface="Segoe UI" pitchFamily="34" charset="0"/>
                          <a:ea typeface="Segoe UI" pitchFamily="34" charset="-122"/>
                          <a:cs typeface="Segoe UI" pitchFamily="34" charset="-120"/>
                        </a:rPr>
                        <a:t> de la lettre d’attribution (art. 20-I), une attestation fiscale et une attestation sociale. Elles doivent avoir moins de six mois (fiscale) et moins de trois mois (sociale) à la notification de l’attribution : plus anciennes, elles sont refusées au dépôt et </a:t>
                      </a:r>
                      <a:pPr indent="0" marL="0">
                        <a:buNone/>
                      </a:pPr>
                      <a:r>
                        <a:rPr lang="en-US" sz="1100" b="1" dirty="0">
                          <a:solidFill>
                            <a:srgbClr val="1B2A3A"/>
                          </a:solidFill>
                          <a:latin typeface="Segoe UI" pitchFamily="34" charset="0"/>
                          <a:ea typeface="Segoe UI" pitchFamily="34" charset="-122"/>
                          <a:cs typeface="Segoe UI" pitchFamily="34" charset="-120"/>
                        </a:rPr>
                        <a:t>ne peuvent être reconnues conformes</a:t>
                      </a:r>
                      <a:pPr indent="0" marL="0">
                        <a:buNone/>
                      </a:pPr>
                      <a:r>
                        <a:rPr lang="en-US" sz="1100" dirty="0">
                          <a:solidFill>
                            <a:srgbClr val="1B2A3A"/>
                          </a:solidFill>
                          <a:latin typeface="Segoe UI" pitchFamily="34" charset="0"/>
                          <a:ea typeface="Segoe UI" pitchFamily="34" charset="-122"/>
                          <a:cs typeface="Segoe UI" pitchFamily="34" charset="-120"/>
                        </a:rPr>
                        <a:t> ; l’écran affiche les dates les plus anciennes admises. L’attributaire peut redéposer jusqu’à l’échéance ; la dernière pièce fait foi.</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Vérifiées, ou le marché retiré</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RG-ATT-19</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PRMP vérifie chaque pièce, avec un motif si elle n’est pas conforme. L’état de chaque pièce se lit sur son dernier dépôt : à déposer, à vérifier, conforme, non conforme. Faute de pièces conformes à l’échéance, la PRMP </a:t>
                      </a:r>
                      <a:pPr indent="0" marL="0">
                        <a:buNone/>
                      </a:pPr>
                      <a:r>
                        <a:rPr lang="en-US" sz="1100" b="1" dirty="0">
                          <a:solidFill>
                            <a:srgbClr val="1B2A3A"/>
                          </a:solidFill>
                          <a:latin typeface="Segoe UI" pitchFamily="34" charset="0"/>
                          <a:ea typeface="Segoe UI" pitchFamily="34" charset="-122"/>
                          <a:cs typeface="Segoe UI" pitchFamily="34" charset="-120"/>
                        </a:rPr>
                        <a:t>retire</a:t>
                      </a:r>
                      <a:pPr indent="0" marL="0">
                        <a:buNone/>
                      </a:pPr>
                      <a:r>
                        <a:rPr lang="en-US" sz="1100" dirty="0">
                          <a:solidFill>
                            <a:srgbClr val="1B2A3A"/>
                          </a:solidFill>
                          <a:latin typeface="Segoe UI" pitchFamily="34" charset="0"/>
                          <a:ea typeface="Segoe UI" pitchFamily="34" charset="-122"/>
                          <a:cs typeface="Segoe UI" pitchFamily="34" charset="-120"/>
                        </a:rPr>
                        <a:t> le marché, avant sa signature.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L’original signé de l’acte d’engagement</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RG-ATT-34</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En remise électronique, le dépôt scellé de l’offre depuis le compte du candidat vaut signature de l’offre et de l’acte d’engagement ; l’attributaire remet ensuite l’</a:t>
                      </a:r>
                      <a:pPr indent="0" marL="0">
                        <a:buNone/>
                      </a:pPr>
                      <a:r>
                        <a:rPr lang="en-US" sz="1100" b="1" dirty="0">
                          <a:solidFill>
                            <a:srgbClr val="1B2A3A"/>
                          </a:solidFill>
                          <a:latin typeface="Segoe UI" pitchFamily="34" charset="0"/>
                          <a:ea typeface="Segoe UI" pitchFamily="34" charset="-122"/>
                          <a:cs typeface="Segoe UI" pitchFamily="34" charset="-120"/>
                        </a:rPr>
                        <a:t>original signé</a:t>
                      </a:r>
                      <a:pPr indent="0" marL="0">
                        <a:buNone/>
                      </a:pPr>
                      <a:r>
                        <a:rPr lang="en-US" sz="1100" dirty="0">
                          <a:solidFill>
                            <a:srgbClr val="1B2A3A"/>
                          </a:solidFill>
                          <a:latin typeface="Segoe UI" pitchFamily="34" charset="0"/>
                          <a:ea typeface="Segoe UI" pitchFamily="34" charset="-122"/>
                          <a:cs typeface="Segoe UI" pitchFamily="34" charset="-120"/>
                        </a:rPr>
                        <a:t> de son acte d’engagement. Il en dépose le scan, sans l’échéance des quinze jours, ou la PRMP qui l’a reçu l’enregistre ; la PRMP le reconnaît conforme, et le marché ne se signe pas avant. Le projet de marché cite l’original et sa date de remise. Une procédure papier n’est pas concernée.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Les entreprises candidates · 51</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Commission nationale des marchés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PRS 2.0 — Les fonctionnalités · Les entreprises candidates</dc:title>
  <dc:subject>PptxGenJS Presentation</dc:subject>
  <dc:creator>PRS 2.0</dc:creator>
  <cp:lastModifiedBy>PRS 2.0</cp:lastModifiedBy>
  <cp:revision>1</cp:revision>
  <dcterms:created xsi:type="dcterms:W3CDTF">2026-10-14T12:36:49Z</dcterms:created>
  <dcterms:modified xsi:type="dcterms:W3CDTF">2026-10-14T12:36:49Z</dcterms:modified>
</cp:coreProperties>
</file>