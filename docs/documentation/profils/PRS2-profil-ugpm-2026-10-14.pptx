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l’UGPM</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La personne responsable des marchés publics prépare, soumet, attribue et signe ; son unité de gestion prépare avec elle.</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40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l’UGPM agit ou lit, rangés par étape de la chaîne ; chacun est présenté ensuite.</a:t>
            </a:r>
            <a:endParaRPr lang="en-US" sz="1300" dirty="0"/>
          </a:p>
        </p:txBody>
      </p:sp>
      <p:sp>
        <p:nvSpPr>
          <p:cNvPr id="5" name="Shape 3"/>
          <p:cNvSpPr/>
          <p:nvPr/>
        </p:nvSpPr>
        <p:spPr>
          <a:xfrm>
            <a:off x="812780" y="1651000"/>
            <a:ext cx="3420448" cy="1443567"/>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PRMP et UGPM · La connexion · Changer son mot de passe · Une actualité à l’ouverture · L’accueil « À faire » de la PRMP · L’écran des notifications · La cloche</a:t>
            </a:r>
            <a:endParaRPr lang="en-US" sz="1200" dirty="0"/>
          </a:p>
        </p:txBody>
      </p:sp>
      <p:sp>
        <p:nvSpPr>
          <p:cNvPr id="9" name="Shape 7"/>
          <p:cNvSpPr/>
          <p:nvPr/>
        </p:nvSpPr>
        <p:spPr>
          <a:xfrm>
            <a:off x="4385624" y="1651000"/>
            <a:ext cx="3420448" cy="1443567"/>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02 · Planifier</a:t>
            </a:r>
            <a:endParaRPr lang="en-US" sz="1500" dirty="0"/>
          </a:p>
        </p:txBody>
      </p:sp>
      <p:sp>
        <p:nvSpPr>
          <p:cNvPr id="12" name="Text 10"/>
          <p:cNvSpPr/>
          <p:nvPr/>
        </p:nvSpPr>
        <p:spPr>
          <a:xfrm>
            <a:off x="4525320"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Créer un dossier : choisir son type · L’en-tête du plan, et l’import PDF · Une ligne de marché · Le calendrier prévisionnel (CAPM) · Les pièces jointes et le projet d’AGPM · L’aperçu avant création · Mes brouillons · Le suivi des dossiers · Mes plans et leurs marchés · Le détail d’un plan</a:t>
            </a:r>
            <a:endParaRPr lang="en-US" sz="1200" dirty="0"/>
          </a:p>
        </p:txBody>
      </p:sp>
      <p:sp>
        <p:nvSpPr>
          <p:cNvPr id="13" name="Shape 11"/>
          <p:cNvSpPr/>
          <p:nvPr/>
        </p:nvSpPr>
        <p:spPr>
          <a:xfrm>
            <a:off x="7958468" y="1651000"/>
            <a:ext cx="3420448" cy="1443567"/>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04 · Préparer le DAO</a:t>
            </a:r>
            <a:endParaRPr lang="en-US" sz="1500" dirty="0"/>
          </a:p>
        </p:txBody>
      </p:sp>
      <p:sp>
        <p:nvSpPr>
          <p:cNvPr id="16" name="Text 14"/>
          <p:cNvSpPr/>
          <p:nvPr/>
        </p:nvSpPr>
        <p:spPr>
          <a:xfrm>
            <a:off x="8098164"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appels d’offres de la PRMP · Étape 2 : le cadrage · Étape 3 : la saisie par bloc · Fournitures à commande : la même fiche · Le besoin, lot par lot · Les pièces de l’offre, listées une à une · Le texte découpé, à relire · Les spécifications techniques · Étape 4 : les reprises · Étape 5 : les contrôles · La page de garde · Le sommaire général · La commission d’appel d’offres · Les reçus des frais de dossier · Les questions des candidats</a:t>
            </a:r>
            <a:endParaRPr lang="en-US" sz="1200" dirty="0"/>
          </a:p>
        </p:txBody>
      </p:sp>
      <p:sp>
        <p:nvSpPr>
          <p:cNvPr id="17" name="Shape 15"/>
          <p:cNvSpPr/>
          <p:nvPr/>
        </p:nvSpPr>
        <p:spPr>
          <a:xfrm>
            <a:off x="812780" y="3246967"/>
            <a:ext cx="3420448" cy="1443567"/>
          </a:xfrm>
          <a:prstGeom prst="rect">
            <a:avLst/>
          </a:prstGeom>
          <a:solidFill>
            <a:srgbClr val="FCFCFA"/>
          </a:solidFill>
          <a:ln w="9525">
            <a:solidFill>
              <a:srgbClr val="D5DCE4"/>
            </a:solidFill>
            <a:prstDash val="solid"/>
          </a:ln>
        </p:spPr>
      </p:sp>
      <p:sp>
        <p:nvSpPr>
          <p:cNvPr id="18" name="Shape 16"/>
          <p:cNvSpPr/>
          <p:nvPr/>
        </p:nvSpPr>
        <p:spPr>
          <a:xfrm>
            <a:off x="812780" y="3246967"/>
            <a:ext cx="3420448" cy="38100"/>
          </a:xfrm>
          <a:prstGeom prst="rect">
            <a:avLst/>
          </a:prstGeom>
          <a:solidFill>
            <a:srgbClr val="12324A"/>
          </a:solidFill>
          <a:ln/>
        </p:spPr>
      </p:sp>
      <p:sp>
        <p:nvSpPr>
          <p:cNvPr id="19" name="Text 17"/>
          <p:cNvSpPr/>
          <p:nvPr/>
        </p:nvSpPr>
        <p:spPr>
          <a:xfrm>
            <a:off x="952476" y="3348567"/>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05 · L’appel à manifestation d’intérêt</a:t>
            </a:r>
            <a:endParaRPr lang="en-US" sz="1500" dirty="0"/>
          </a:p>
        </p:txBody>
      </p:sp>
      <p:sp>
        <p:nvSpPr>
          <p:cNvPr id="20" name="Text 18"/>
          <p:cNvSpPr/>
          <p:nvPr/>
        </p:nvSpPr>
        <p:spPr>
          <a:xfrm>
            <a:off x="952476" y="3805767"/>
            <a:ext cx="3141055"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fiche de prestations intellectuelles · Préparer l’appel · L’appel publié, avant la date limite</a:t>
            </a:r>
            <a:endParaRPr lang="en-US" sz="1200" dirty="0"/>
          </a:p>
        </p:txBody>
      </p:sp>
      <p:sp>
        <p:nvSpPr>
          <p:cNvPr id="21" name="Shape 19"/>
          <p:cNvSpPr/>
          <p:nvPr/>
        </p:nvSpPr>
        <p:spPr>
          <a:xfrm>
            <a:off x="4385624" y="3246967"/>
            <a:ext cx="3420448" cy="1443567"/>
          </a:xfrm>
          <a:prstGeom prst="rect">
            <a:avLst/>
          </a:prstGeom>
          <a:solidFill>
            <a:srgbClr val="FCFCFA"/>
          </a:solidFill>
          <a:ln w="9525">
            <a:solidFill>
              <a:srgbClr val="D5DCE4"/>
            </a:solidFill>
            <a:prstDash val="solid"/>
          </a:ln>
        </p:spPr>
      </p:sp>
      <p:sp>
        <p:nvSpPr>
          <p:cNvPr id="22" name="Shape 20"/>
          <p:cNvSpPr/>
          <p:nvPr/>
        </p:nvSpPr>
        <p:spPr>
          <a:xfrm>
            <a:off x="4385624" y="3246967"/>
            <a:ext cx="3420448" cy="38100"/>
          </a:xfrm>
          <a:prstGeom prst="rect">
            <a:avLst/>
          </a:prstGeom>
          <a:solidFill>
            <a:srgbClr val="1B6FA8"/>
          </a:solidFill>
          <a:ln/>
        </p:spPr>
      </p:sp>
      <p:sp>
        <p:nvSpPr>
          <p:cNvPr id="23" name="Text 21"/>
          <p:cNvSpPr/>
          <p:nvPr/>
        </p:nvSpPr>
        <p:spPr>
          <a:xfrm>
            <a:off x="4525320" y="3348567"/>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06 · Recevoir les offres en ligne</a:t>
            </a:r>
            <a:endParaRPr lang="en-US" sz="1500" dirty="0"/>
          </a:p>
        </p:txBody>
      </p:sp>
      <p:sp>
        <p:nvSpPr>
          <p:cNvPr id="24" name="Text 22"/>
          <p:cNvSpPr/>
          <p:nvPr/>
        </p:nvSpPr>
        <p:spPr>
          <a:xfrm>
            <a:off x="4525320" y="3805767"/>
            <a:ext cx="3141055"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Refuser un reçu, avec un motif</a:t>
            </a:r>
            <a:endParaRPr lang="en-US" sz="1200" dirty="0"/>
          </a:p>
        </p:txBody>
      </p:sp>
      <p:sp>
        <p:nvSpPr>
          <p:cNvPr id="25" name="Shape 23"/>
          <p:cNvSpPr/>
          <p:nvPr/>
        </p:nvSpPr>
        <p:spPr>
          <a:xfrm>
            <a:off x="7958468" y="3246967"/>
            <a:ext cx="3420448" cy="1443567"/>
          </a:xfrm>
          <a:prstGeom prst="rect">
            <a:avLst/>
          </a:prstGeom>
          <a:solidFill>
            <a:srgbClr val="FCFCFA"/>
          </a:solidFill>
          <a:ln w="9525">
            <a:solidFill>
              <a:srgbClr val="D5DCE4"/>
            </a:solidFill>
            <a:prstDash val="solid"/>
          </a:ln>
        </p:spPr>
      </p:sp>
      <p:sp>
        <p:nvSpPr>
          <p:cNvPr id="26" name="Shape 24"/>
          <p:cNvSpPr/>
          <p:nvPr/>
        </p:nvSpPr>
        <p:spPr>
          <a:xfrm>
            <a:off x="7958468" y="3246967"/>
            <a:ext cx="3420448" cy="38100"/>
          </a:xfrm>
          <a:prstGeom prst="rect">
            <a:avLst/>
          </a:prstGeom>
          <a:solidFill>
            <a:srgbClr val="2E8B57"/>
          </a:solidFill>
          <a:ln/>
        </p:spPr>
      </p:sp>
      <p:sp>
        <p:nvSpPr>
          <p:cNvPr id="27" name="Text 25"/>
          <p:cNvSpPr/>
          <p:nvPr/>
        </p:nvSpPr>
        <p:spPr>
          <a:xfrm>
            <a:off x="8098164"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8" name="Text 26"/>
          <p:cNvSpPr/>
          <p:nvPr/>
        </p:nvSpPr>
        <p:spPr>
          <a:xfrm>
            <a:off x="8098164"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 · La négociation à conclure</a:t>
            </a:r>
            <a:endParaRPr lang="en-US" sz="1200" dirty="0"/>
          </a:p>
        </p:txBody>
      </p:sp>
      <p:sp>
        <p:nvSpPr>
          <p:cNvPr id="29" name="Shape 27"/>
          <p:cNvSpPr/>
          <p:nvPr/>
        </p:nvSpPr>
        <p:spPr>
          <a:xfrm>
            <a:off x="812780" y="4842933"/>
            <a:ext cx="3420448" cy="1443567"/>
          </a:xfrm>
          <a:prstGeom prst="rect">
            <a:avLst/>
          </a:prstGeom>
          <a:solidFill>
            <a:srgbClr val="FCFCFA"/>
          </a:solidFill>
          <a:ln w="9525">
            <a:solidFill>
              <a:srgbClr val="D5DCE4"/>
            </a:solidFill>
            <a:prstDash val="solid"/>
          </a:ln>
        </p:spPr>
      </p:sp>
      <p:sp>
        <p:nvSpPr>
          <p:cNvPr id="30" name="Shape 28"/>
          <p:cNvSpPr/>
          <p:nvPr/>
        </p:nvSpPr>
        <p:spPr>
          <a:xfrm>
            <a:off x="812780" y="4842933"/>
            <a:ext cx="3420448" cy="38100"/>
          </a:xfrm>
          <a:prstGeom prst="rect">
            <a:avLst/>
          </a:prstGeom>
          <a:solidFill>
            <a:srgbClr val="E3AE2E"/>
          </a:solidFill>
          <a:ln/>
        </p:spPr>
      </p:sp>
      <p:sp>
        <p:nvSpPr>
          <p:cNvPr id="31" name="Text 29"/>
          <p:cNvSpPr/>
          <p:nvPr/>
        </p:nvSpPr>
        <p:spPr>
          <a:xfrm>
            <a:off x="952476" y="4944533"/>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32" name="Text 30"/>
          <p:cNvSpPr/>
          <p:nvPr/>
        </p:nvSpPr>
        <p:spPr>
          <a:xfrm>
            <a:off x="952476" y="5230283"/>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L’attribution, lot par lot · Le résultat public de la procédure</a:t>
            </a:r>
            <a:endParaRPr lang="en-US" sz="1200" dirty="0"/>
          </a:p>
        </p:txBody>
      </p:sp>
      <p:sp>
        <p:nvSpPr>
          <p:cNvPr id="33" name="Text 31"/>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PRMP ET 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PRMP et UGPM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PRMP et UG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autorité contractante,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gestes et rien d’autre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déposer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plan de passation,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suivre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contrôle,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consulter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PV définitifs.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chiffres clés : sept étapes suivies, une version par mise à jour, aucun papier pour les PV et les lettres de renvoi.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Se connecter » ou « Créer un compte PRMP » ; les mots soulignés mènent à l’écran qu’ils nomment.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ses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brouillons à 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en dessous, ses dossiers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cours à la Commission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leur étape et leur fin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choisi montre sa frise et son geste : ici, « Soumettre le dossier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d’interne à la Commission n’apparaît : ni acteurs, ni consignes.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02</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Planifier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Du plan saisi au plan contrôlé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dossier : choisir son type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dossier : choisir son typ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Dossier de planification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plan de passation), dossier de mise en concurrence, ou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Saisir » crée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invisible des contrôleurs jusqu’à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d’offres, lui, se prépare dans sa fiche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L’en-tête du plan, et l’import PDF</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n-tête du plan, et l’import PDF">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Importer un PPM (PDF)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pré-remplit tout depuis le plan officiel — à vérifier ligne par ligne avant création.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Sinon la saisie : l’entité contractante (parmi celles de la PRMP), l’exercice, la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localité et le signataire se déduisent seuls.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ligne de marché</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ligne de marché">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Nature, objet, montant estimatif hors taxes,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forme, financement,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Par ligne : les bénéficiaires, les lots et le calendrier prévisionnel ; l’écran signale les dates manquantes.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 des travaux de réhabilitation, en appel d’offres ouvert.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prévisionnel (CAPM)</a:t>
            </a:r>
            <a:endParaRPr lang="en-US" sz="2600" dirty="0"/>
          </a:p>
        </p:txBody>
      </p:sp>
      <p:sp>
        <p:nvSpPr>
          <p:cNvPr id="4" name="Shape 2"/>
          <p:cNvSpPr/>
          <p:nvPr/>
        </p:nvSpPr>
        <p:spPr>
          <a:xfrm>
            <a:off x="800080" y="1193800"/>
            <a:ext cx="5443931" cy="5105400"/>
          </a:xfrm>
          <a:prstGeom prst="rect">
            <a:avLst/>
          </a:prstGeom>
          <a:solidFill>
            <a:srgbClr val="FCFCFA"/>
          </a:solidFill>
          <a:ln w="9525">
            <a:solidFill>
              <a:srgbClr val="D5DCE4"/>
            </a:solidFill>
            <a:prstDash val="solid"/>
          </a:ln>
        </p:spPr>
      </p:sp>
      <p:pic>
        <p:nvPicPr>
          <p:cNvPr id="5" name="Image 0" descr="Le calendrier prévisionnel (CAPM)">    </p:cNvPr>
          <p:cNvPicPr>
            <a:picLocks noChangeAspect="1"/>
          </p:cNvPicPr>
          <p:nvPr/>
        </p:nvPicPr>
        <p:blipFill>
          <a:blip r:embed="rId1"/>
          <a:stretch>
            <a:fillRect/>
          </a:stretch>
        </p:blipFill>
        <p:spPr>
          <a:xfrm>
            <a:off x="812780" y="1206500"/>
            <a:ext cx="5418531" cy="5080000"/>
          </a:xfrm>
          <a:prstGeom prst="rect">
            <a:avLst/>
          </a:prstGeom>
        </p:spPr>
      </p:pic>
      <p:sp>
        <p:nvSpPr>
          <p:cNvPr id="6" name="Shape 3"/>
          <p:cNvSpPr/>
          <p:nvPr/>
        </p:nvSpPr>
        <p:spPr>
          <a:xfrm>
            <a:off x="6409106" y="1206500"/>
            <a:ext cx="4969809" cy="5080000"/>
          </a:xfrm>
          <a:prstGeom prst="rect">
            <a:avLst/>
          </a:prstGeom>
          <a:solidFill>
            <a:srgbClr val="FCFCFA"/>
          </a:solidFill>
          <a:ln w="9525">
            <a:solidFill>
              <a:srgbClr val="D5DCE4"/>
            </a:solidFill>
            <a:prstDash val="solid"/>
          </a:ln>
        </p:spPr>
      </p:sp>
      <p:sp>
        <p:nvSpPr>
          <p:cNvPr id="7" name="Shape 4"/>
          <p:cNvSpPr/>
          <p:nvPr/>
        </p:nvSpPr>
        <p:spPr>
          <a:xfrm>
            <a:off x="6409106" y="1206500"/>
            <a:ext cx="38099" cy="5080000"/>
          </a:xfrm>
          <a:prstGeom prst="rect">
            <a:avLst/>
          </a:prstGeom>
          <a:solidFill>
            <a:srgbClr val="1B6FA8"/>
          </a:solidFill>
          <a:ln/>
        </p:spPr>
      </p:sp>
      <p:sp>
        <p:nvSpPr>
          <p:cNvPr id="8" name="Text 5"/>
          <p:cNvSpPr/>
          <p:nvPr/>
        </p:nvSpPr>
        <p:spPr>
          <a:xfrm>
            <a:off x="6574202" y="1308100"/>
            <a:ext cx="467771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processus du mode de passation, groupés par phase, chacun avec sa date de début et, au besoin, de fin.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moins un processus daté ; la date de fin est proposée à la veille du processus suivant.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chronologie est contrôlée ; un délai aménagé appelle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justification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jointes et le projet d’AGPM</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jointes et le projet d’AGPM">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dépendent du type de dossier, fixées dans les référentiels de l’Administrateur ; ici, aucune n’est exigée.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Formats acceptés : PDF, JPEG, PNG ; chaque fichier est contrôlé.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marché en appel d’offres ouvert fait naître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d’AGPM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dérivé du plan et visible dans l’aperçu.</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L’aperçu avant création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erçu avant créat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fiche de présentation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plan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 projet d’AGPM, tels que la Commission les lira.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tant que le dossier n’est pas créé, puis soumis.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brouillons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brouil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complète les brouillons sans les soumettre.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commencés et pas encore soumis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ouvrir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supprimer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brouillon n’a pas encore de référence : elle lui est attribuée 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à la Commission avant la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suivi des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uivi d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dossier avec son type, son entité,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 de dépôt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dépôt pas encore numéroté par le Secrétaire n’a pas encore de référence ni de fin prévue.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plans et leurs marchés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plans et leurs march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plan, son exercice, son nombre de marchés et, parmi eux, ceux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Détails » ouvre le plan sans quitter l’écran.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 plan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 pla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plan actif en quatre onglets : fiche de présentation, plan de passation, projet d’AGPM,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 montants, mode, financement, bénéficiaire, dates prévisionnelles et statut.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04</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Préparer le DAO</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ligne du plan au DAO publié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appels d’offres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appels d’offre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des plans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signé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le mode de passation appelle un DAO : référence du plan, nature, forme, objet, mode,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Préparer l’appel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ouvre une fiche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la fiche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poursuit. Sous la fiche, le nombre d’offres déposées.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en appel à manifestation d’intérêt (prestations intellectuelles) y figurent aussi.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2 : le cadrage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2 : le cadr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Des questions qui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ouvrent ou ferment des rubriques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allotissement, tranches, variantes, groupement, type et révision des prix, garantie, avance, pénalités.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question dit dans quel document elle joue (DPAO,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remise des 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papier ou électronique, jamais mixte.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3 : la saisie par bloc</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3 : la saisie par bloc">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Onze blocs en travaux ; chaque information porte les documents où elle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qui vient du plan ou du cadrage est marqué « repris », et ne se ressaisit pas ; une information conditionnelle dit sa condition (« alloti = OUI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se lit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lecture seule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compteur dit combien d’informations sont saisies (124 sur 170).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Fournitures à commande : la même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Fournitures à commande : la même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fiche pour les trois catégories ; ses blocs et ses questions suivent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catégorie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lues sur la ligne du plan (ici fournitures, à commande : dix blocs).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informations propres à la forme apparaissent d’elles-mêmes, comme la durée de validité du marché à commandes.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besoin, lot par lot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besoin, lot par lo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travaux,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détail quantitatif et estimatif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lot, par séries : n° de prix, désignation, libellé au bordereau, unité, quantité, plafond.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lui que le candidat remplira de ses prix ; il produit le bordereau des prix de chaque lot.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de l’offre, listées une à une</a:t>
            </a:r>
            <a:endParaRPr lang="en-US" sz="2600" dirty="0"/>
          </a:p>
        </p:txBody>
      </p:sp>
      <p:sp>
        <p:nvSpPr>
          <p:cNvPr id="4" name="Shape 2"/>
          <p:cNvSpPr/>
          <p:nvPr/>
        </p:nvSpPr>
        <p:spPr>
          <a:xfrm>
            <a:off x="1393256" y="1193800"/>
            <a:ext cx="9405183" cy="3327400"/>
          </a:xfrm>
          <a:prstGeom prst="rect">
            <a:avLst/>
          </a:prstGeom>
          <a:solidFill>
            <a:srgbClr val="FCFCFA"/>
          </a:solidFill>
          <a:ln w="9525">
            <a:solidFill>
              <a:srgbClr val="D5DCE4"/>
            </a:solidFill>
            <a:prstDash val="solid"/>
          </a:ln>
        </p:spPr>
      </p:sp>
      <p:pic>
        <p:nvPicPr>
          <p:cNvPr id="5" name="Image 0" descr="Les pièces de l’offre, listées une à une">    </p:cNvPr>
          <p:cNvPicPr>
            <a:picLocks noChangeAspect="1"/>
          </p:cNvPicPr>
          <p:nvPr/>
        </p:nvPicPr>
        <p:blipFill>
          <a:blip r:embed="rId1"/>
          <a:stretch>
            <a:fillRect/>
          </a:stretch>
        </p:blipFill>
        <p:spPr>
          <a:xfrm>
            <a:off x="1405956" y="1206500"/>
            <a:ext cx="9379783"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sur une fiche en préparation.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chaque pièce exigée est une ligne : le candidat joindra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 fichier par pièce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se reprend du document type, se colle, s’ajoute pièce par pièce, ou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propose à partir du texte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DAO.</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texte découpé, à relire</a:t>
            </a:r>
            <a:endParaRPr lang="en-US" sz="2600" dirty="0"/>
          </a:p>
        </p:txBody>
      </p:sp>
      <p:sp>
        <p:nvSpPr>
          <p:cNvPr id="4" name="Shape 2"/>
          <p:cNvSpPr/>
          <p:nvPr/>
        </p:nvSpPr>
        <p:spPr>
          <a:xfrm>
            <a:off x="800080" y="1193800"/>
            <a:ext cx="6894410" cy="5105400"/>
          </a:xfrm>
          <a:prstGeom prst="rect">
            <a:avLst/>
          </a:prstGeom>
          <a:solidFill>
            <a:srgbClr val="FCFCFA"/>
          </a:solidFill>
          <a:ln w="9525">
            <a:solidFill>
              <a:srgbClr val="D5DCE4"/>
            </a:solidFill>
            <a:prstDash val="solid"/>
          </a:ln>
        </p:spPr>
      </p:sp>
      <p:pic>
        <p:nvPicPr>
          <p:cNvPr id="5" name="Image 0" descr="Le texte découpé, à relire">    </p:cNvPr>
          <p:cNvPicPr>
            <a:picLocks noChangeAspect="1"/>
          </p:cNvPicPr>
          <p:nvPr/>
        </p:nvPicPr>
        <p:blipFill>
          <a:blip r:embed="rId1"/>
          <a:stretch>
            <a:fillRect/>
          </a:stretch>
        </p:blipFill>
        <p:spPr>
          <a:xfrm>
            <a:off x="812780" y="1206500"/>
            <a:ext cx="6869011" cy="5080000"/>
          </a:xfrm>
          <a:prstGeom prst="rect">
            <a:avLst/>
          </a:prstGeom>
        </p:spPr>
      </p:pic>
      <p:sp>
        <p:nvSpPr>
          <p:cNvPr id="6" name="Shape 3"/>
          <p:cNvSpPr/>
          <p:nvPr/>
        </p:nvSpPr>
        <p:spPr>
          <a:xfrm>
            <a:off x="7859586" y="1206500"/>
            <a:ext cx="3519330" cy="5080000"/>
          </a:xfrm>
          <a:prstGeom prst="rect">
            <a:avLst/>
          </a:prstGeom>
          <a:solidFill>
            <a:srgbClr val="FCFCFA"/>
          </a:solidFill>
          <a:ln w="9525">
            <a:solidFill>
              <a:srgbClr val="D5DCE4"/>
            </a:solidFill>
            <a:prstDash val="solid"/>
          </a:ln>
        </p:spPr>
      </p:sp>
      <p:sp>
        <p:nvSpPr>
          <p:cNvPr id="7" name="Shape 4"/>
          <p:cNvSpPr/>
          <p:nvPr/>
        </p:nvSpPr>
        <p:spPr>
          <a:xfrm>
            <a:off x="7859586" y="1206500"/>
            <a:ext cx="38099" cy="5080000"/>
          </a:xfrm>
          <a:prstGeom prst="rect">
            <a:avLst/>
          </a:prstGeom>
          <a:solidFill>
            <a:srgbClr val="1B6FA8"/>
          </a:solidFill>
          <a:ln/>
        </p:spPr>
      </p:sp>
      <p:sp>
        <p:nvSpPr>
          <p:cNvPr id="8" name="Text 5"/>
          <p:cNvSpPr/>
          <p:nvPr/>
        </p:nvSpPr>
        <p:spPr>
          <a:xfrm>
            <a:off x="8024682" y="1308100"/>
            <a:ext cx="3227237"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texte est découpé en une pièce par ligne ; la PRMP relit, corrige, complète, puis enregistre. Rien n’est retenu sans elle.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spécifications techniques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spécifications techniq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dernier bloc, les pièces de l’offre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spécifications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devis descriptif, les prescriptions et les plans, en un document Word de 20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est inséré tel quel dans le DAO complet, entre le CCAP et le CCAG. Sans fichier, la partie n’existe pas, et l’écran le dit.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4 : les reprises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4 : les repris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champ repris est rempli depuis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document maître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ressaisi : autorité contractante, montant, source de financement, objet, délai de validité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dit d’où vient l’information et dans quels documents elle est reportée.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5 : les contrôles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5 : les contrô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bilan, recalculé à chaque lecture : informations manquantes, ordre des dates,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délai de publicité de la loi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(30 jours pour l’appel d’offres ouvert national, art. 35-II).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la liste des pièces de l’offre et la marge du quorum de déchiffrement ; les spécifications techniques absentes.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rouge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ce qui bloque la validation ; en orange, un avertissement. Chaque contrôle mène au bloc à corriger.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de garde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a page de gar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Celle des DAO réels : l’emblème, le ministère, la PRMP et l’UGPM, l’intitulé qui porte le mode de passation.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numéro du DAO, l’objet, « Lancé le … » à compléter, le financement, l’imputation administrative et le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lus sur le plan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sommaire général</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sommaire général">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deux parties et leurs sous-parties, dans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numérotation de l’ARMP</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les numéros de page.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Dans le Word, c’est une table des matières, mise à jour à l’ouverture.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d’appel d’offres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d’appel d’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pour elle.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décision de nomination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(référence, date) et les membres : des agents de l’entité, au plus un expert de l’objet, un seul président.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reçoit par courriel une invitation à activer son compte, puis publie sa part de la clé qui ouvrira les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signée se joint en PDF ; sans elle, la commission porte un avertissement.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reçus des frais de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eçus des frais de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entreprise dépose le reçu de son versement sur le compte de l’ARMP ; elle ne retire le dossier qu’une fois le reçu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validé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montant inférieur aux frais est signalé ; un refus porte son motif, et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se reprend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l’écran invite à comparer au relevé de l’ARMP avant de décider.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des candidats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questions des candida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lit sans répondre.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ayant retiré le dossier posent leurs questions jusqu’à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dix jours avant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(art. 35-II) ; l’écran dit quand elles sont closes.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réponse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diffusée dès son enregistrement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sur la page publique de la procédure, sans le nom de l’auteur, et à chaque candidat ayant retiré le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cette procédure de démonstration, aucune question n’a été 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05</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L’appel à manifestation d’intérêt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ligne du plan à la liste restreinte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fiche de prestations intellectuelles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fiche de prestations intellectuel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ligne du plan, en mode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 Appel à manifestation d’intérêt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ouvre sa fiche comme les autres ; l’en-tête porte le lien vers l’appel.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prépare ensuite la demande de propositions : données particulières,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le plan dit est repris : il annonce un lot, le marché est donc non alloti.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 OU 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Préparer l’appel</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Préparer l’appel">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avant la publication.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limite de dépôt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critères de sélection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chacun avec ses points : le total sur 100 est affiché.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attendues, exigées au dépôt une par une, en PDF ou en image.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L’appel publié, avant la date limite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pel publié, avant la date limi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est figé : date limite, note minimale, candidats retenus, critères, pièces,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signé électroniquement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la publication, se lit en PDF et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seul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d’expressions reçues est connu (ici : 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Refuser un reçu, avec un motif</a:t>
            </a:r>
            <a:endParaRPr lang="en-US" sz="2600" dirty="0"/>
          </a:p>
        </p:txBody>
      </p:sp>
      <p:sp>
        <p:nvSpPr>
          <p:cNvPr id="4" name="Shape 2"/>
          <p:cNvSpPr/>
          <p:nvPr/>
        </p:nvSpPr>
        <p:spPr>
          <a:xfrm>
            <a:off x="1765256" y="1193800"/>
            <a:ext cx="8661183" cy="3327400"/>
          </a:xfrm>
          <a:prstGeom prst="rect">
            <a:avLst/>
          </a:prstGeom>
          <a:solidFill>
            <a:srgbClr val="FCFCFA"/>
          </a:solidFill>
          <a:ln w="9525">
            <a:solidFill>
              <a:srgbClr val="D5DCE4"/>
            </a:solidFill>
            <a:prstDash val="solid"/>
          </a:ln>
        </p:spPr>
      </p:sp>
      <p:pic>
        <p:nvPicPr>
          <p:cNvPr id="5" name="Image 0" descr="Refuser un reçu, avec un motif">    </p:cNvPr>
          <p:cNvPicPr>
            <a:picLocks noChangeAspect="1"/>
          </p:cNvPicPr>
          <p:nvPr/>
        </p:nvPicPr>
        <p:blipFill>
          <a:blip r:embed="rId1"/>
          <a:stretch>
            <a:fillRect/>
          </a:stretch>
        </p:blipFill>
        <p:spPr>
          <a:xfrm>
            <a:off x="1777956" y="1206500"/>
            <a:ext cx="8635784"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refus exige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transmis par courriel ;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ne se reprend pas. La liste des reçus de la PRMP est présentée avec la préparation du DAO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à conclure</a:t>
            </a:r>
            <a:endParaRPr lang="en-US" sz="2600" dirty="0"/>
          </a:p>
        </p:txBody>
      </p:sp>
      <p:sp>
        <p:nvSpPr>
          <p:cNvPr id="4" name="Shape 2"/>
          <p:cNvSpPr/>
          <p:nvPr/>
        </p:nvSpPr>
        <p:spPr>
          <a:xfrm>
            <a:off x="2841550" y="1193800"/>
            <a:ext cx="6508596" cy="3327400"/>
          </a:xfrm>
          <a:prstGeom prst="rect">
            <a:avLst/>
          </a:prstGeom>
          <a:solidFill>
            <a:srgbClr val="FCFCFA"/>
          </a:solidFill>
          <a:ln w="9525">
            <a:solidFill>
              <a:srgbClr val="D5DCE4"/>
            </a:solidFill>
            <a:prstDash val="solid"/>
          </a:ln>
        </p:spPr>
      </p:sp>
      <p:pic>
        <p:nvPicPr>
          <p:cNvPr id="5" name="Image 0" descr="La négociation à conclure">    </p:cNvPr>
          <p:cNvPicPr>
            <a:picLocks noChangeAspect="1"/>
          </p:cNvPicPr>
          <p:nvPr/>
        </p:nvPicPr>
        <p:blipFill>
          <a:blip r:embed="rId1"/>
          <a:stretch>
            <a:fillRect/>
          </a:stretch>
        </p:blipFill>
        <p:spPr>
          <a:xfrm>
            <a:off x="2854249" y="1206500"/>
            <a:ext cx="6483197"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se tient avec le premier classé, sur des points non substantiels (art. 42-IV).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conclut : réussie, ou échouée et motivée ; le procès-verbal dit ce qui a été négocié et convenu.</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L’attribution, lot par lot</a:t>
            </a:r>
            <a:endParaRPr lang="en-US" sz="2600" dirty="0"/>
          </a:p>
        </p:txBody>
      </p:sp>
      <p:sp>
        <p:nvSpPr>
          <p:cNvPr id="4" name="Shape 2"/>
          <p:cNvSpPr/>
          <p:nvPr/>
        </p:nvSpPr>
        <p:spPr>
          <a:xfrm>
            <a:off x="800080" y="1193800"/>
            <a:ext cx="10591535" cy="1926041"/>
          </a:xfrm>
          <a:prstGeom prst="rect">
            <a:avLst/>
          </a:prstGeom>
          <a:solidFill>
            <a:srgbClr val="FCFCFA"/>
          </a:solidFill>
          <a:ln w="9525">
            <a:solidFill>
              <a:srgbClr val="D5DCE4"/>
            </a:solidFill>
            <a:prstDash val="solid"/>
          </a:ln>
        </p:spPr>
      </p:sp>
      <p:pic>
        <p:nvPicPr>
          <p:cNvPr id="5" name="Image 0" descr="L’attribution, lot par lot">    </p:cNvPr>
          <p:cNvPicPr>
            <a:picLocks noChangeAspect="1"/>
          </p:cNvPicPr>
          <p:nvPr/>
        </p:nvPicPr>
        <p:blipFill>
          <a:blip r:embed="rId1"/>
          <a:stretch>
            <a:fillRect/>
          </a:stretch>
        </p:blipFill>
        <p:spPr>
          <a:xfrm>
            <a:off x="812780" y="1206500"/>
            <a:ext cx="10566136" cy="1900641"/>
          </a:xfrm>
          <a:prstGeom prst="rect">
            <a:avLst/>
          </a:prstGeom>
        </p:spPr>
      </p:pic>
      <p:sp>
        <p:nvSpPr>
          <p:cNvPr id="6" name="Shape 3"/>
          <p:cNvSpPr/>
          <p:nvPr/>
        </p:nvSpPr>
        <p:spPr>
          <a:xfrm>
            <a:off x="812780" y="3259541"/>
            <a:ext cx="10566136" cy="1720850"/>
          </a:xfrm>
          <a:prstGeom prst="rect">
            <a:avLst/>
          </a:prstGeom>
          <a:solidFill>
            <a:srgbClr val="FCFCFA"/>
          </a:solidFill>
          <a:ln w="9525">
            <a:solidFill>
              <a:srgbClr val="D5DCE4"/>
            </a:solidFill>
            <a:prstDash val="solid"/>
          </a:ln>
        </p:spPr>
      </p:sp>
      <p:sp>
        <p:nvSpPr>
          <p:cNvPr id="7" name="Shape 4"/>
          <p:cNvSpPr/>
          <p:nvPr/>
        </p:nvSpPr>
        <p:spPr>
          <a:xfrm>
            <a:off x="812780" y="3259541"/>
            <a:ext cx="38099" cy="1720850"/>
          </a:xfrm>
          <a:prstGeom prst="rect">
            <a:avLst/>
          </a:prstGeom>
          <a:solidFill>
            <a:srgbClr val="1B6FA8"/>
          </a:solidFill>
          <a:ln/>
        </p:spPr>
      </p:sp>
      <p:sp>
        <p:nvSpPr>
          <p:cNvPr id="8" name="Text 5"/>
          <p:cNvSpPr/>
          <p:nvPr/>
        </p:nvSpPr>
        <p:spPr>
          <a:xfrm>
            <a:off x="977876" y="3361141"/>
            <a:ext cx="10274043" cy="15303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lot et la proposition du rapport : l’offre, le candidat, le montant hors taxes et le délai.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Créer le dossier de marché » : l’application y joint d’office le projet de marché, le DAO complet, le devis de l’offre, le PV d’ouverture et le rapport.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l’UGPM</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78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(1/16)</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s’inscrit elle-même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renseigne son identité, déclare ses entités contractantes — choisies dans le référentiel ou proposées si absentes — et joint son </a:t>
                      </a:r>
                      <a:pPr indent="0" marL="0">
                        <a:buNone/>
                      </a:pPr>
                      <a:r>
                        <a:rPr lang="en-US" sz="1100" b="1" dirty="0">
                          <a:solidFill>
                            <a:srgbClr val="1B2A3A"/>
                          </a:solidFill>
                          <a:latin typeface="Segoe UI" pitchFamily="34" charset="0"/>
                          <a:ea typeface="Segoe UI" pitchFamily="34" charset="-122"/>
                          <a:cs typeface="Segoe UI" pitchFamily="34" charset="-120"/>
                        </a:rPr>
                        <a:t>arrêté de nomination</a:t>
                      </a:r>
                      <a:pPr indent="0" marL="0">
                        <a:buNone/>
                      </a:pPr>
                      <a:r>
                        <a:rPr lang="en-US" sz="1100" dirty="0">
                          <a:solidFill>
                            <a:srgbClr val="1B2A3A"/>
                          </a:solidFill>
                          <a:latin typeface="Segoe UI" pitchFamily="34" charset="0"/>
                          <a:ea typeface="Segoe UI" pitchFamily="34" charset="-122"/>
                          <a:cs typeface="Segoe UI" pitchFamily="34" charset="-120"/>
                        </a:rPr>
                        <a:t> et sa CIN, la photo restant facultative. Le compte naît en attente et ne peut pas se connecter.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entité, une seule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PRMP gère plusieurs entités contractantes, mais chaque entité n’a qu’</a:t>
                      </a:r>
                      <a:pPr indent="0" marL="0">
                        <a:buNone/>
                      </a:pPr>
                      <a:r>
                        <a:rPr lang="en-US" sz="1100" b="1" dirty="0">
                          <a:solidFill>
                            <a:srgbClr val="1B2A3A"/>
                          </a:solidFill>
                          <a:latin typeface="Segoe UI" pitchFamily="34" charset="0"/>
                          <a:ea typeface="Segoe UI" pitchFamily="34" charset="-122"/>
                          <a:cs typeface="Segoe UI" pitchFamily="34" charset="-120"/>
                        </a:rPr>
                        <a:t>une seule PRMP active</a:t>
                      </a:r>
                      <a:pPr indent="0" marL="0">
                        <a:buNone/>
                      </a:pPr>
                      <a:r>
                        <a:rPr lang="en-US" sz="1100" dirty="0">
                          <a:solidFill>
                            <a:srgbClr val="1B2A3A"/>
                          </a:solidFill>
                          <a:latin typeface="Segoe UI" pitchFamily="34" charset="0"/>
                          <a:ea typeface="Segoe UI" pitchFamily="34" charset="-122"/>
                          <a:cs typeface="Segoe UI" pitchFamily="34" charset="-120"/>
                        </a:rPr>
                        <a:t>. La PRMP n’a pas de localité propre : celle d’un dossier vient de l’entité choisie à la saisie.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L’UGPM rattachée à sa tutelle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UGPM est rattachée à </a:t>
                      </a:r>
                      <a:pPr indent="0" marL="0">
                        <a:buNone/>
                      </a:pPr>
                      <a:r>
                        <a:rPr lang="en-US" sz="1100" b="1" dirty="0">
                          <a:solidFill>
                            <a:srgbClr val="1B2A3A"/>
                          </a:solidFill>
                          <a:latin typeface="Segoe UI" pitchFamily="34" charset="0"/>
                          <a:ea typeface="Segoe UI" pitchFamily="34" charset="-122"/>
                          <a:cs typeface="Segoe UI" pitchFamily="34" charset="-120"/>
                        </a:rPr>
                        <a:t>une seule PRMP de tutelle</a:t>
                      </a:r>
                      <a:pPr indent="0" marL="0">
                        <a:buNone/>
                      </a:pPr>
                      <a:r>
                        <a:rPr lang="en-US" sz="1100" dirty="0">
                          <a:solidFill>
                            <a:srgbClr val="1B2A3A"/>
                          </a:solidFill>
                          <a:latin typeface="Segoe UI" pitchFamily="34" charset="0"/>
                          <a:ea typeface="Segoe UI" pitchFamily="34" charset="-122"/>
                          <a:cs typeface="Segoe UI" pitchFamily="34" charset="-120"/>
                        </a:rPr>
                        <a:t>. Son compte est créé par sa PRMP depuis son espace (« Créer compte UGPM »), ou par l’Administrateur ; il porte sa CIN, sans arrêté ni entité. Dans tous les cas, il reste </a:t>
                      </a:r>
                      <a:pPr indent="0" marL="0">
                        <a:buNone/>
                      </a:pPr>
                      <a:r>
                        <a:rPr lang="en-US" sz="1100" b="1" dirty="0">
                          <a:solidFill>
                            <a:srgbClr val="1B2A3A"/>
                          </a:solidFill>
                          <a:latin typeface="Segoe UI" pitchFamily="34" charset="0"/>
                          <a:ea typeface="Segoe UI" pitchFamily="34" charset="-122"/>
                          <a:cs typeface="Segoe UI" pitchFamily="34" charset="-120"/>
                        </a:rPr>
                        <a:t>en attente</a:t>
                      </a:r>
                      <a:pPr indent="0" marL="0">
                        <a:buNone/>
                      </a:pPr>
                      <a:r>
                        <a:rPr lang="en-US" sz="1100" dirty="0">
                          <a:solidFill>
                            <a:srgbClr val="1B2A3A"/>
                          </a:solidFill>
                          <a:latin typeface="Segoe UI" pitchFamily="34" charset="0"/>
                          <a:ea typeface="Segoe UI" pitchFamily="34" charset="-122"/>
                          <a:cs typeface="Segoe UI" pitchFamily="34" charset="-120"/>
                        </a:rPr>
                        <a:t> jusqu’à la validation de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L’UGPM saisit, la PRMP engage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L’UGPM voit tout le périmètre de sa PRMP de tutelle et prépare les dossiers en brouillon. Les actes qui engagent l’entité — </a:t>
                      </a:r>
                      <a:pPr indent="0" marL="0">
                        <a:buNone/>
                      </a:pPr>
                      <a:r>
                        <a:rPr lang="en-US" sz="1100" b="1" dirty="0">
                          <a:solidFill>
                            <a:srgbClr val="1B2A3A"/>
                          </a:solidFill>
                          <a:latin typeface="Segoe UI" pitchFamily="34" charset="0"/>
                          <a:ea typeface="Segoe UI" pitchFamily="34" charset="-122"/>
                          <a:cs typeface="Segoe UI" pitchFamily="34" charset="-120"/>
                        </a:rPr>
                        <a:t>soumission</a:t>
                      </a:r>
                      <a:pPr indent="0" marL="0">
                        <a:buNone/>
                      </a:pPr>
                      <a:r>
                        <a:rPr lang="en-US" sz="1100" dirty="0">
                          <a:solidFill>
                            <a:srgbClr val="1B2A3A"/>
                          </a:solidFill>
                          <a:latin typeface="Segoe UI" pitchFamily="34" charset="0"/>
                          <a:ea typeface="Segoe UI" pitchFamily="34" charset="-122"/>
                          <a:cs typeface="Segoe UI" pitchFamily="34" charset="-120"/>
                        </a:rPr>
                        <a:t>, resoumission, compléments, retraits — restent à la PRMP seule.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voit ses seuls dossiers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acteur externe, n’est pas bornée par une localité : elle ne voit que </a:t>
                      </a:r>
                      <a:pPr indent="0" marL="0">
                        <a:buNone/>
                      </a:pPr>
                      <a:r>
                        <a:rPr lang="en-US" sz="1100" b="1" dirty="0">
                          <a:solidFill>
                            <a:srgbClr val="1B2A3A"/>
                          </a:solidFill>
                          <a:latin typeface="Segoe UI" pitchFamily="34" charset="0"/>
                          <a:ea typeface="Segoe UI" pitchFamily="34" charset="-122"/>
                          <a:cs typeface="Segoe UI" pitchFamily="34" charset="-120"/>
                        </a:rPr>
                        <a:t>ses propres dossiers</a:t>
                      </a:r>
                      <a:pPr indent="0" marL="0">
                        <a:buNone/>
                      </a:pPr>
                      <a:r>
                        <a:rPr lang="en-US" sz="1100" dirty="0">
                          <a:solidFill>
                            <a:srgbClr val="1B2A3A"/>
                          </a:solidFill>
                          <a:latin typeface="Segoe UI" pitchFamily="34" charset="0"/>
                          <a:ea typeface="Segoe UI" pitchFamily="34" charset="-122"/>
                          <a:cs typeface="Segoe UI" pitchFamily="34" charset="-120"/>
                        </a:rPr>
                        <a:t>, ceux dont elle est propriétaire.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(2/16)</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(3/16)</a:t>
            </a:r>
            <a:endParaRPr lang="en-US" sz="2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mandat de trois ans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mandat de la PRMP dure </a:t>
                      </a:r>
                      <a:pPr indent="0" marL="0">
                        <a:buNone/>
                      </a:pPr>
                      <a:r>
                        <a:rPr lang="en-US" sz="1100" b="1" dirty="0">
                          <a:solidFill>
                            <a:srgbClr val="1B2A3A"/>
                          </a:solidFill>
                          <a:latin typeface="Segoe UI" pitchFamily="34" charset="0"/>
                          <a:ea typeface="Segoe UI" pitchFamily="34" charset="-122"/>
                          <a:cs typeface="Segoe UI" pitchFamily="34" charset="-120"/>
                        </a:rPr>
                        <a:t>trois ans</a:t>
                      </a:r>
                      <a:pPr indent="0" marL="0">
                        <a:buNone/>
                      </a:pPr>
                      <a:r>
                        <a:rPr lang="en-US" sz="1100" dirty="0">
                          <a:solidFill>
                            <a:srgbClr val="1B2A3A"/>
                          </a:solidFill>
                          <a:latin typeface="Segoe UI" pitchFamily="34" charset="0"/>
                          <a:ea typeface="Segoe UI" pitchFamily="34" charset="-122"/>
                          <a:cs typeface="Segoe UI" pitchFamily="34" charset="-120"/>
                        </a:rPr>
                        <a:t>, reconductible une seule fois par un nouvel arrêté. Des alertes partent à J-90, J-30 et J-7 ; à l’échéance le compte est désactivé, et un nouveau mandat en cours le rouvre de lui-même.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(4/16)</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Rien d’interne pour la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et l’UGPM voient leurs brouillons, les pièces à compléter, les rectifications et le suivi de leurs dossiers, mais </a:t>
                      </a:r>
                      <a:pPr indent="0" marL="0">
                        <a:buNone/>
                      </a:pPr>
                      <a:r>
                        <a:rPr lang="en-US" sz="1100" b="1" dirty="0">
                          <a:solidFill>
                            <a:srgbClr val="1B2A3A"/>
                          </a:solidFill>
                          <a:latin typeface="Segoe UI" pitchFamily="34" charset="0"/>
                          <a:ea typeface="Segoe UI" pitchFamily="34" charset="-122"/>
                          <a:cs typeface="Segoe UI" pitchFamily="34" charset="-120"/>
                        </a:rPr>
                        <a:t>rien d’interne</a:t>
                      </a:r>
                      <a:pPr indent="0" marL="0">
                        <a:buNone/>
                      </a:pPr>
                      <a:r>
                        <a:rPr lang="en-US" sz="1100" dirty="0">
                          <a:solidFill>
                            <a:srgbClr val="1B2A3A"/>
                          </a:solidFill>
                          <a:latin typeface="Segoe UI" pitchFamily="34" charset="0"/>
                          <a:ea typeface="Segoe UI" pitchFamily="34" charset="-122"/>
                          <a:cs typeface="Segoe UI" pitchFamily="34" charset="-120"/>
                        </a:rPr>
                        <a:t> à la CNM : ni acteurs, ni consignes de dispatch, ni étapes de navette.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Trois familles de dossier à la création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se crée dans une famille : </a:t>
                      </a:r>
                      <a:pPr indent="0" marL="0">
                        <a:buNone/>
                      </a:pPr>
                      <a:r>
                        <a:rPr lang="en-US" sz="1100" b="1" dirty="0">
                          <a:solidFill>
                            <a:srgbClr val="1B2A3A"/>
                          </a:solidFill>
                          <a:latin typeface="Segoe UI" pitchFamily="34" charset="0"/>
                          <a:ea typeface="Segoe UI" pitchFamily="34" charset="-122"/>
                          <a:cs typeface="Segoe UI" pitchFamily="34" charset="-120"/>
                        </a:rPr>
                        <a:t>planification</a:t>
                      </a:r>
                      <a:pPr indent="0" marL="0">
                        <a:buNone/>
                      </a:pPr>
                      <a:r>
                        <a:rPr lang="en-US" sz="1100" dirty="0">
                          <a:solidFill>
                            <a:srgbClr val="1B2A3A"/>
                          </a:solidFill>
                          <a:latin typeface="Segoe UI" pitchFamily="34" charset="0"/>
                          <a:ea typeface="Segoe UI" pitchFamily="34" charset="-122"/>
                          <a:cs typeface="Segoe UI" pitchFamily="34" charset="-120"/>
                        </a:rPr>
                        <a:t>, mise en concurrence ou marché. Pour la planification, le sous-type — PPM ou PPM-AGPM — est déduit par le serveur ; pour les deux autres, il est choisi parmi les sous-types du manuel de contrôle. Les actes de gestion contractuelle (avenant, résiliation…) ne se créent pas ici : ils se déposent depuis le marché qu’ils concernent.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(5/16)</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Saisir, c’est créer le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saisie crée le dossier au statut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propriété de la PRMP, et son contenu en une seule opération. La PRMP choisit l’entité parmi ses entités actives, et cette entité fixe la localité du dossier. Les identifiants sont attribués par le serveur.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L’import PDF pré-remplit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L’import lit le plan en PDF et propose l’exercice, l’autorité contractante, les lignes, leurs étapes et leurs lots. Il </a:t>
                      </a:r>
                      <a:pPr indent="0" marL="0">
                        <a:buNone/>
                      </a:pPr>
                      <a:r>
                        <a:rPr lang="en-US" sz="1100" b="1" dirty="0">
                          <a:solidFill>
                            <a:srgbClr val="1B2A3A"/>
                          </a:solidFill>
                          <a:latin typeface="Segoe UI" pitchFamily="34" charset="0"/>
                          <a:ea typeface="Segoe UI" pitchFamily="34" charset="-122"/>
                          <a:cs typeface="Segoe UI" pitchFamily="34" charset="-120"/>
                        </a:rPr>
                        <a:t>ne crée rien</a:t>
                      </a:r>
                      <a:pPr indent="0" marL="0">
                        <a:buNone/>
                      </a:pPr>
                      <a:r>
                        <a:rPr lang="en-US" sz="1100" dirty="0">
                          <a:solidFill>
                            <a:srgbClr val="1B2A3A"/>
                          </a:solidFill>
                          <a:latin typeface="Segoe UI" pitchFamily="34" charset="0"/>
                          <a:ea typeface="Segoe UI" pitchFamily="34" charset="-122"/>
                          <a:cs typeface="Segoe UI" pitchFamily="34" charset="-120"/>
                        </a:rPr>
                        <a:t> : la PRMP vérifie, complète puis crée le dossier. Les incohérences sont signalées, ligne par ligne.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mode de passation saisi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passation est </a:t>
                      </a:r>
                      <a:pPr indent="0" marL="0">
                        <a:buNone/>
                      </a:pPr>
                      <a:r>
                        <a:rPr lang="en-US" sz="1100" b="1" dirty="0">
                          <a:solidFill>
                            <a:srgbClr val="1B2A3A"/>
                          </a:solidFill>
                          <a:latin typeface="Segoe UI" pitchFamily="34" charset="0"/>
                          <a:ea typeface="Segoe UI" pitchFamily="34" charset="-122"/>
                          <a:cs typeface="Segoe UI" pitchFamily="34" charset="-120"/>
                        </a:rPr>
                        <a:t>purement saisi</a:t>
                      </a:r>
                      <a:pPr indent="0" marL="0">
                        <a:buNone/>
                      </a:pPr>
                      <a:r>
                        <a:rPr lang="en-US" sz="1100" dirty="0">
                          <a:solidFill>
                            <a:srgbClr val="1B2A3A"/>
                          </a:solidFill>
                          <a:latin typeface="Segoe UI" pitchFamily="34" charset="0"/>
                          <a:ea typeface="Segoe UI" pitchFamily="34" charset="-122"/>
                          <a:cs typeface="Segoe UI" pitchFamily="34" charset="-120"/>
                        </a:rPr>
                        <a:t> par la PRMP ou repris de l’import, et conservé tel quel : aucune détermination automatique, aucun refus par seuil. Les montants des lignes sont saisis hors taxes.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 appel d’offres appelle l’AGPM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plan comptant un marché en </a:t>
                      </a:r>
                      <a:pPr indent="0" marL="0">
                        <a:buNone/>
                      </a:pPr>
                      <a:r>
                        <a:rPr lang="en-US" sz="1100" b="1" dirty="0">
                          <a:solidFill>
                            <a:srgbClr val="1B2A3A"/>
                          </a:solidFill>
                          <a:latin typeface="Segoe UI" pitchFamily="34" charset="0"/>
                          <a:ea typeface="Segoe UI" pitchFamily="34" charset="-122"/>
                          <a:cs typeface="Segoe UI" pitchFamily="34" charset="-120"/>
                        </a:rPr>
                        <a:t>appel d’offres</a:t>
                      </a:r>
                      <a:pPr indent="0" marL="0">
                        <a:buNone/>
                      </a:pPr>
                      <a:r>
                        <a:rPr lang="en-US" sz="1100" dirty="0">
                          <a:solidFill>
                            <a:srgbClr val="1B2A3A"/>
                          </a:solidFill>
                          <a:latin typeface="Segoe UI" pitchFamily="34" charset="0"/>
                          <a:ea typeface="Segoe UI" pitchFamily="34" charset="-122"/>
                          <a:cs typeface="Segoe UI" pitchFamily="34" charset="-120"/>
                        </a:rPr>
                        <a:t>, quelle qu’en soit la variante, devient PPM-AGPM. L’appel à manifestation d’intérêt ne le déclenche qu’au-delà d’un seuil administrable, apprécié marché par marché. La référence du dossier suit le sous-type.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bénéficiaires couvrent la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somme des montants par service bénéficiaire doit égaler le </a:t>
                      </a:r>
                      <a:pPr indent="0" marL="0">
                        <a:buNone/>
                      </a:pPr>
                      <a:r>
                        <a:rPr lang="en-US" sz="1100" b="1" dirty="0">
                          <a:solidFill>
                            <a:srgbClr val="1B2A3A"/>
                          </a:solidFill>
                          <a:latin typeface="Segoe UI" pitchFamily="34" charset="0"/>
                          <a:ea typeface="Segoe UI" pitchFamily="34" charset="-122"/>
                          <a:cs typeface="Segoe UI" pitchFamily="34" charset="-120"/>
                        </a:rPr>
                        <a:t>montant du marché</a:t>
                      </a:r>
                      <a:pPr indent="0" marL="0">
                        <a:buNone/>
                      </a:pPr>
                      <a:r>
                        <a:rPr lang="en-US" sz="1100" dirty="0">
                          <a:solidFill>
                            <a:srgbClr val="1B2A3A"/>
                          </a:solidFill>
                          <a:latin typeface="Segoe UI" pitchFamily="34" charset="0"/>
                          <a:ea typeface="Segoe UI" pitchFamily="34" charset="-122"/>
                          <a:cs typeface="Segoe UI" pitchFamily="34" charset="-120"/>
                        </a:rPr>
                        <a:t>. La règle est vérifiée à chaque enregistrement de la grille ; un import la signale sans rejeter, et ne complète seul qu’une ligne à un unique bénéficiaire.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(6/16)</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justifications de la fiche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marché en </a:t>
                      </a:r>
                      <a:pPr indent="0" marL="0">
                        <a:buNone/>
                      </a:pPr>
                      <a:r>
                        <a:rPr lang="en-US" sz="1100" b="1" dirty="0">
                          <a:solidFill>
                            <a:srgbClr val="1B2A3A"/>
                          </a:solidFill>
                          <a:latin typeface="Segoe UI" pitchFamily="34" charset="0"/>
                          <a:ea typeface="Segoe UI" pitchFamily="34" charset="-122"/>
                          <a:cs typeface="Segoe UI" pitchFamily="34" charset="-120"/>
                        </a:rPr>
                        <a:t>mode dérogatoire</a:t>
                      </a:r>
                      <a:pPr indent="0" marL="0">
                        <a:buNone/>
                      </a:pPr>
                      <a:r>
                        <a:rPr lang="en-US" sz="1100" dirty="0">
                          <a:solidFill>
                            <a:srgbClr val="1B2A3A"/>
                          </a:solidFill>
                          <a:latin typeface="Segoe UI" pitchFamily="34" charset="0"/>
                          <a:ea typeface="Segoe UI" pitchFamily="34" charset="-122"/>
                          <a:cs typeface="Segoe UI" pitchFamily="34" charset="-120"/>
                        </a:rPr>
                        <a:t> ou à délai aménagé porte sa justification ; une justification globale couvre en outre les contrats-cadres. Elles sont exigées à la saisie et à la soumission, et le serveur reclasse lui-même les marchés concernés.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statut de la ligne suit le fait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d’une ligne vient d’un référentiel tenu par l’Administrateur ; « Prévu » est la valeur par défaut et ne peut être supprimé. L’ouverture de la mise en concurrence pose d’elle-même « </a:t>
                      </a:r>
                      <a:pPr indent="0" marL="0">
                        <a:buNone/>
                      </a:pPr>
                      <a:r>
                        <a:rPr lang="en-US" sz="1100" b="1" dirty="0">
                          <a:solidFill>
                            <a:srgbClr val="1B2A3A"/>
                          </a:solidFill>
                          <a:latin typeface="Segoe UI" pitchFamily="34" charset="0"/>
                          <a:ea typeface="Segoe UI" pitchFamily="34" charset="-122"/>
                          <a:cs typeface="Segoe UI" pitchFamily="34" charset="-120"/>
                        </a:rPr>
                        <a:t>Lancé</a:t>
                      </a:r>
                      <a:pPr indent="0" marL="0">
                        <a:buNone/>
                      </a:pPr>
                      <a:r>
                        <a:rPr lang="en-US" sz="1100" dirty="0">
                          <a:solidFill>
                            <a:srgbClr val="1B2A3A"/>
                          </a:solidFill>
                          <a:latin typeface="Segoe UI" pitchFamily="34" charset="0"/>
                          <a:ea typeface="Segoe UI" pitchFamily="34" charset="-122"/>
                          <a:cs typeface="Segoe UI" pitchFamily="34" charset="-120"/>
                        </a:rPr>
                        <a:t> » ; la suppression de la fiche rend « Prévu ». Une ligne lancée ne redevient pas « Prévu » à la main ; « changement de projet » et « déclaré sans suite » restent à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calendrier prévisionnel du mode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marché compte </a:t>
                      </a:r>
                      <a:pPr indent="0" marL="0">
                        <a:buNone/>
                      </a:pPr>
                      <a:r>
                        <a:rPr lang="en-US" sz="1100" b="1" dirty="0">
                          <a:solidFill>
                            <a:srgbClr val="1B2A3A"/>
                          </a:solidFill>
                          <a:latin typeface="Segoe UI" pitchFamily="34" charset="0"/>
                          <a:ea typeface="Segoe UI" pitchFamily="34" charset="-122"/>
                          <a:cs typeface="Segoe UI" pitchFamily="34" charset="-120"/>
                        </a:rPr>
                        <a:t>au moins une étape</a:t>
                      </a:r>
                      <a:pPr indent="0" marL="0">
                        <a:buNone/>
                      </a:pPr>
                      <a:r>
                        <a:rPr lang="en-US" sz="1100" dirty="0">
                          <a:solidFill>
                            <a:srgbClr val="1B2A3A"/>
                          </a:solidFill>
                          <a:latin typeface="Segoe UI" pitchFamily="34" charset="0"/>
                          <a:ea typeface="Segoe UI" pitchFamily="34" charset="-122"/>
                          <a:cs typeface="Segoe UI" pitchFamily="34" charset="-120"/>
                        </a:rPr>
                        <a:t> du calendrier prévisionnel, avec sa date de début ; la date de fin reste facultative. Les étapes proposées sont celles du mode de passation, à défaut celles de son modèle, à défaut les étapes communes.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dates qui s’enchaînent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date de fin suit sa date de début, et chaque étape commence </a:t>
                      </a:r>
                      <a:pPr indent="0" marL="0">
                        <a:buNone/>
                      </a:pPr>
                      <a:r>
                        <a:rPr lang="en-US" sz="1100" b="1" dirty="0">
                          <a:solidFill>
                            <a:srgbClr val="1B2A3A"/>
                          </a:solidFill>
                          <a:latin typeface="Segoe UI" pitchFamily="34" charset="0"/>
                          <a:ea typeface="Segoe UI" pitchFamily="34" charset="-122"/>
                          <a:cs typeface="Segoe UI" pitchFamily="34" charset="-120"/>
                        </a:rPr>
                        <a:t>après la fin</a:t>
                      </a:r>
                      <a:pPr indent="0" marL="0">
                        <a:buNone/>
                      </a:pPr>
                      <a:r>
                        <a:rPr lang="en-US" sz="1100" dirty="0">
                          <a:solidFill>
                            <a:srgbClr val="1B2A3A"/>
                          </a:solidFill>
                          <a:latin typeface="Segoe UI" pitchFamily="34" charset="0"/>
                          <a:ea typeface="Segoe UI" pitchFamily="34" charset="-122"/>
                          <a:cs typeface="Segoe UI" pitchFamily="34" charset="-120"/>
                        </a:rPr>
                        <a:t> de la précédente lorsque celle-ci est connue. Une date de fin absente est ouverte et ne contraint rien.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pièces contrôlées, selon le sous-type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pièces sont des </a:t>
                      </a:r>
                      <a:pPr indent="0" marL="0">
                        <a:buNone/>
                      </a:pPr>
                      <a:r>
                        <a:rPr lang="en-US" sz="1100" b="1" dirty="0">
                          <a:solidFill>
                            <a:srgbClr val="1B2A3A"/>
                          </a:solidFill>
                          <a:latin typeface="Segoe UI" pitchFamily="34" charset="0"/>
                          <a:ea typeface="Segoe UI" pitchFamily="34" charset="-122"/>
                          <a:cs typeface="Segoe UI" pitchFamily="34" charset="-120"/>
                        </a:rPr>
                        <a:t>PDF, JPEG ou PNG</a:t>
                      </a:r>
                      <a:pPr indent="0" marL="0">
                        <a:buNone/>
                      </a:pPr>
                      <a:r>
                        <a:rPr lang="en-US" sz="1100" dirty="0">
                          <a:solidFill>
                            <a:srgbClr val="1B2A3A"/>
                          </a:solidFill>
                          <a:latin typeface="Segoe UI" pitchFamily="34" charset="0"/>
                          <a:ea typeface="Segoe UI" pitchFamily="34" charset="-122"/>
                          <a:cs typeface="Segoe UI" pitchFamily="34" charset="-120"/>
                        </a:rPr>
                        <a:t>, reconnus à leur contenu. Les plans de passation gardent leur liste ; les autres dossiers suivent désormais la liste </a:t>
                      </a:r>
                      <a:pPr indent="0" marL="0">
                        <a:buNone/>
                      </a:pPr>
                      <a:r>
                        <a:rPr lang="en-US" sz="1100" b="1" dirty="0">
                          <a:solidFill>
                            <a:srgbClr val="1B2A3A"/>
                          </a:solidFill>
                          <a:latin typeface="Segoe UI" pitchFamily="34" charset="0"/>
                          <a:ea typeface="Segoe UI" pitchFamily="34" charset="-122"/>
                          <a:cs typeface="Segoe UI" pitchFamily="34" charset="-120"/>
                        </a:rPr>
                        <a:t>propre à leur sous-type</a:t>
                      </a:r>
                      <a:pPr indent="0" marL="0">
                        <a:buNone/>
                      </a:pPr>
                      <a:r>
                        <a:rPr lang="en-US" sz="1100" dirty="0">
                          <a:solidFill>
                            <a:srgbClr val="1B2A3A"/>
                          </a:solidFill>
                          <a:latin typeface="Segoe UI" pitchFamily="34" charset="0"/>
                          <a:ea typeface="Segoe UI" pitchFamily="34" charset="-122"/>
                          <a:cs typeface="Segoe UI" pitchFamily="34" charset="-120"/>
                        </a:rPr>
                        <a:t>, tirée du manuel de contrôle, et la soumission est refusée s’il manque une pièce obligatoire. Le dépôt n’est ouvert qu’en brouillon, à la soumission et pendant les attentes de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(7/16)</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Seule la PRMP soumet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soumission est l’acte de la </a:t>
                      </a:r>
                      <a:pPr indent="0" marL="0">
                        <a:buNone/>
                      </a:pPr>
                      <a:r>
                        <a:rPr lang="en-US" sz="1100" b="1" dirty="0">
                          <a:solidFill>
                            <a:srgbClr val="1B2A3A"/>
                          </a:solidFill>
                          <a:latin typeface="Segoe UI" pitchFamily="34" charset="0"/>
                          <a:ea typeface="Segoe UI" pitchFamily="34" charset="-122"/>
                          <a:cs typeface="Segoe UI" pitchFamily="34" charset="-120"/>
                        </a:rPr>
                        <a:t>PRMP seule</a:t>
                      </a:r>
                      <a:pPr indent="0" marL="0">
                        <a:buNone/>
                      </a:pPr>
                      <a:r>
                        <a:rPr lang="en-US" sz="1100" dirty="0">
                          <a:solidFill>
                            <a:srgbClr val="1B2A3A"/>
                          </a:solidFill>
                          <a:latin typeface="Segoe UI" pitchFamily="34" charset="0"/>
                          <a:ea typeface="Segoe UI" pitchFamily="34" charset="-122"/>
                          <a:cs typeface="Segoe UI" pitchFamily="34" charset="-120"/>
                        </a:rPr>
                        <a:t> : elle attribue la référence du dossier. Un plan sans aucune ligne de marché est refusé. Sans mandat en cours, toute action est suspendue « en attente de nomination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le brouillon se modifie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marché ou un plan ne se supprime qu’en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par sa PRMP, avec ses dates prévisionnelles. Après la soumission, le dossier ne se modifie plus, sauf retour officiel des observations ou retrait accepté.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fin prévue dès le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la soumission, le dossier porte sa </a:t>
                      </a:r>
                      <a:pPr indent="0" marL="0">
                        <a:buNone/>
                      </a:pPr>
                      <a:r>
                        <a:rPr lang="en-US" sz="1100" b="1" dirty="0">
                          <a:solidFill>
                            <a:srgbClr val="1B2A3A"/>
                          </a:solidFill>
                          <a:latin typeface="Segoe UI" pitchFamily="34" charset="0"/>
                          <a:ea typeface="Segoe UI" pitchFamily="34" charset="-122"/>
                          <a:cs typeface="Segoe UI" pitchFamily="34" charset="-120"/>
                        </a:rPr>
                        <a:t>date prévisionnelle de fin</a:t>
                      </a:r>
                      <a:pPr indent="0" marL="0">
                        <a:buNone/>
                      </a:pPr>
                      <a:r>
                        <a:rPr lang="en-US" sz="1100" dirty="0">
                          <a:solidFill>
                            <a:srgbClr val="1B2A3A"/>
                          </a:solidFill>
                          <a:latin typeface="Segoe UI" pitchFamily="34" charset="0"/>
                          <a:ea typeface="Segoe UI" pitchFamily="34" charset="-122"/>
                          <a:cs typeface="Segoe UI" pitchFamily="34" charset="-120"/>
                        </a:rPr>
                        <a:t>, calculée en jours ouvrés ; elle glisse tant que la main est à la PRMP. Depuis le 09/10, l’Administrateur peut régler un délai propre à un sous-type pour une étape, et la date annoncée en tient compte. La frise date chacune des sept étapes franchies.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L’avancement, pas les coulisses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et l’UGPM suivent l’avancement, pas </a:t>
                      </a:r>
                      <a:pPr indent="0" marL="0">
                        <a:buNone/>
                      </a:pPr>
                      <a:r>
                        <a:rPr lang="en-US" sz="1100" b="1" dirty="0">
                          <a:solidFill>
                            <a:srgbClr val="1B2A3A"/>
                          </a:solidFill>
                          <a:latin typeface="Segoe UI" pitchFamily="34" charset="0"/>
                          <a:ea typeface="Segoe UI" pitchFamily="34" charset="-122"/>
                          <a:cs typeface="Segoe UI" pitchFamily="34" charset="-120"/>
                        </a:rPr>
                        <a:t>qui traite</a:t>
                      </a:r>
                      <a:pPr indent="0" marL="0">
                        <a:buNone/>
                      </a:pPr>
                      <a:r>
                        <a:rPr lang="en-US" sz="1100" dirty="0">
                          <a:solidFill>
                            <a:srgbClr val="1B2A3A"/>
                          </a:solidFill>
                          <a:latin typeface="Segoe UI" pitchFamily="34" charset="0"/>
                          <a:ea typeface="Segoe UI" pitchFamily="34" charset="-122"/>
                          <a:cs typeface="Segoe UI" pitchFamily="34" charset="-120"/>
                        </a:rPr>
                        <a:t> : ni journal interne, ni acteurs des étapes. Du PV, elles reçoivent l’avis, la synthèse des observations et le document officiel, jamais le détail point par point.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mise à jour, une nouvelle version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mise à jour ne modifie jamais le plan en place : elle ouvre un </a:t>
                      </a:r>
                      <a:pPr indent="0" marL="0">
                        <a:buNone/>
                      </a:pPr>
                      <a:r>
                        <a:rPr lang="en-US" sz="1100" b="1" dirty="0">
                          <a:solidFill>
                            <a:srgbClr val="1B2A3A"/>
                          </a:solidFill>
                          <a:latin typeface="Segoe UI" pitchFamily="34" charset="0"/>
                          <a:ea typeface="Segoe UI" pitchFamily="34" charset="-122"/>
                          <a:cs typeface="Segoe UI" pitchFamily="34" charset="-120"/>
                        </a:rPr>
                        <a:t>nouveau brouillon</a:t>
                      </a:r>
                      <a:pPr indent="0" marL="0">
                        <a:buNone/>
                      </a:pPr>
                      <a:r>
                        <a:rPr lang="en-US" sz="1100" dirty="0">
                          <a:solidFill>
                            <a:srgbClr val="1B2A3A"/>
                          </a:solidFill>
                          <a:latin typeface="Segoe UI" pitchFamily="34" charset="0"/>
                          <a:ea typeface="Segoe UI" pitchFamily="34" charset="-122"/>
                          <a:cs typeface="Segoe UI" pitchFamily="34" charset="-120"/>
                        </a:rPr>
                        <a:t>, copie complète du précédent, avec un motif obligatoire. Elle n’est possible que sur un plan dont la décision est transmise ou le dossier clôturé, et une seule à la fois.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(8/16)</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Qui prépare, qui valide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a:t>
                      </a:r>
                      <a:pPr indent="0" marL="0">
                        <a:buNone/>
                      </a:pPr>
                      <a:r>
                        <a:rPr lang="en-US" sz="1100" b="1" dirty="0">
                          <a:solidFill>
                            <a:srgbClr val="1B2A3A"/>
                          </a:solidFill>
                          <a:latin typeface="Segoe UI" pitchFamily="34" charset="0"/>
                          <a:ea typeface="Segoe UI" pitchFamily="34" charset="-122"/>
                          <a:cs typeface="Segoe UI" pitchFamily="34" charset="-120"/>
                        </a:rPr>
                        <a:t>PRMP propriétaire du plan et son UGPM</a:t>
                      </a:r>
                      <a:pPr indent="0" marL="0">
                        <a:buNone/>
                      </a:pPr>
                      <a:r>
                        <a:rPr lang="en-US" sz="1100" dirty="0">
                          <a:solidFill>
                            <a:srgbClr val="1B2A3A"/>
                          </a:solidFill>
                          <a:latin typeface="Segoe UI" pitchFamily="34" charset="0"/>
                          <a:ea typeface="Segoe UI" pitchFamily="34" charset="-122"/>
                          <a:cs typeface="Segoe UI" pitchFamily="34" charset="-120"/>
                        </a:rPr>
                        <a:t> préparent. La </a:t>
                      </a:r>
                      <a:pPr indent="0" marL="0">
                        <a:buNone/>
                      </a:pPr>
                      <a:r>
                        <a:rPr lang="en-US" sz="1100" b="1" dirty="0">
                          <a:solidFill>
                            <a:srgbClr val="1B2A3A"/>
                          </a:solidFill>
                          <a:latin typeface="Segoe UI" pitchFamily="34" charset="0"/>
                          <a:ea typeface="Segoe UI" pitchFamily="34" charset="-122"/>
                          <a:cs typeface="Segoe UI" pitchFamily="34" charset="-120"/>
                        </a:rPr>
                        <a:t>PRMP seule</a:t>
                      </a:r>
                      <a:pPr indent="0" marL="0">
                        <a:buNone/>
                      </a:pPr>
                      <a:r>
                        <a:rPr lang="en-US" sz="1100" dirty="0">
                          <a:solidFill>
                            <a:srgbClr val="1B2A3A"/>
                          </a:solidFill>
                          <a:latin typeface="Segoe UI" pitchFamily="34" charset="0"/>
                          <a:ea typeface="Segoe UI" pitchFamily="34" charset="-122"/>
                          <a:cs typeface="Segoe UI" pitchFamily="34" charset="-120"/>
                        </a:rPr>
                        <a:t> valide la fiche et crée le dossier à soumettre.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pour ouvrir une fiche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ligne doit appartenir au périmètre de la PRMP (sinon elle n’apprend rien d’autre), sans vacance de son mandat ; ne pas être retirée ; appartenir à la dernière version du plan ; avoir un mode de passation qui appelle un DAO ; et le plan doit avoir un </a:t>
                      </a:r>
                      <a:pPr indent="0" marL="0">
                        <a:buNone/>
                      </a:pPr>
                      <a:r>
                        <a:rPr lang="en-US" sz="1100" b="1" dirty="0">
                          <a:solidFill>
                            <a:srgbClr val="1B2A3A"/>
                          </a:solidFill>
                          <a:latin typeface="Segoe UI" pitchFamily="34" charset="0"/>
                          <a:ea typeface="Segoe UI" pitchFamily="34" charset="-122"/>
                          <a:cs typeface="Segoe UI" pitchFamily="34" charset="-120"/>
                        </a:rPr>
                        <a:t>PV signé favorable</a:t>
                      </a:r>
                      <a:pPr indent="0" marL="0">
                        <a:buNone/>
                      </a:pPr>
                      <a:r>
                        <a:rPr lang="en-US" sz="1100" dirty="0">
                          <a:solidFill>
                            <a:srgbClr val="1B2A3A"/>
                          </a:solidFill>
                          <a:latin typeface="Segoe UI" pitchFamily="34" charset="0"/>
                          <a:ea typeface="Segoe UI" pitchFamily="34" charset="-122"/>
                          <a:cs typeface="Segoe UI" pitchFamily="34" charset="-120"/>
                        </a:rPr>
                        <a:t> (ou favorable avec réserves levées), ou être réputé approuvé (art. 26-IV). Une seule fiche par ligne.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mode de passation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Il doit être rattaché au type « appel d’offres » par l’Administrateur. Depuis le 08/10, le mode « Appel à manifestation d’intérêt » l’est aussi : les lignes de prestations intellectuelles en AMI ouvrent leur fiche comme les autres.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ligne à travers les versions du plan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suit sa ligne jusqu’à la </a:t>
                      </a:r>
                      <a:pPr indent="0" marL="0">
                        <a:buNone/>
                      </a:pPr>
                      <a:r>
                        <a:rPr lang="en-US" sz="1100" b="1" dirty="0">
                          <a:solidFill>
                            <a:srgbClr val="1B2A3A"/>
                          </a:solidFill>
                          <a:latin typeface="Segoe UI" pitchFamily="34" charset="0"/>
                          <a:ea typeface="Segoe UI" pitchFamily="34" charset="-122"/>
                          <a:cs typeface="Segoe UI" pitchFamily="34" charset="-120"/>
                        </a:rPr>
                        <a:t>dernière version signée</a:t>
                      </a:r>
                      <a:pPr indent="0" marL="0">
                        <a:buNone/>
                      </a:pPr>
                      <a:r>
                        <a:rPr lang="en-US" sz="1100" dirty="0">
                          <a:solidFill>
                            <a:srgbClr val="1B2A3A"/>
                          </a:solidFill>
                          <a:latin typeface="Segoe UI" pitchFamily="34" charset="0"/>
                          <a:ea typeface="Segoe UI" pitchFamily="34" charset="-122"/>
                          <a:cs typeface="Segoe UI" pitchFamily="34" charset="-120"/>
                        </a:rPr>
                        <a:t> du plan ; une mise à jour encore en instruction ne la change pas. Une ligne retirée entre-temps est signalée.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catégorie = la nature de la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services, travaux, ou prestations intellectuelles : la catégorie se déduit de la nature de la ligne, selon la correspondance que tient l’Administrateur ; ce n’est jamais une réponse du cadrage. Sans nature, ou sans correspondance, la création est refusée avec son motif.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(9/16)</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forme = la forme de la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Quantité fixe, à commandes ou contrat-cadre : la forme est lue sur la ligne courante du plan et figure parmi les informations reprises ; la question n’est plus posée au cadrage.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cadrage ouvre et ferme des rubriques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peut dépendre d’une réponse du cadrage. Si la condition n’est pas remplie, ou si la question est sans réponse, l’information est ignorée et n’entre pas dans le bilan.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Fixé dès la première validation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remise des offres — papier ou électronique — est celui du cadrage ; dès qu’une version de la fiche est validée, il </a:t>
                      </a:r>
                      <a:pPr indent="0" marL="0">
                        <a:buNone/>
                      </a:pPr>
                      <a:r>
                        <a:rPr lang="en-US" sz="1100" b="1" dirty="0">
                          <a:solidFill>
                            <a:srgbClr val="1B2A3A"/>
                          </a:solidFill>
                          <a:latin typeface="Segoe UI" pitchFamily="34" charset="0"/>
                          <a:ea typeface="Segoe UI" pitchFamily="34" charset="-122"/>
                          <a:cs typeface="Segoe UI" pitchFamily="34" charset="-120"/>
                        </a:rPr>
                        <a:t>ne change plus</a:t>
                      </a:r>
                      <a:pPr indent="0" marL="0">
                        <a:buNone/>
                      </a:pPr>
                      <a:r>
                        <a:rPr lang="en-US" sz="1100" dirty="0">
                          <a:solidFill>
                            <a:srgbClr val="1B2A3A"/>
                          </a:solidFill>
                          <a:latin typeface="Segoe UI" pitchFamily="34" charset="0"/>
                          <a:ea typeface="Segoe UI" pitchFamily="34" charset="-122"/>
                          <a:cs typeface="Segoe UI" pitchFamily="34" charset="-120"/>
                        </a:rPr>
                        <a:t> : une procédure commencée sur papier s’achève sur papier, et inversement. La révision recopie le mode.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Enregistrer n’est pas valider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bloc s’enregistre </a:t>
                      </a:r>
                      <a:pPr indent="0" marL="0">
                        <a:buNone/>
                      </a:pPr>
                      <a:r>
                        <a:rPr lang="en-US" sz="1100" b="1" dirty="0">
                          <a:solidFill>
                            <a:srgbClr val="1B2A3A"/>
                          </a:solidFill>
                          <a:latin typeface="Segoe UI" pitchFamily="34" charset="0"/>
                          <a:ea typeface="Segoe UI" pitchFamily="34" charset="-122"/>
                          <a:cs typeface="Segoe UI" pitchFamily="34" charset="-120"/>
                        </a:rPr>
                        <a:t>incomplet</a:t>
                      </a:r>
                      <a:pPr indent="0" marL="0">
                        <a:buNone/>
                      </a:pPr>
                      <a:r>
                        <a:rPr lang="en-US" sz="1100" dirty="0">
                          <a:solidFill>
                            <a:srgbClr val="1B2A3A"/>
                          </a:solidFill>
                          <a:latin typeface="Segoe UI" pitchFamily="34" charset="0"/>
                          <a:ea typeface="Segoe UI" pitchFamily="34" charset="-122"/>
                          <a:cs typeface="Segoe UI" pitchFamily="34" charset="-120"/>
                        </a:rPr>
                        <a:t>. Une valeur illisible (montant négatif, option inconnue) est refusée information par information ; une information obligatoire manquante ne bloque qu’au bilan.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On ne demande que ce qui sert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ne demande que ce que le dossier </a:t>
                      </a:r>
                      <a:pPr indent="0" marL="0">
                        <a:buNone/>
                      </a:pPr>
                      <a:r>
                        <a:rPr lang="en-US" sz="1100" b="1" dirty="0">
                          <a:solidFill>
                            <a:srgbClr val="1B2A3A"/>
                          </a:solidFill>
                          <a:latin typeface="Segoe UI" pitchFamily="34" charset="0"/>
                          <a:ea typeface="Segoe UI" pitchFamily="34" charset="-122"/>
                          <a:cs typeface="Segoe UI" pitchFamily="34" charset="-120"/>
                        </a:rPr>
                        <a:t>imprime</a:t>
                      </a:r>
                      <a:pPr indent="0" marL="0">
                        <a:buNone/>
                      </a:pPr>
                      <a:r>
                        <a:rPr lang="en-US" sz="1100" dirty="0">
                          <a:solidFill>
                            <a:srgbClr val="1B2A3A"/>
                          </a:solidFill>
                          <a:latin typeface="Segoe UI" pitchFamily="34" charset="0"/>
                          <a:ea typeface="Segoe UI" pitchFamily="34" charset="-122"/>
                          <a:cs typeface="Segoe UI" pitchFamily="34" charset="-120"/>
                        </a:rPr>
                        <a:t> ou ce qu’un </a:t>
                      </a:r>
                      <a:pPr indent="0" marL="0">
                        <a:buNone/>
                      </a:pPr>
                      <a:r>
                        <a:rPr lang="en-US" sz="1100" b="1" dirty="0">
                          <a:solidFill>
                            <a:srgbClr val="1B2A3A"/>
                          </a:solidFill>
                          <a:latin typeface="Segoe UI" pitchFamily="34" charset="0"/>
                          <a:ea typeface="Segoe UI" pitchFamily="34" charset="-122"/>
                          <a:cs typeface="Segoe UI" pitchFamily="34" charset="-120"/>
                        </a:rPr>
                        <a:t>contrôle lit</a:t>
                      </a:r>
                      <a:pPr indent="0" marL="0">
                        <a:buNone/>
                      </a:pPr>
                      <a:r>
                        <a:rPr lang="en-US" sz="1100" dirty="0">
                          <a:solidFill>
                            <a:srgbClr val="1B2A3A"/>
                          </a:solidFill>
                          <a:latin typeface="Segoe UI" pitchFamily="34" charset="0"/>
                          <a:ea typeface="Segoe UI" pitchFamily="34" charset="-122"/>
                          <a:cs typeface="Segoe UI" pitchFamily="34" charset="-120"/>
                        </a:rPr>
                        <a:t> : 25 informations retirées en fournitures, 17 en travaux (61 en contrat-cadre de travaux), 13 en prestations intellectuelles. Rien de ce qui avait été saisi n’est perdu.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(10/16)</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qui varie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montant de la garantie de soumission, les montants minimum et maximum, le délai de livraison, le besoin… Le nombre de lots est celui du </a:t>
                      </a:r>
                      <a:pPr indent="0" marL="0">
                        <a:buNone/>
                      </a:pPr>
                      <a:r>
                        <a:rPr lang="en-US" sz="1100" b="1" dirty="0">
                          <a:solidFill>
                            <a:srgbClr val="1B2A3A"/>
                          </a:solidFill>
                          <a:latin typeface="Segoe UI" pitchFamily="34" charset="0"/>
                          <a:ea typeface="Segoe UI" pitchFamily="34" charset="-122"/>
                          <a:cs typeface="Segoe UI" pitchFamily="34" charset="-120"/>
                        </a:rPr>
                        <a:t>plan</a:t>
                      </a:r>
                      <a:pPr indent="0" marL="0">
                        <a:buNone/>
                      </a:pPr>
                      <a:r>
                        <a:rPr lang="en-US" sz="1100" dirty="0">
                          <a:solidFill>
                            <a:srgbClr val="1B2A3A"/>
                          </a:solidFill>
                          <a:latin typeface="Segoe UI" pitchFamily="34" charset="0"/>
                          <a:ea typeface="Segoe UI" pitchFamily="34" charset="-122"/>
                          <a:cs typeface="Segoe UI" pitchFamily="34" charset="-120"/>
                        </a:rPr>
                        <a:t> : la fiche n’en invente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Obligatoire pour chaque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obligatoire par lot l’est pour </a:t>
                      </a:r>
                      <a:pPr indent="0" marL="0">
                        <a:buNone/>
                      </a:pPr>
                      <a:r>
                        <a:rPr lang="en-US" sz="1100" b="1" dirty="0">
                          <a:solidFill>
                            <a:srgbClr val="1B2A3A"/>
                          </a:solidFill>
                          <a:latin typeface="Segoe UI" pitchFamily="34" charset="0"/>
                          <a:ea typeface="Segoe UI" pitchFamily="34" charset="-122"/>
                          <a:cs typeface="Segoe UI" pitchFamily="34" charset="-120"/>
                        </a:rPr>
                        <a:t>chaque</a:t>
                      </a:r>
                      <a:pPr indent="0" marL="0">
                        <a:buNone/>
                      </a:pPr>
                      <a:r>
                        <a:rPr lang="en-US" sz="1100" dirty="0">
                          <a:solidFill>
                            <a:srgbClr val="1B2A3A"/>
                          </a:solidFill>
                          <a:latin typeface="Segoe UI" pitchFamily="34" charset="0"/>
                          <a:ea typeface="Segoe UI" pitchFamily="34" charset="-122"/>
                          <a:cs typeface="Segoe UI" pitchFamily="34" charset="-120"/>
                        </a:rPr>
                        <a:t> lot : la fiche ne se valide pas tant qu’un lot en manque, et le bilan dit lequel.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document type de l’ARMP, rempli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texte fixe est repris tel quel, les blancs remplis par la fiche ; les variantes de rédaction sont choisies par des </a:t>
                      </a:r>
                      <a:pPr indent="0" marL="0">
                        <a:buNone/>
                      </a:pPr>
                      <a:r>
                        <a:rPr lang="en-US" sz="1100" b="1" dirty="0">
                          <a:solidFill>
                            <a:srgbClr val="1B2A3A"/>
                          </a:solidFill>
                          <a:latin typeface="Segoe UI" pitchFamily="34" charset="0"/>
                          <a:ea typeface="Segoe UI" pitchFamily="34" charset="-122"/>
                          <a:cs typeface="Segoe UI" pitchFamily="34" charset="-120"/>
                        </a:rPr>
                        <a:t>conditions écrites dans le modèle</a:t>
                      </a:r>
                      <a:pPr indent="0" marL="0">
                        <a:buNone/>
                      </a:pPr>
                      <a:r>
                        <a:rPr lang="en-US" sz="1100" dirty="0">
                          <a:solidFill>
                            <a:srgbClr val="1B2A3A"/>
                          </a:solidFill>
                          <a:latin typeface="Segoe UI" pitchFamily="34" charset="0"/>
                          <a:ea typeface="Segoe UI" pitchFamily="34" charset="-122"/>
                          <a:cs typeface="Segoe UI" pitchFamily="34" charset="-120"/>
                        </a:rPr>
                        <a:t>. Ce que remplissent le candidat ou la notification reste à compléter. Un modèle illisible empêche le démarrage : un document ne sort jamais faux en silence.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règles de la catégorie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fiche se valide avec les règles de </a:t>
                      </a:r>
                      <a:pPr indent="0" marL="0">
                        <a:buNone/>
                      </a:pPr>
                      <a:r>
                        <a:rPr lang="en-US" sz="1100" b="1" dirty="0">
                          <a:solidFill>
                            <a:srgbClr val="1B2A3A"/>
                          </a:solidFill>
                          <a:latin typeface="Segoe UI" pitchFamily="34" charset="0"/>
                          <a:ea typeface="Segoe UI" pitchFamily="34" charset="-122"/>
                          <a:cs typeface="Segoe UI" pitchFamily="34" charset="-120"/>
                        </a:rPr>
                        <a:t>sa</a:t>
                      </a:r>
                      <a:pPr indent="0" marL="0">
                        <a:buNone/>
                      </a:pPr>
                      <a:r>
                        <a:rPr lang="en-US" sz="1100" dirty="0">
                          <a:solidFill>
                            <a:srgbClr val="1B2A3A"/>
                          </a:solidFill>
                          <a:latin typeface="Segoe UI" pitchFamily="34" charset="0"/>
                          <a:ea typeface="Segoe UI" pitchFamily="34" charset="-122"/>
                          <a:cs typeface="Segoe UI" pitchFamily="34" charset="-120"/>
                        </a:rPr>
                        <a:t> catégorie : quand deux catégories posent la même question (allotissement, forme de prix…), c’est la définition de la catégorie de la fiche qui s’applique.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besoin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services : article par article, lot par lot (désignation, unité, quantités, caractéristiques exigées). Travaux : le détail quantitatif et estimatif, par séries. Prestations intellectuelles : pas de besoin par article. La fiche ne se valide pas sans besoin complet.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(11/16)</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formulaires du candidat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Produits sur les modèles officiels, seuls les blancs remplis : fiches de renseignements une fois pour le dossier ; modèles de garantie une fois par lot, au montant du lot. Le bordereau des prix et le tableau de conformité sont générés depuis le besoin.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pièce ne s’imprime qu’une fois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liste des pièces de l’offre est saisie, le texte libre de la même rubrique n’est plus imprimé. En remise électronique, la liste est exigée : le candidat joint un fichier par pièce.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spécifications techniques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document Word joint par la PRMP ou son UGPM (20 Mo au plus, sans macros), figé à la validation et recopié à la révision. Tant qu’il manque, un </a:t>
                      </a:r>
                      <a:pPr indent="0" marL="0">
                        <a:buNone/>
                      </a:pPr>
                      <a:r>
                        <a:rPr lang="en-US" sz="1100" b="1" dirty="0">
                          <a:solidFill>
                            <a:srgbClr val="1B2A3A"/>
                          </a:solidFill>
                          <a:latin typeface="Segoe UI" pitchFamily="34" charset="0"/>
                          <a:ea typeface="Segoe UI" pitchFamily="34" charset="-122"/>
                          <a:cs typeface="Segoe UI" pitchFamily="34" charset="-120"/>
                        </a:rPr>
                        <a:t>avertissement</a:t>
                      </a:r>
                      <a:pPr indent="0" marL="0">
                        <a:buNone/>
                      </a:pPr>
                      <a:r>
                        <a:rPr lang="en-US" sz="1100" dirty="0">
                          <a:solidFill>
                            <a:srgbClr val="1B2A3A"/>
                          </a:solidFill>
                          <a:latin typeface="Segoe UI" pitchFamily="34" charset="0"/>
                          <a:ea typeface="Segoe UI" pitchFamily="34" charset="-122"/>
                          <a:cs typeface="Segoe UI" pitchFamily="34" charset="-120"/>
                        </a:rPr>
                        <a:t>, non bloquant, le rappelle.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fiche par dossier, versionnée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appel d’offres a sa fiche, rattachée à une ligne du plan. Les informations reprises du plan sont </a:t>
                      </a:r>
                      <a:pPr indent="0" marL="0">
                        <a:buNone/>
                      </a:pPr>
                      <a:r>
                        <a:rPr lang="en-US" sz="1100" b="1" dirty="0">
                          <a:solidFill>
                            <a:srgbClr val="1B2A3A"/>
                          </a:solidFill>
                          <a:latin typeface="Segoe UI" pitchFamily="34" charset="0"/>
                          <a:ea typeface="Segoe UI" pitchFamily="34" charset="-122"/>
                          <a:cs typeface="Segoe UI" pitchFamily="34" charset="-120"/>
                        </a:rPr>
                        <a:t>relues à chaque ouverture</a:t>
                      </a:r>
                      <a:pPr indent="0" marL="0">
                        <a:buNone/>
                      </a:pPr>
                      <a:r>
                        <a:rPr lang="en-US" sz="1100" dirty="0">
                          <a:solidFill>
                            <a:srgbClr val="1B2A3A"/>
                          </a:solidFill>
                          <a:latin typeface="Segoe UI" pitchFamily="34" charset="0"/>
                          <a:ea typeface="Segoe UI" pitchFamily="34" charset="-122"/>
                          <a:cs typeface="Segoe UI" pitchFamily="34" charset="-120"/>
                        </a:rPr>
                        <a:t> : elles se corrigent dans le plan, jamais dans la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bilan des contrôles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Recalculé à chaque ouverture : informations obligatoires, montants positifs, ordre des dates, garantie valable plus longtemps que les offres, avance d’au plus 20 % et garantie de restitution au-delà de 5 %, paiement du forfait 60/40 ; s’y ajoutent des avertissements. Un contrôle bloquant ferme la validation.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(12/16)</a:t>
            </a:r>
            <a:endParaRPr lang="en-US" sz="2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garantie de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Plusieurs formes peuvent être admises (au moins une si la garantie est exigée) ; le candidat choisit. Son taux, rapporté au montant de chaque lot, est comparé aux bornes réglées par l’Administrateur (référence 2 %) : un </a:t>
                      </a:r>
                      <a:pPr indent="0" marL="0">
                        <a:buNone/>
                      </a:pPr>
                      <a:r>
                        <a:rPr lang="en-US" sz="1100" b="1" dirty="0">
                          <a:solidFill>
                            <a:srgbClr val="1B2A3A"/>
                          </a:solidFill>
                          <a:latin typeface="Segoe UI" pitchFamily="34" charset="0"/>
                          <a:ea typeface="Segoe UI" pitchFamily="34" charset="-122"/>
                          <a:cs typeface="Segoe UI" pitchFamily="34" charset="-120"/>
                        </a:rPr>
                        <a:t>avertissement</a:t>
                      </a:r>
                      <a:pPr indent="0" marL="0">
                        <a:buNone/>
                      </a:pPr>
                      <a:r>
                        <a:rPr lang="en-US" sz="1100" dirty="0">
                          <a:solidFill>
                            <a:srgbClr val="1B2A3A"/>
                          </a:solidFill>
                          <a:latin typeface="Segoe UI" pitchFamily="34" charset="0"/>
                          <a:ea typeface="Segoe UI" pitchFamily="34" charset="-122"/>
                          <a:cs typeface="Segoe UI" pitchFamily="34" charset="-120"/>
                        </a:rPr>
                        <a:t>, jamais un blocage.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de publicité de la loi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Entre la publication de l’avis et la date limite de remise, la loi impose 30 jours pour l’appel d’offres ouvert national et 45 jours pour l’international (art. 35-II), le jour de départ non compté. Le délai est vérifié à la </a:t>
                      </a:r>
                      <a:pPr indent="0" marL="0">
                        <a:buNone/>
                      </a:pPr>
                      <a:r>
                        <a:rPr lang="en-US" sz="1100" b="1" dirty="0">
                          <a:solidFill>
                            <a:srgbClr val="1B2A3A"/>
                          </a:solidFill>
                          <a:latin typeface="Segoe UI" pitchFamily="34" charset="0"/>
                          <a:ea typeface="Segoe UI" pitchFamily="34" charset="-122"/>
                          <a:cs typeface="Segoe UI" pitchFamily="34" charset="-120"/>
                        </a:rPr>
                        <a:t>validation de la fiche</a:t>
                      </a:r>
                      <a:pPr indent="0" marL="0">
                        <a:buNone/>
                      </a:pPr>
                      <a:r>
                        <a:rPr lang="en-US" sz="1100" dirty="0">
                          <a:solidFill>
                            <a:srgbClr val="1B2A3A"/>
                          </a:solidFill>
                          <a:latin typeface="Segoe UI" pitchFamily="34" charset="0"/>
                          <a:ea typeface="Segoe UI" pitchFamily="34" charset="-122"/>
                          <a:cs typeface="Segoe UI" pitchFamily="34" charset="-120"/>
                        </a:rPr>
                        <a:t> et à l’</a:t>
                      </a:r>
                      <a:pPr indent="0" marL="0">
                        <a:buNone/>
                      </a:pPr>
                      <a:r>
                        <a:rPr lang="en-US" sz="1100" b="1" dirty="0">
                          <a:solidFill>
                            <a:srgbClr val="1B2A3A"/>
                          </a:solidFill>
                          <a:latin typeface="Segoe UI" pitchFamily="34" charset="0"/>
                          <a:ea typeface="Segoe UI" pitchFamily="34" charset="-122"/>
                          <a:cs typeface="Segoe UI" pitchFamily="34" charset="-120"/>
                        </a:rPr>
                        <a:t>impression de l’avis</a:t>
                      </a:r>
                      <a:pPr indent="0" marL="0">
                        <a:buNone/>
                      </a:pPr>
                      <a:r>
                        <a:rPr lang="en-US" sz="1100" dirty="0">
                          <a:solidFill>
                            <a:srgbClr val="1B2A3A"/>
                          </a:solidFill>
                          <a:latin typeface="Segoe UI" pitchFamily="34" charset="0"/>
                          <a:ea typeface="Segoe UI" pitchFamily="34" charset="-122"/>
                          <a:cs typeface="Segoe UI" pitchFamily="34" charset="-120"/>
                        </a:rPr>
                        <a:t> : non respecté, il refuse l’une et l’autre.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du document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Page de garde, sommaire général, deux parties : 1.1 instructions aux candidats, 1.2 données particulières, 1.3 formulaires ; 2.1 acte d’engagement lot par lot, 2.2 cahier des prescriptions spéciales, spécifications techniques et liste des fournitures, 2.3 CCAG. Il est produit à chaque validation, en Word et en PDF.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Il assemble, il ne réécrit rien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partie est le document que la fiche produit déjà. La page de garde lit sur le plan le financement, l’imputation et le compte.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d’appel d’offres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Désignée par la </a:t>
                      </a:r>
                      <a:pPr indent="0" marL="0">
                        <a:buNone/>
                      </a:pPr>
                      <a:r>
                        <a:rPr lang="en-US" sz="1100" b="1" dirty="0">
                          <a:solidFill>
                            <a:srgbClr val="1B2A3A"/>
                          </a:solidFill>
                          <a:latin typeface="Segoe UI" pitchFamily="34" charset="0"/>
                          <a:ea typeface="Segoe UI" pitchFamily="34" charset="-122"/>
                          <a:cs typeface="Segoe UI" pitchFamily="34" charset="-120"/>
                        </a:rPr>
                        <a:t>PRMP</a:t>
                      </a:r>
                      <a:pPr indent="0" marL="0">
                        <a:buNone/>
                      </a:pPr>
                      <a:r>
                        <a:rPr lang="en-US" sz="1100" dirty="0">
                          <a:solidFill>
                            <a:srgbClr val="1B2A3A"/>
                          </a:solidFill>
                          <a:latin typeface="Segoe UI" pitchFamily="34" charset="0"/>
                          <a:ea typeface="Segoe UI" pitchFamily="34" charset="-122"/>
                          <a:cs typeface="Segoe UI" pitchFamily="34" charset="-120"/>
                        </a:rPr>
                        <a:t> par une décision, saisie par elle ou son UGPM : une commission par appel d’offres, au moins deux membres, un seul président, au plus un expert de l’objet. Ses membres détiennent chacun une part de la clé qui ouvrira les offres ; PRMP, UGPM, contrôleurs de la CNM et candidats en sont exclus.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(13/16)</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après paiement vérifié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fixe des frais de dossier, le candidat ne retire le DAO qu’après avoir déposé le reçu de son versement sur le compte de l’ARMP, et que la </a:t>
                      </a:r>
                      <a:pPr indent="0" marL="0">
                        <a:buNone/>
                      </a:pPr>
                      <a:r>
                        <a:rPr lang="en-US" sz="1100" b="1" dirty="0">
                          <a:solidFill>
                            <a:srgbClr val="1B2A3A"/>
                          </a:solidFill>
                          <a:latin typeface="Segoe UI" pitchFamily="34" charset="0"/>
                          <a:ea typeface="Segoe UI" pitchFamily="34" charset="-122"/>
                          <a:cs typeface="Segoe UI" pitchFamily="34" charset="-120"/>
                        </a:rPr>
                        <a:t>PRMP ou son UGPM l’a validé</a:t>
                      </a:r>
                      <a:pPr indent="0" marL="0">
                        <a:buNone/>
                      </a:pPr>
                      <a:r>
                        <a:rPr lang="en-US" sz="1100" dirty="0">
                          <a:solidFill>
                            <a:srgbClr val="1B2A3A"/>
                          </a:solidFill>
                          <a:latin typeface="Segoe UI" pitchFamily="34" charset="0"/>
                          <a:ea typeface="Segoe UI" pitchFamily="34" charset="-122"/>
                          <a:cs typeface="Segoe UI" pitchFamily="34" charset="-120"/>
                        </a:rPr>
                        <a:t>. Un refus porte un motif. Le reçu vaut pour l’entreprise, pour un ou plusieurs lots. Une décision </a:t>
                      </a:r>
                      <a:pPr indent="0" marL="0">
                        <a:buNone/>
                      </a:pPr>
                      <a:r>
                        <a:rPr lang="en-US" sz="1100" b="1" dirty="0">
                          <a:solidFill>
                            <a:srgbClr val="1B2A3A"/>
                          </a:solidFill>
                          <a:latin typeface="Segoe UI" pitchFamily="34" charset="0"/>
                          <a:ea typeface="Segoe UI" pitchFamily="34" charset="-122"/>
                          <a:cs typeface="Segoe UI" pitchFamily="34" charset="-120"/>
                        </a:rPr>
                        <a:t>ne se reprend pas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Jusqu’à dix jours avant la date limite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a </a:t>
                      </a:r>
                      <a:pPr indent="0" marL="0">
                        <a:buNone/>
                      </a:pPr>
                      <a:r>
                        <a:rPr lang="en-US" sz="1100" b="1" dirty="0">
                          <a:solidFill>
                            <a:srgbClr val="1B2A3A"/>
                          </a:solidFill>
                          <a:latin typeface="Segoe UI" pitchFamily="34" charset="0"/>
                          <a:ea typeface="Segoe UI" pitchFamily="34" charset="-122"/>
                          <a:cs typeface="Segoe UI" pitchFamily="34" charset="-120"/>
                        </a:rPr>
                        <a:t>retiré le DAO</a:t>
                      </a:r>
                      <a:pPr indent="0" marL="0">
                        <a:buNone/>
                      </a:pPr>
                      <a:r>
                        <a:rPr lang="en-US" sz="1100" dirty="0">
                          <a:solidFill>
                            <a:srgbClr val="1B2A3A"/>
                          </a:solidFill>
                          <a:latin typeface="Segoe UI" pitchFamily="34" charset="0"/>
                          <a:ea typeface="Segoe UI" pitchFamily="34" charset="-122"/>
                          <a:cs typeface="Segoe UI" pitchFamily="34" charset="-120"/>
                        </a:rPr>
                        <a:t> d’une procédure en ligne peut poser une question à la PRMP jusqu’à </a:t>
                      </a:r>
                      <a:pPr indent="0" marL="0">
                        <a:buNone/>
                      </a:pPr>
                      <a:r>
                        <a:rPr lang="en-US" sz="1100" b="1" dirty="0">
                          <a:solidFill>
                            <a:srgbClr val="1B2A3A"/>
                          </a:solidFill>
                          <a:latin typeface="Segoe UI" pitchFamily="34" charset="0"/>
                          <a:ea typeface="Segoe UI" pitchFamily="34" charset="-122"/>
                          <a:cs typeface="Segoe UI" pitchFamily="34" charset="-120"/>
                        </a:rPr>
                        <a:t>dix jours avant la date limite</a:t>
                      </a:r>
                      <a:pPr indent="0" marL="0">
                        <a:buNone/>
                      </a:pPr>
                      <a:r>
                        <a:rPr lang="en-US" sz="1100" dirty="0">
                          <a:solidFill>
                            <a:srgbClr val="1B2A3A"/>
                          </a:solidFill>
                          <a:latin typeface="Segoe UI" pitchFamily="34" charset="0"/>
                          <a:ea typeface="Segoe UI" pitchFamily="34" charset="-122"/>
                          <a:cs typeface="Segoe UI" pitchFamily="34" charset="-120"/>
                        </a:rPr>
                        <a:t> de remise des offres, ce dixième jour compris (art. 35-II) ; passé ce jour, les questions sont closes. Un candidat absent du registre des retraits ne peut pas en poser.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Répondre, c’est diffuser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répond par écrit, avec une pièce jointe si elle le souhaite ; l’UGPM lit sans répondre. La réponse est </a:t>
                      </a:r>
                      <a:pPr indent="0" marL="0">
                        <a:buNone/>
                      </a:pPr>
                      <a:r>
                        <a:rPr lang="en-US" sz="1100" b="1" dirty="0">
                          <a:solidFill>
                            <a:srgbClr val="1B2A3A"/>
                          </a:solidFill>
                          <a:latin typeface="Segoe UI" pitchFamily="34" charset="0"/>
                          <a:ea typeface="Segoe UI" pitchFamily="34" charset="-122"/>
                          <a:cs typeface="Segoe UI" pitchFamily="34" charset="-120"/>
                        </a:rPr>
                        <a:t>définitive</a:t>
                      </a:r>
                      <a:pPr indent="0" marL="0">
                        <a:buNone/>
                      </a:pPr>
                      <a:r>
                        <a:rPr lang="en-US" sz="1100" dirty="0">
                          <a:solidFill>
                            <a:srgbClr val="1B2A3A"/>
                          </a:solidFill>
                          <a:latin typeface="Segoe UI" pitchFamily="34" charset="0"/>
                          <a:ea typeface="Segoe UI" pitchFamily="34" charset="-122"/>
                          <a:cs typeface="Segoe UI" pitchFamily="34" charset="-120"/>
                        </a:rPr>
                        <a:t> et </a:t>
                      </a:r>
                      <a:pPr indent="0" marL="0">
                        <a:buNone/>
                      </a:pPr>
                      <a:r>
                        <a:rPr lang="en-US" sz="1100" b="1" dirty="0">
                          <a:solidFill>
                            <a:srgbClr val="1B2A3A"/>
                          </a:solidFill>
                          <a:latin typeface="Segoe UI" pitchFamily="34" charset="0"/>
                          <a:ea typeface="Segoe UI" pitchFamily="34" charset="-122"/>
                          <a:cs typeface="Segoe UI" pitchFamily="34" charset="-120"/>
                        </a:rPr>
                        <a:t>diffusée aussitôt</a:t>
                      </a:r>
                      <a:pPr indent="0" marL="0">
                        <a:buNone/>
                      </a:pPr>
                      <a:r>
                        <a:rPr lang="en-US" sz="1100" dirty="0">
                          <a:solidFill>
                            <a:srgbClr val="1B2A3A"/>
                          </a:solidFill>
                          <a:latin typeface="Segoe UI" pitchFamily="34" charset="0"/>
                          <a:ea typeface="Segoe UI" pitchFamily="34" charset="-122"/>
                          <a:cs typeface="Segoe UI" pitchFamily="34" charset="-120"/>
                        </a:rPr>
                        <a:t> à tous les candidats ayant retiré le dossier, et sur la page publique de la procédure, sans le nom de l’auteur. Les questions répondues sont jointes d’office au dossier soumis à la Commission ; la loi ne fixe pas de délai de réponse.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mode AMI ouvre une fiche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 Appel à manifestation d’intérêt » des lignes de prestations intellectuelles est rattaché au type « appel d’offres » : la PRMP crée la fiche de la ligne, qui porte d’abord l’AMI, puis la demande de propositions.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Préparé par la PRMP ou l’UGPM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ou son UGPM prépare l’AMI de la procédure, sur une fiche de </a:t>
                      </a:r>
                      <a:pPr indent="0" marL="0">
                        <a:buNone/>
                      </a:pPr>
                      <a:r>
                        <a:rPr lang="en-US" sz="1100" b="1" dirty="0">
                          <a:solidFill>
                            <a:srgbClr val="1B2A3A"/>
                          </a:solidFill>
                          <a:latin typeface="Segoe UI" pitchFamily="34" charset="0"/>
                          <a:ea typeface="Segoe UI" pitchFamily="34" charset="-122"/>
                          <a:cs typeface="Segoe UI" pitchFamily="34" charset="-120"/>
                        </a:rPr>
                        <a:t>prestations intellectuelles</a:t>
                      </a:r>
                      <a:pPr indent="0" marL="0">
                        <a:buNone/>
                      </a:pPr>
                      <a:r>
                        <a:rPr lang="en-US" sz="1100" dirty="0">
                          <a:solidFill>
                            <a:srgbClr val="1B2A3A"/>
                          </a:solidFill>
                          <a:latin typeface="Segoe UI" pitchFamily="34" charset="0"/>
                          <a:ea typeface="Segoe UI" pitchFamily="34" charset="-122"/>
                          <a:cs typeface="Segoe UI" pitchFamily="34" charset="-120"/>
                        </a:rPr>
                        <a:t> seulement ; son objet est repris de la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(14/16)</a:t>
            </a:r>
            <a:endParaRPr lang="en-US" sz="2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critères qui totalisent 100</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critères de sélection (aptitude, références, expérience…) portent chacun ses points ; les points </a:t>
                      </a:r>
                      <a:pPr indent="0" marL="0">
                        <a:buNone/>
                      </a:pPr>
                      <a:r>
                        <a:rPr lang="en-US" sz="1100" b="1" dirty="0">
                          <a:solidFill>
                            <a:srgbClr val="1B2A3A"/>
                          </a:solidFill>
                          <a:latin typeface="Segoe UI" pitchFamily="34" charset="0"/>
                          <a:ea typeface="Segoe UI" pitchFamily="34" charset="-122"/>
                          <a:cs typeface="Segoe UI" pitchFamily="34" charset="-120"/>
                        </a:rPr>
                        <a:t>totalisent 100</a:t>
                      </a:r>
                      <a:pPr indent="0" marL="0">
                        <a:buNone/>
                      </a:pPr>
                      <a:r>
                        <a:rPr lang="en-US" sz="1100" dirty="0">
                          <a:solidFill>
                            <a:srgbClr val="1B2A3A"/>
                          </a:solidFill>
                          <a:latin typeface="Segoe UI" pitchFamily="34" charset="0"/>
                          <a:ea typeface="Segoe UI" pitchFamily="34" charset="-122"/>
                          <a:cs typeface="Segoe UI" pitchFamily="34" charset="-120"/>
                        </a:rPr>
                        <a:t>. Une note minimale de qualification, sur 100, est facultative.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Six candidats à retenir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L’AMI fixe les pièces attendues, une date limite à venir et le nombre de candidats à retenir : </a:t>
                      </a:r>
                      <a:pPr indent="0" marL="0">
                        <a:buNone/>
                      </a:pPr>
                      <a:r>
                        <a:rPr lang="en-US" sz="1100" b="1" dirty="0">
                          <a:solidFill>
                            <a:srgbClr val="1B2A3A"/>
                          </a:solidFill>
                          <a:latin typeface="Segoe UI" pitchFamily="34" charset="0"/>
                          <a:ea typeface="Segoe UI" pitchFamily="34" charset="-122"/>
                          <a:cs typeface="Segoe UI" pitchFamily="34" charset="-120"/>
                        </a:rPr>
                        <a:t>six</a:t>
                      </a:r>
                      <a:pPr indent="0" marL="0">
                        <a:buNone/>
                      </a:pPr>
                      <a:r>
                        <a:rPr lang="en-US" sz="1100" dirty="0">
                          <a:solidFill>
                            <a:srgbClr val="1B2A3A"/>
                          </a:solidFill>
                          <a:latin typeface="Segoe UI" pitchFamily="34" charset="0"/>
                          <a:ea typeface="Segoe UI" pitchFamily="34" charset="-122"/>
                          <a:cs typeface="Segoe UI" pitchFamily="34" charset="-120"/>
                        </a:rPr>
                        <a:t> par défaut.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Modifiable jusqu’à la publication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Tant qu’il n’est pas publié, l’AMI se modifie et son avis se lit en projet. Ses critères appartiennent à l’AMI, non à la fiche, et se figent à la publication.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seule publie l’avis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seule publie l’AMI, en déclarant au moins un support daté (journal des marchés de l’ARMP, journal national…). L’AMI est figé ; l’avis, </a:t>
                      </a:r>
                      <a:pPr indent="0" marL="0">
                        <a:buNone/>
                      </a:pPr>
                      <a:r>
                        <a:rPr lang="en-US" sz="1100" b="1" dirty="0">
                          <a:solidFill>
                            <a:srgbClr val="1B2A3A"/>
                          </a:solidFill>
                          <a:latin typeface="Segoe UI" pitchFamily="34" charset="0"/>
                          <a:ea typeface="Segoe UI" pitchFamily="34" charset="-122"/>
                          <a:cs typeface="Segoe UI" pitchFamily="34" charset="-120"/>
                        </a:rPr>
                        <a:t>signé électroniquement</a:t>
                      </a:r>
                      <a:pPr indent="0" marL="0">
                        <a:buNone/>
                      </a:pPr>
                      <a:r>
                        <a:rPr lang="en-US" sz="1100" dirty="0">
                          <a:solidFill>
                            <a:srgbClr val="1B2A3A"/>
                          </a:solidFill>
                          <a:latin typeface="Segoe UI" pitchFamily="34" charset="0"/>
                          <a:ea typeface="Segoe UI" pitchFamily="34" charset="-122"/>
                          <a:cs typeface="Segoe UI" pitchFamily="34" charset="-120"/>
                        </a:rPr>
                        <a:t> par elle, paraît sur la liste publique des AMI.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Lues après la date limite seulement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expressions ne sont pas scellées, mais </a:t>
                      </a:r>
                      <a:pPr indent="0" marL="0">
                        <a:buNone/>
                      </a:pPr>
                      <a:r>
                        <a:rPr lang="en-US" sz="1100" b="1" dirty="0">
                          <a:solidFill>
                            <a:srgbClr val="1B2A3A"/>
                          </a:solidFill>
                          <a:latin typeface="Segoe UI" pitchFamily="34" charset="0"/>
                          <a:ea typeface="Segoe UI" pitchFamily="34" charset="-122"/>
                          <a:cs typeface="Segoe UI" pitchFamily="34" charset="-120"/>
                        </a:rPr>
                        <a:t>personne ne les lit avant la date limite</a:t>
                      </a:r>
                      <a:pPr indent="0" marL="0">
                        <a:buNone/>
                      </a:pPr>
                      <a:r>
                        <a:rPr lang="en-US" sz="1100" dirty="0">
                          <a:solidFill>
                            <a:srgbClr val="1B2A3A"/>
                          </a:solidFill>
                          <a:latin typeface="Segoe UI" pitchFamily="34" charset="0"/>
                          <a:ea typeface="Segoe UI" pitchFamily="34" charset="-122"/>
                          <a:cs typeface="Segoe UI" pitchFamily="34" charset="-120"/>
                        </a:rPr>
                        <a:t> : l’administration n’en voit que le nombre.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(15/16)</a:t>
            </a:r>
            <a:endParaRPr lang="en-US" sz="2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refus motivé, une décision définitive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ou son UGPM valide ou refuse le reçu ; un refus porte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et le candidat dépose un nouveau reçu. Une décision ne se reprend pas. Le candidat en est averti par courriel.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négociation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Conduite par la PRMP ou son UGPM avec le premier classé, sur des points non substantiels (art. 42-IV). Réussie, elle porte la proposition d’attribution ; échouée, elle se motive et le classé suivant vient. Une seule en cours, une seule réussie par lot ; son PV se produit en PDF et en Word.</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marché en ligne contrôlé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marché issu d’une procédure en ligne passe au </a:t>
                      </a:r>
                      <a:pPr indent="0" marL="0">
                        <a:buNone/>
                      </a:pPr>
                      <a:r>
                        <a:rPr lang="en-US" sz="1100" b="1" dirty="0">
                          <a:solidFill>
                            <a:srgbClr val="1B2A3A"/>
                          </a:solidFill>
                          <a:latin typeface="Segoe UI" pitchFamily="34" charset="0"/>
                          <a:ea typeface="Segoe UI" pitchFamily="34" charset="-122"/>
                          <a:cs typeface="Segoe UI" pitchFamily="34" charset="-120"/>
                        </a:rPr>
                        <a:t>contrôle a priori</a:t>
                      </a:r>
                      <a:pPr indent="0" marL="0">
                        <a:buNone/>
                      </a:pPr>
                      <a:r>
                        <a:rPr lang="en-US" sz="1100" dirty="0">
                          <a:solidFill>
                            <a:srgbClr val="1B2A3A"/>
                          </a:solidFill>
                          <a:latin typeface="Segoe UI" pitchFamily="34" charset="0"/>
                          <a:ea typeface="Segoe UI" pitchFamily="34" charset="-122"/>
                          <a:cs typeface="Segoe UI" pitchFamily="34" charset="-120"/>
                        </a:rPr>
                        <a:t> de la Commission, sans seuil.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dossier de marché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Depuis l’évaluation close, la PRMP ou son UGPM crée </a:t>
                      </a:r>
                      <a:pPr indent="0" marL="0">
                        <a:buNone/>
                      </a:pPr>
                      <a:r>
                        <a:rPr lang="en-US" sz="1100" b="1" dirty="0">
                          <a:solidFill>
                            <a:srgbClr val="1B2A3A"/>
                          </a:solidFill>
                          <a:latin typeface="Segoe UI" pitchFamily="34" charset="0"/>
                          <a:ea typeface="Segoe UI" pitchFamily="34" charset="-122"/>
                          <a:cs typeface="Segoe UI" pitchFamily="34" charset="-120"/>
                        </a:rPr>
                        <a:t>un dossier de marché par lot</a:t>
                      </a:r>
                      <a:pPr indent="0" marL="0">
                        <a:buNone/>
                      </a:pPr>
                      <a:r>
                        <a:rPr lang="en-US" sz="1100" dirty="0">
                          <a:solidFill>
                            <a:srgbClr val="1B2A3A"/>
                          </a:solidFill>
                          <a:latin typeface="Segoe UI" pitchFamily="34" charset="0"/>
                          <a:ea typeface="Segoe UI" pitchFamily="34" charset="-122"/>
                          <a:cs typeface="Segoe UI" pitchFamily="34" charset="-120"/>
                        </a:rPr>
                        <a:t> attribuable, ouvert ou restreint selon le mode de passation. Un lot que le rapport propose infructueux n’en a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(16/16)</a:t>
            </a:r>
            <a:endParaRPr lang="en-US" sz="2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pièces jointes d’office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reçoit d’office le </a:t>
                      </a:r>
                      <a:pPr indent="0" marL="0">
                        <a:buNone/>
                      </a:pPr>
                      <a:r>
                        <a:rPr lang="en-US" sz="1100" b="1" dirty="0">
                          <a:solidFill>
                            <a:srgbClr val="1B2A3A"/>
                          </a:solidFill>
                          <a:latin typeface="Segoe UI" pitchFamily="34" charset="0"/>
                          <a:ea typeface="Segoe UI" pitchFamily="34" charset="-122"/>
                          <a:cs typeface="Segoe UI" pitchFamily="34" charset="-120"/>
                        </a:rPr>
                        <a:t>projet de marché</a:t>
                      </a:r>
                      <a:pPr indent="0" marL="0">
                        <a:buNone/>
                      </a:pPr>
                      <a:r>
                        <a:rPr lang="en-US" sz="1100" dirty="0">
                          <a:solidFill>
                            <a:srgbClr val="1B2A3A"/>
                          </a:solidFill>
                          <a:latin typeface="Segoe UI" pitchFamily="34" charset="0"/>
                          <a:ea typeface="Segoe UI" pitchFamily="34" charset="-122"/>
                          <a:cs typeface="Segoe UI" pitchFamily="34" charset="-120"/>
                        </a:rPr>
                        <a:t> produit par l’application, le DAO complet, le devis ou bordereau de l’offre, le PV d’ouverture et le rapport d’évaluation, et, s’il y en a, les questions des candidats et leurs réponses. Restent à joindre par la PRMP, selon le sous-type, les autres pièces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L’UGPM · 63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L’UGPM</dc:title>
  <dc:subject>PptxGenJS Presentation</dc:subject>
  <dc:creator>PRS 2.0</dc:creator>
  <cp:lastModifiedBy>PRS 2.0</cp:lastModifiedBy>
  <cp:revision>1</cp:revision>
  <dcterms:created xsi:type="dcterms:W3CDTF">2026-10-14T12:36:45Z</dcterms:created>
  <dcterms:modified xsi:type="dcterms:W3CDTF">2026-10-14T12:36:45Z</dcterms:modified>
</cp:coreProperties>
</file>