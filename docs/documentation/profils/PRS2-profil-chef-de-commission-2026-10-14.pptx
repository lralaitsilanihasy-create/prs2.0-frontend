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 Chef de commission</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Dispatchent les dossiers, visent les PV, désignent le co-signataire ; peuvent être suppléés par intérim.</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22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 Chef de commission agit ou lit, rangés par étape de la chaîne ; chacun est présenté ensuite.</a:t>
            </a:r>
            <a:endParaRPr lang="en-US" sz="1300" dirty="0"/>
          </a:p>
        </p:txBody>
      </p:sp>
      <p:sp>
        <p:nvSpPr>
          <p:cNvPr id="5" name="Shape 3"/>
          <p:cNvSpPr/>
          <p:nvPr/>
        </p:nvSpPr>
        <p:spPr>
          <a:xfrm>
            <a:off x="812780" y="1651000"/>
            <a:ext cx="3420448" cy="1443567"/>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la Commission · La connexion · Changer son mot de passe · Une actualité à l’ouverture · L’accueil « À faire » du Président · L’écran des notifications · La cloche</a:t>
            </a:r>
            <a:endParaRPr lang="en-US" sz="1200" dirty="0"/>
          </a:p>
        </p:txBody>
      </p:sp>
      <p:sp>
        <p:nvSpPr>
          <p:cNvPr id="9" name="Shape 7"/>
          <p:cNvSpPr/>
          <p:nvPr/>
        </p:nvSpPr>
        <p:spPr>
          <a:xfrm>
            <a:off x="4385624" y="1651000"/>
            <a:ext cx="3420448" cy="1443567"/>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02 · Planifier</a:t>
            </a:r>
            <a:endParaRPr lang="en-US" sz="1500" dirty="0"/>
          </a:p>
        </p:txBody>
      </p:sp>
      <p:sp>
        <p:nvSpPr>
          <p:cNvPr id="12" name="Text 10"/>
          <p:cNvSpPr/>
          <p:nvPr/>
        </p:nvSpPr>
        <p:spPr>
          <a:xfrm>
            <a:off x="4525320"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Demander le retrait d’un dossier</a:t>
            </a:r>
            <a:endParaRPr lang="en-US" sz="1200" dirty="0"/>
          </a:p>
        </p:txBody>
      </p:sp>
      <p:sp>
        <p:nvSpPr>
          <p:cNvPr id="13" name="Shape 11"/>
          <p:cNvSpPr/>
          <p:nvPr/>
        </p:nvSpPr>
        <p:spPr>
          <a:xfrm>
            <a:off x="7958468" y="1651000"/>
            <a:ext cx="3420448" cy="1443567"/>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6" name="Text 14"/>
          <p:cNvSpPr/>
          <p:nvPr/>
        </p:nvSpPr>
        <p:spPr>
          <a:xfrm>
            <a:off x="8098164"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Tous les dossiers · Dispatcher à un Membre · Les chaînes de contrôle · Les motifs-types de la conclusion · Le visa du Président · L’examen de dossiers : trois productions · Statuer sur les demandes de retrait · Les écrans figés à la soumission</a:t>
            </a:r>
            <a:endParaRPr lang="en-US" sz="1200" dirty="0"/>
          </a:p>
        </p:txBody>
      </p:sp>
      <p:sp>
        <p:nvSpPr>
          <p:cNvPr id="17" name="Shape 15"/>
          <p:cNvSpPr/>
          <p:nvPr/>
        </p:nvSpPr>
        <p:spPr>
          <a:xfrm>
            <a:off x="812780" y="3246967"/>
            <a:ext cx="3420448" cy="1443567"/>
          </a:xfrm>
          <a:prstGeom prst="rect">
            <a:avLst/>
          </a:prstGeom>
          <a:solidFill>
            <a:srgbClr val="FCFCFA"/>
          </a:solidFill>
          <a:ln w="9525">
            <a:solidFill>
              <a:srgbClr val="D5DCE4"/>
            </a:solidFill>
            <a:prstDash val="solid"/>
          </a:ln>
        </p:spPr>
      </p:sp>
      <p:sp>
        <p:nvSpPr>
          <p:cNvPr id="18" name="Shape 16"/>
          <p:cNvSpPr/>
          <p:nvPr/>
        </p:nvSpPr>
        <p:spPr>
          <a:xfrm>
            <a:off x="812780" y="3246967"/>
            <a:ext cx="3420448" cy="38100"/>
          </a:xfrm>
          <a:prstGeom prst="rect">
            <a:avLst/>
          </a:prstGeom>
          <a:solidFill>
            <a:srgbClr val="12324A"/>
          </a:solidFill>
          <a:ln/>
        </p:spPr>
      </p:sp>
      <p:sp>
        <p:nvSpPr>
          <p:cNvPr id="19" name="Text 17"/>
          <p:cNvSpPr/>
          <p:nvPr/>
        </p:nvSpPr>
        <p:spPr>
          <a:xfrm>
            <a:off x="952476"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0" name="Text 18"/>
          <p:cNvSpPr/>
          <p:nvPr/>
        </p:nvSpPr>
        <p:spPr>
          <a:xfrm>
            <a:off x="952476"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21" name="Shape 19"/>
          <p:cNvSpPr/>
          <p:nvPr/>
        </p:nvSpPr>
        <p:spPr>
          <a:xfrm>
            <a:off x="4385624" y="3246967"/>
            <a:ext cx="3420448" cy="1443567"/>
          </a:xfrm>
          <a:prstGeom prst="rect">
            <a:avLst/>
          </a:prstGeom>
          <a:solidFill>
            <a:srgbClr val="FCFCFA"/>
          </a:solidFill>
          <a:ln w="9525">
            <a:solidFill>
              <a:srgbClr val="D5DCE4"/>
            </a:solidFill>
            <a:prstDash val="solid"/>
          </a:ln>
        </p:spPr>
      </p:sp>
      <p:sp>
        <p:nvSpPr>
          <p:cNvPr id="22" name="Shape 20"/>
          <p:cNvSpPr/>
          <p:nvPr/>
        </p:nvSpPr>
        <p:spPr>
          <a:xfrm>
            <a:off x="4385624" y="3246967"/>
            <a:ext cx="3420448" cy="38100"/>
          </a:xfrm>
          <a:prstGeom prst="rect">
            <a:avLst/>
          </a:prstGeom>
          <a:solidFill>
            <a:srgbClr val="1B6FA8"/>
          </a:solidFill>
          <a:ln/>
        </p:spPr>
      </p:sp>
      <p:sp>
        <p:nvSpPr>
          <p:cNvPr id="23" name="Text 21"/>
          <p:cNvSpPr/>
          <p:nvPr/>
        </p:nvSpPr>
        <p:spPr>
          <a:xfrm>
            <a:off x="4525320"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4" name="Text 22"/>
          <p:cNvSpPr/>
          <p:nvPr/>
        </p:nvSpPr>
        <p:spPr>
          <a:xfrm>
            <a:off x="4525320"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5" name="Shape 23"/>
          <p:cNvSpPr/>
          <p:nvPr/>
        </p:nvSpPr>
        <p:spPr>
          <a:xfrm>
            <a:off x="7958468" y="3246967"/>
            <a:ext cx="3420448" cy="1443567"/>
          </a:xfrm>
          <a:prstGeom prst="rect">
            <a:avLst/>
          </a:prstGeom>
          <a:solidFill>
            <a:srgbClr val="FCFCFA"/>
          </a:solidFill>
          <a:ln w="9525">
            <a:solidFill>
              <a:srgbClr val="D5DCE4"/>
            </a:solidFill>
            <a:prstDash val="solid"/>
          </a:ln>
        </p:spPr>
      </p:sp>
      <p:sp>
        <p:nvSpPr>
          <p:cNvPr id="26" name="Shape 24"/>
          <p:cNvSpPr/>
          <p:nvPr/>
        </p:nvSpPr>
        <p:spPr>
          <a:xfrm>
            <a:off x="7958468" y="3246967"/>
            <a:ext cx="3420448" cy="38100"/>
          </a:xfrm>
          <a:prstGeom prst="rect">
            <a:avLst/>
          </a:prstGeom>
          <a:solidFill>
            <a:srgbClr val="2E8B57"/>
          </a:solidFill>
          <a:ln/>
        </p:spPr>
      </p:sp>
      <p:sp>
        <p:nvSpPr>
          <p:cNvPr id="27" name="Text 25"/>
          <p:cNvSpPr/>
          <p:nvPr/>
        </p:nvSpPr>
        <p:spPr>
          <a:xfrm>
            <a:off x="8098164"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10 · Intérim et mandats</a:t>
            </a:r>
            <a:endParaRPr lang="en-US" sz="1500" dirty="0"/>
          </a:p>
        </p:txBody>
      </p:sp>
      <p:sp>
        <p:nvSpPr>
          <p:cNvPr id="28" name="Text 26"/>
          <p:cNvSpPr/>
          <p:nvPr/>
        </p:nvSpPr>
        <p:spPr>
          <a:xfrm>
            <a:off x="8098164"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Mon intérim · Désigner un intérimaire</a:t>
            </a:r>
            <a:endParaRPr lang="en-US" sz="1200" dirty="0"/>
          </a:p>
        </p:txBody>
      </p:sp>
      <p:sp>
        <p:nvSpPr>
          <p:cNvPr id="29" name="Shape 27"/>
          <p:cNvSpPr/>
          <p:nvPr/>
        </p:nvSpPr>
        <p:spPr>
          <a:xfrm>
            <a:off x="812780" y="4842933"/>
            <a:ext cx="3420448" cy="1443567"/>
          </a:xfrm>
          <a:prstGeom prst="rect">
            <a:avLst/>
          </a:prstGeom>
          <a:solidFill>
            <a:srgbClr val="FCFCFA"/>
          </a:solidFill>
          <a:ln w="9525">
            <a:solidFill>
              <a:srgbClr val="D5DCE4"/>
            </a:solidFill>
            <a:prstDash val="solid"/>
          </a:ln>
        </p:spPr>
      </p:sp>
      <p:sp>
        <p:nvSpPr>
          <p:cNvPr id="30" name="Shape 28"/>
          <p:cNvSpPr/>
          <p:nvPr/>
        </p:nvSpPr>
        <p:spPr>
          <a:xfrm>
            <a:off x="812780" y="4842933"/>
            <a:ext cx="3420448" cy="38100"/>
          </a:xfrm>
          <a:prstGeom prst="rect">
            <a:avLst/>
          </a:prstGeom>
          <a:solidFill>
            <a:srgbClr val="E3AE2E"/>
          </a:solidFill>
          <a:ln/>
        </p:spPr>
      </p:sp>
      <p:sp>
        <p:nvSpPr>
          <p:cNvPr id="31" name="Text 29"/>
          <p:cNvSpPr/>
          <p:nvPr/>
        </p:nvSpPr>
        <p:spPr>
          <a:xfrm>
            <a:off x="952476" y="4944533"/>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12 · Piloter et publier</a:t>
            </a:r>
            <a:endParaRPr lang="en-US" sz="1500" dirty="0"/>
          </a:p>
        </p:txBody>
      </p:sp>
      <p:sp>
        <p:nvSpPr>
          <p:cNvPr id="32" name="Text 30"/>
          <p:cNvSpPr/>
          <p:nvPr/>
        </p:nvSpPr>
        <p:spPr>
          <a:xfrm>
            <a:off x="952476" y="5230283"/>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tableau de bord · Les rapports</a:t>
            </a:r>
            <a:endParaRPr lang="en-US" sz="1200" dirty="0"/>
          </a:p>
        </p:txBody>
      </p:sp>
      <p:sp>
        <p:nvSpPr>
          <p:cNvPr id="33" name="Text 31"/>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voit la même page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l’attend en propre aujourd’hui ; tous les dossiers de son périmètre restent consultables.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tâches qu’il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pourrait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prendre à un autre titre (délégation, intérim, suppléance) sont repliées à part, hors compteurs.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menu porte le pilotage (répartition, chaînes de contrôle, intérim) et ce qu’il exerce par délégation.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le retrait d’un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mander le retrait d’un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le Président ou le Chef de commission statue.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lettre datée et signée (PDF de 10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dossiers dont le PV n’est pas signé sont proposés.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demandes » suit leur statut et, le cas échéant, le motif du refus.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types de dossiers confondus,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actions se font depuis la ligne, selon les délégations : ici « Vérifier » sur les dossiers en vérification.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Dispatcher à un Membre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Dispatcher à un Memb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 assigné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 nombre de dossiers qu’il a en cours pour équilibrer la charge.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est associé d’office : il reçoit copie du dispatch et suit le circuit.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date de dispatch et des instructions facultatives pour le Membre.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rattaché à un Vérificateur, chaque Vérificateur à un Assistant.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rattachement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vérification et l’archivage ; il n’interdit rien. Une chaîne incomplète n’est pas bloquante : tout porteur du rôle dans la localité reste compétent (« repli localité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motifs-types de la conclusion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motifs-types de la conclus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tient le référentiel ; le Membre, le Président et le Chef de commission s’en servent.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formulations du manuel : motifs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(lettre de renvoi) et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défavorable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(projet de PV), par type de dossier et, au besoin, par catégorie.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contrôleur insère le texte puis le complète : le motif n’engage rien par lui-même. Un motif se désactive plutôt que de se supprimer.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visa du Président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visa du Présid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qui a dispatché.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visa clôt la navette en un geste : il arrête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global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désigne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co-signataire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pose sa propre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est pré-rempli avec celui du Membre ; le changer ici le remplace.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la place, il peut retourner le projet au Membre, avec un commentaire, ou établir une lettre de renvoi.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de dossiers : trois productions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de dossiers : trois produc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même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cartes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projets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navette,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définitifs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signés,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lettres de 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leur suivi.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de chaque production s’ouvre sous sa carte.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Statuer sur les demandes de retrait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tatuer sur les demandes de retra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de la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demandes de retrait des PRMP, à valider, et leur historique.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Accepter renvoie le dossier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refuser le laisse dans le circuit ; chaque décision est motivée.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Mon intérim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on intéri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et le Chef de commission, chacun pour sa propre absence.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rappelle l’engagement : les dossiers et les actions du titulaire sont ouverts à l’intérimaire,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 son nom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tracés « par intérim de vous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titulaire garde ses propres dossiers ; ses notifications sont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copiées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l’intérimaire.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L’historique montre chaque intérim avec sa période, son motif, sa référence, sa pièce et son statut — ici un intérim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révoqué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avant terme, avec la date et la raison.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Désigner un intérimaire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signer un intérim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titulaire absent.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ne propose que les personnes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admissibles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pour un Chef de commission, un autre Chef de commission ou un Membre de sa localité.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Période, motif (congé, mission, maladie, vacance de poste, autre) et référence de la note de service sont exigés.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de service ou la décision est jointe en PDF ; elle reste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consultable par la Commission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tableau de bord</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bleau de bord">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(toutes localités) ;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indicateurs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dossiers déposés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(18), dossiers conformes,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taux de conformité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nombre de dossiers à chaque statut du circuit : brouillon, dispatché, en vérification, clôturé, décision transmise au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cinq points de contrôle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plus souvent non conformes, avec leur taux : là où les dossiers des PRMP pèchent le plus.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rapports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appor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l’Administrateur et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des dossiers,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période est facultative : sans dates, tous les dossiers sont inclus.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n’obtient que sa localité.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 Chef de commission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55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(1/11)</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voit tout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n’est rattaché à aucune localité : il voit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et peut exercer les tâches du Secrétaire, du Membre et du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contrôleurs bornés à leur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voit </a:t>
                      </a:r>
                      <a:pPr indent="0" marL="0">
                        <a:buNone/>
                      </a:pPr>
                      <a:r>
                        <a:rPr lang="en-US" sz="1100" b="1" dirty="0">
                          <a:solidFill>
                            <a:srgbClr val="1B2A3A"/>
                          </a:solidFill>
                          <a:latin typeface="Segoe UI" pitchFamily="34" charset="0"/>
                          <a:ea typeface="Segoe UI" pitchFamily="34" charset="-122"/>
                          <a:cs typeface="Segoe UI" pitchFamily="34" charset="-120"/>
                        </a:rPr>
                        <a:t>uniquement sa localité</a:t>
                      </a:r>
                      <a:pPr indent="0" marL="0">
                        <a:buNone/>
                      </a:pPr>
                      <a:r>
                        <a:rPr lang="en-US" sz="1100" dirty="0">
                          <a:solidFill>
                            <a:srgbClr val="1B2A3A"/>
                          </a:solidFill>
                          <a:latin typeface="Segoe UI" pitchFamily="34" charset="0"/>
                          <a:ea typeface="Segoe UI" pitchFamily="34" charset="-122"/>
                          <a:cs typeface="Segoe UI" pitchFamily="34" charset="-120"/>
                        </a:rPr>
                        <a:t>, avec son Secrétaire et ses Membres ; il peut exercer leurs tâches et celles du Vérificateur. Secrétaire, Membre, Vérificateur et Assistant relèvent de la même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(2/11)</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(3/11)</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délégations à part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gestes faisables par délégation, intérim, collègue ou suppléance sont </a:t>
                      </a:r>
                      <a:pPr indent="0" marL="0">
                        <a:buNone/>
                      </a:pPr>
                      <a:r>
                        <a:rPr lang="en-US" sz="1100" b="1" dirty="0">
                          <a:solidFill>
                            <a:srgbClr val="1B2A3A"/>
                          </a:solidFill>
                          <a:latin typeface="Segoe UI" pitchFamily="34" charset="0"/>
                          <a:ea typeface="Segoe UI" pitchFamily="34" charset="-122"/>
                          <a:cs typeface="Segoe UI" pitchFamily="34" charset="-120"/>
                        </a:rPr>
                        <a:t>repliés</a:t>
                      </a:r>
                      <a:pPr indent="0" marL="0">
                        <a:buNone/>
                      </a:pPr>
                      <a:r>
                        <a:rPr lang="en-US" sz="1100" dirty="0">
                          <a:solidFill>
                            <a:srgbClr val="1B2A3A"/>
                          </a:solidFill>
                          <a:latin typeface="Segoe UI" pitchFamily="34" charset="0"/>
                          <a:ea typeface="Segoe UI" pitchFamily="34" charset="-122"/>
                          <a:cs typeface="Segoe UI" pitchFamily="34" charset="-120"/>
                        </a:rPr>
                        <a:t> dans un bloc séparé et ne comptent ni dans les compteurs ni dans le badge. Sans ce repli, le Président verrait toutes les réceptions et vérifications du pays.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(4/11)</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retrait jusqu’au PV signé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avec un motif et sa </a:t>
                      </a:r>
                      <a:pPr indent="0" marL="0">
                        <a:buNone/>
                      </a:pPr>
                      <a:r>
                        <a:rPr lang="en-US" sz="1100" b="1" dirty="0">
                          <a:solidFill>
                            <a:srgbClr val="1B2A3A"/>
                          </a:solidFill>
                          <a:latin typeface="Segoe UI" pitchFamily="34" charset="0"/>
                          <a:ea typeface="Segoe UI" pitchFamily="34" charset="-122"/>
                          <a:cs typeface="Segoe UI" pitchFamily="34" charset="-120"/>
                        </a:rPr>
                        <a:t>lettre datée et signée</a:t>
                      </a:r>
                      <a:pPr indent="0" marL="0">
                        <a:buNone/>
                      </a:pPr>
                      <a:r>
                        <a:rPr lang="en-US" sz="1100" dirty="0">
                          <a:solidFill>
                            <a:srgbClr val="1B2A3A"/>
                          </a:solidFill>
                          <a:latin typeface="Segoe UI" pitchFamily="34" charset="0"/>
                          <a:ea typeface="Segoe UI" pitchFamily="34" charset="-122"/>
                          <a:cs typeface="Segoe UI" pitchFamily="34" charset="-120"/>
                        </a:rPr>
                        <a:t> (PDF de 10 Mo au plus), tant que le PV n’est pas signé. Une seule demande en attente par dossier ; le Chef de commission ou le Président décide, et la demande devient caduque si le PV est signé entre-temps.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retour au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retrait accepté remet le dossier 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et efface son passage dans le circuit ; le journal et le chronométrage sont conservés. Un refus laisse le dossier inchangé. La PRMP suit le statut de sa demande, sans voir qui l’a tranchée.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Délégation ascendante : neuf paires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peut exercer les tâches du Secrétaire, du Chef de commission, du Membre, du Vérificateur et de l’Assistant ; le Chef de commission celles du Secrétaire, du Membre, du Vérificateur et de l’Assistant. La délégation n’est pas transitive et n’ouvre aucun </a:t>
                      </a:r>
                      <a:pPr indent="0" marL="0">
                        <a:buNone/>
                      </a:pPr>
                      <a:r>
                        <a:rPr lang="en-US" sz="1100" b="1" dirty="0">
                          <a:solidFill>
                            <a:srgbClr val="1B2A3A"/>
                          </a:solidFill>
                          <a:latin typeface="Segoe UI" pitchFamily="34" charset="0"/>
                          <a:ea typeface="Segoe UI" pitchFamily="34" charset="-122"/>
                          <a:cs typeface="Segoe UI" pitchFamily="34" charset="-120"/>
                        </a:rPr>
                        <a:t>acte d’identité</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se mesure, sans saisie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étape est chronométrée sans saisie : elle commence à la fin de la précédente et s’achève au geste qui la clôt. Le calcul se fait en </a:t>
                      </a:r>
                      <a:pPr indent="0" marL="0">
                        <a:buNone/>
                      </a:pPr>
                      <a:r>
                        <a:rPr lang="en-US" sz="1100" b="1" dirty="0">
                          <a:solidFill>
                            <a:srgbClr val="1B2A3A"/>
                          </a:solidFill>
                          <a:latin typeface="Segoe UI" pitchFamily="34" charset="0"/>
                          <a:ea typeface="Segoe UI" pitchFamily="34" charset="-122"/>
                          <a:cs typeface="Segoe UI" pitchFamily="34" charset="-120"/>
                        </a:rPr>
                        <a:t>heures ouvrées</a:t>
                      </a:r>
                      <a:pPr indent="0" marL="0">
                        <a:buNone/>
                      </a:pPr>
                      <a:r>
                        <a:rPr lang="en-US" sz="1100" dirty="0">
                          <a:solidFill>
                            <a:srgbClr val="1B2A3A"/>
                          </a:solidFill>
                          <a:latin typeface="Segoe UI" pitchFamily="34" charset="0"/>
                          <a:ea typeface="Segoe UI" pitchFamily="34" charset="-122"/>
                          <a:cs typeface="Segoe UI" pitchFamily="34" charset="-120"/>
                        </a:rPr>
                        <a:t>, de 8 h à 16 h du lundi au vendredi, 8 h valant un jour.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passage imputé à son auteur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L’examen est mesuré au nom de son attributaire ; une réattribution clôt l’examen du sortant à son nom. À deux niveaux, chaque étage a sa durée, et chaque co-signataire sa part.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(5/11)</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Dossier complet, prêt à dispatcher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que la réception est enregistrée, le dossier est « prêt à dispatcher » et le Président et le Chef de commission de la localité sont notifiés.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dispatch : attribuer à un Membre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voit les dossiers prêts de toutes les localités et les attribue à un Membre, avec des instructions facultatives. Le Chef de commission dispatche les dossiers de sa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Centrale : dispatch réservé au Président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un dossier de la Centrale, seul le Président dispatche et seul lui est notifié. Le Chef de commission n’y agit que sur un dossier que le Président lui a confié ou qu’il a lui-même réattribué.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attributaire capable d’examiner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ne s’attribue qu’à un Membre, ou à un contrôleur autorisé par délégation à la tâche de Membre. Le Président ou le Chef de commission peut ainsi se l’attribuer à lui-même : c’est le circuit court.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Réattribution par le Chef de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peut réattribuer à un Membre le dossier que le Président lui a dispatché ; le nouvel attributaire est notifié, l’ancien est prévenu. La réattribution est refusée dès qu’un examen est entamé.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(6/11)</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Chaînes Membre, Vérificateur, Assistant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peut être rattaché à un Vérificateur, et chaque Vérificateur à un Assistant, dans la même localité ; le rattachement est posé par l’Administrateur, le Président, ou le Chef de commission dans sa localité. Il </a:t>
                      </a:r>
                      <a:pPr indent="0" marL="0">
                        <a:buNone/>
                      </a:pPr>
                      <a:r>
                        <a:rPr lang="en-US" sz="1100" b="1" dirty="0">
                          <a:solidFill>
                            <a:srgbClr val="1B2A3A"/>
                          </a:solidFill>
                          <a:latin typeface="Segoe UI" pitchFamily="34" charset="0"/>
                          <a:ea typeface="Segoe UI" pitchFamily="34" charset="-122"/>
                          <a:cs typeface="Segoe UI" pitchFamily="34" charset="-120"/>
                        </a:rPr>
                        <a:t>oriente</a:t>
                      </a:r>
                      <a:pPr indent="0" marL="0">
                        <a:buNone/>
                      </a:pPr>
                      <a:r>
                        <a:rPr lang="en-US" sz="1100" dirty="0">
                          <a:solidFill>
                            <a:srgbClr val="1B2A3A"/>
                          </a:solidFill>
                          <a:latin typeface="Segoe UI" pitchFamily="34" charset="0"/>
                          <a:ea typeface="Segoe UI" pitchFamily="34" charset="-122"/>
                          <a:cs typeface="Segoe UI" pitchFamily="34" charset="-120"/>
                        </a:rPr>
                        <a:t> notifications et files sans rien verrouiller : sans chaîne, tous les porteurs du rôle de la localité restent compétents.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motifs-types de la conclusion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formulations du manuel (renvoi, avis défavorable) forment un référentiel tenu par l’Administrateur, qui suit l’héritage des grilles. Le contrôleur les insère dans le projet de PV ou la lettre de renvoi et les complète ; l’application n’écrit rien à sa place. Un motif désactivé n’est plus proposé.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du projet de PV</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peut retourner le projet au Membre autant de fois que nécessaire, avec un commentaire obligatoire ; le Membre corrige puis resoumet. Chaque aller-retour est tracé.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Visa réservé au dispatcheur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navette se clôt par le </a:t>
                      </a:r>
                      <a:pPr indent="0" marL="0">
                        <a:buNone/>
                      </a:pPr>
                      <a:r>
                        <a:rPr lang="en-US" sz="1100" b="1" dirty="0">
                          <a:solidFill>
                            <a:srgbClr val="1B2A3A"/>
                          </a:solidFill>
                          <a:latin typeface="Segoe UI" pitchFamily="34" charset="0"/>
                          <a:ea typeface="Segoe UI" pitchFamily="34" charset="-122"/>
                          <a:cs typeface="Segoe UI" pitchFamily="34" charset="-120"/>
                        </a:rPr>
                        <a:t>visa</a:t>
                      </a:r>
                      <a:pPr indent="0" marL="0">
                        <a:buNone/>
                      </a:pPr>
                      <a:r>
                        <a:rPr lang="en-US" sz="1100" dirty="0">
                          <a:solidFill>
                            <a:srgbClr val="1B2A3A"/>
                          </a:solidFill>
                          <a:latin typeface="Segoe UI" pitchFamily="34" charset="0"/>
                          <a:ea typeface="Segoe UI" pitchFamily="34" charset="-122"/>
                          <a:cs typeface="Segoe UI" pitchFamily="34" charset="-120"/>
                        </a:rPr>
                        <a:t> du Président ou du Chef de commission qui a dispatché : il arrête l’avis, désigne le co-signataire et signe sa part. Tout autre ne vise que par intérim.</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Visa par intérim sur note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Président ou Chef de commission non dispatcheur, compétent pour la localité, vise en joignant une note d’intérim. La mention « par intérim » ne figure que sur les PV régionaux ; la note n’est pas communiquée à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(7/11)</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L’examinateur ne vise pas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Celui qui a examiné un dossier ne vise ni ne retourne le projet de PV, même par intérim, sauf s’il s’est dispatché le dossier à lui-même.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à deux niveaux</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le Président a dispatché au Chef de commission, qui a réattribué à un Membre, le Membre soumet au Chef de commission, qui retourne ou transmet au Président ; le Président retourne au Chef de commission ou vise. Rien ne saute d’étage.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Deux signataires distincts au moins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viseur désigne ses co-signataires : au moins une autre personne, trois signataires au plus, un seul par rôle. Le PV n’imprime que les lignes des désignés.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Plus de Secrétaire de séance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ne désigne plus de Secrétaire de séance, ni au visa ni à la soumission de l’examen. Les PV visés avant ce retrait gardent leur mention.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Lettre de renvoi signée par la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établit la lettre de renvoi. En Centrale, l’un ou l’autre la signe ; en région, seul le Chef de commission de la localité. Le Membre ne la signe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(8/11)</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possible jusqu’au PV signé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motivé, lettre signée à l’appui, d’un dossier soumis, prêt à dispatcher, dispatché ou examiné. Dès la signature du PV, la demande est refusée.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Décision du Chef de commission ou du Président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Seuls le Chef de commission de la localité ou le Président statuent. Une demande devenue </a:t>
                      </a:r>
                      <a:pPr indent="0" marL="0">
                        <a:buNone/>
                      </a:pPr>
                      <a:r>
                        <a:rPr lang="en-US" sz="1100" b="1" dirty="0">
                          <a:solidFill>
                            <a:srgbClr val="1B2A3A"/>
                          </a:solidFill>
                          <a:latin typeface="Segoe UI" pitchFamily="34" charset="0"/>
                          <a:ea typeface="Segoe UI" pitchFamily="34" charset="-122"/>
                          <a:cs typeface="Segoe UI" pitchFamily="34" charset="-120"/>
                        </a:rPr>
                        <a:t>caduque</a:t>
                      </a:r>
                      <a:pPr indent="0" marL="0">
                        <a:buNone/>
                      </a:pPr>
                      <a:r>
                        <a:rPr lang="en-US" sz="1100" dirty="0">
                          <a:solidFill>
                            <a:srgbClr val="1B2A3A"/>
                          </a:solidFill>
                          <a:latin typeface="Segoe UI" pitchFamily="34" charset="0"/>
                          <a:ea typeface="Segoe UI" pitchFamily="34" charset="-122"/>
                          <a:cs typeface="Segoe UI" pitchFamily="34" charset="-120"/>
                        </a:rPr>
                        <a:t>, le PV ayant été signé entre-temps, ne peut plus qu’être refusée.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 retour au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L’acceptation ramène le dossier au brouillon et efface son circuit : dispatch, examen, PV, navettes. Le journal et le chronométrage sont conservés ; un refus laisse le dossier inchangé.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(9/11)</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acte daté, avec pièce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titulaire absent désigne son intérimaire pour une période, sur note de service ou décision jointe en PDF. Un intérim ne se modifie ni ne s’efface : une prolongation est un </a:t>
                      </a:r>
                      <a:pPr indent="0" marL="0">
                        <a:buNone/>
                      </a:pPr>
                      <a:r>
                        <a:rPr lang="en-US" sz="1100" b="1" dirty="0">
                          <a:solidFill>
                            <a:srgbClr val="1B2A3A"/>
                          </a:solidFill>
                          <a:latin typeface="Segoe UI" pitchFamily="34" charset="0"/>
                          <a:ea typeface="Segoe UI" pitchFamily="34" charset="-122"/>
                          <a:cs typeface="Segoe UI" pitchFamily="34" charset="-120"/>
                        </a:rPr>
                        <a:t>nouvel intérim</a:t>
                      </a:r>
                      <a:pPr indent="0" marL="0">
                        <a:buNone/>
                      </a:pPr>
                      <a:r>
                        <a:rPr lang="en-US" sz="1100" dirty="0">
                          <a:solidFill>
                            <a:srgbClr val="1B2A3A"/>
                          </a:solidFill>
                          <a:latin typeface="Segoe UI" pitchFamily="34" charset="0"/>
                          <a:ea typeface="Segoe UI" pitchFamily="34" charset="-122"/>
                          <a:cs typeface="Segoe UI" pitchFamily="34" charset="-120"/>
                        </a:rPr>
                        <a:t>, une fin avant terme une révocation.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déclare sa propre absence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et le Chef de commission déclarent eux-mêmes leur absence ; l’Administrateur désigne et révoque </a:t>
                      </a:r>
                      <a:pPr indent="0" marL="0">
                        <a:buNone/>
                      </a:pPr>
                      <a:r>
                        <a:rPr lang="en-US" sz="1100" b="1" dirty="0">
                          <a:solidFill>
                            <a:srgbClr val="1B2A3A"/>
                          </a:solidFill>
                          <a:latin typeface="Segoe UI" pitchFamily="34" charset="0"/>
                          <a:ea typeface="Segoe UI" pitchFamily="34" charset="-122"/>
                          <a:cs typeface="Segoe UI" pitchFamily="34" charset="-120"/>
                        </a:rPr>
                        <a:t>en repli</a:t>
                      </a:r>
                      <a:pPr indent="0" marL="0">
                        <a:buNone/>
                      </a:pPr>
                      <a:r>
                        <a:rPr lang="en-US" sz="1100" dirty="0">
                          <a:solidFill>
                            <a:srgbClr val="1B2A3A"/>
                          </a:solidFill>
                          <a:latin typeface="Segoe UI" pitchFamily="34" charset="0"/>
                          <a:ea typeface="Segoe UI" pitchFamily="34" charset="-122"/>
                          <a:cs typeface="Segoe UI" pitchFamily="34" charset="-120"/>
                        </a:rPr>
                        <a:t>. Les autres profils ne déclarent pas d’absence : la réattribution et la délégation les couvrent.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(10/11)</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Statut déduit des dates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se déduit des dates : à venir, actif, achevé ou révoqué. Seul l’intérim </a:t>
                      </a:r>
                      <a:pPr indent="0" marL="0">
                        <a:buNone/>
                      </a:pPr>
                      <a:r>
                        <a:rPr lang="en-US" sz="1100" b="1" dirty="0">
                          <a:solidFill>
                            <a:srgbClr val="1B2A3A"/>
                          </a:solidFill>
                          <a:latin typeface="Segoe UI" pitchFamily="34" charset="0"/>
                          <a:ea typeface="Segoe UI" pitchFamily="34" charset="-122"/>
                          <a:cs typeface="Segoe UI" pitchFamily="34" charset="-120"/>
                        </a:rPr>
                        <a:t>actif</a:t>
                      </a:r>
                      <a:pPr indent="0" marL="0">
                        <a:buNone/>
                      </a:pPr>
                      <a:r>
                        <a:rPr lang="en-US" sz="1100" dirty="0">
                          <a:solidFill>
                            <a:srgbClr val="1B2A3A"/>
                          </a:solidFill>
                          <a:latin typeface="Segoe UI" pitchFamily="34" charset="0"/>
                          <a:ea typeface="Segoe UI" pitchFamily="34" charset="-122"/>
                          <a:cs typeface="Segoe UI" pitchFamily="34" charset="-120"/>
                        </a:rPr>
                        <a:t> ouvre des droits, et il n’est pas transitif : l’intérimaire du Président ne désigne jamais d’intérimaire pour le Président.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Révocation sans effet rétroactif</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titulaire, l’auteur de la désignation ou l’Administrateur révoque l’intérim, au plus tôt à la date du jour. Les droits tombent aussitôt ; les actes déjà posés </a:t>
                      </a:r>
                      <a:pPr indent="0" marL="0">
                        <a:buNone/>
                      </a:pPr>
                      <a:r>
                        <a:rPr lang="en-US" sz="1100" b="1" dirty="0">
                          <a:solidFill>
                            <a:srgbClr val="1B2A3A"/>
                          </a:solidFill>
                          <a:latin typeface="Segoe UI" pitchFamily="34" charset="0"/>
                          <a:ea typeface="Segoe UI" pitchFamily="34" charset="-122"/>
                          <a:cs typeface="Segoe UI" pitchFamily="34" charset="-120"/>
                        </a:rPr>
                        <a:t>restent</a:t>
                      </a:r>
                      <a:pPr indent="0" marL="0">
                        <a:buNone/>
                      </a:pPr>
                      <a:r>
                        <a:rPr lang="en-US" sz="1100" dirty="0">
                          <a:solidFill>
                            <a:srgbClr val="1B2A3A"/>
                          </a:solidFill>
                          <a:latin typeface="Segoe UI" pitchFamily="34" charset="0"/>
                          <a:ea typeface="Segoe UI" pitchFamily="34" charset="-122"/>
                          <a:cs typeface="Segoe UI" pitchFamily="34" charset="-120"/>
                        </a:rPr>
                        <a:t> ceux de l’intérimaire.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Agir dans le périmètre du titulaire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L’intérimaire agit dans le périmètre du titulaire, sous sa propre identité : dispatch, visa, retour, réattribution, retraits, part de signature. L’examen, la part du Membre et les lettres de renvoi restent </a:t>
                      </a:r>
                      <a:pPr indent="0" marL="0">
                        <a:buNone/>
                      </a:pPr>
                      <a:r>
                        <a:rPr lang="en-US" sz="1100" b="1" dirty="0">
                          <a:solidFill>
                            <a:srgbClr val="1B2A3A"/>
                          </a:solidFill>
                          <a:latin typeface="Segoe UI" pitchFamily="34" charset="0"/>
                          <a:ea typeface="Segoe UI" pitchFamily="34" charset="-122"/>
                          <a:cs typeface="Segoe UI" pitchFamily="34" charset="-120"/>
                        </a:rPr>
                        <a:t>hors de l’intérim</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Notifications copiées, jamais détournées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Toute notification adressée au titulaire est </a:t>
                      </a:r>
                      <a:pPr indent="0" marL="0">
                        <a:buNone/>
                      </a:pPr>
                      <a:r>
                        <a:rPr lang="en-US" sz="1100" b="1" dirty="0">
                          <a:solidFill>
                            <a:srgbClr val="1B2A3A"/>
                          </a:solidFill>
                          <a:latin typeface="Segoe UI" pitchFamily="34" charset="0"/>
                          <a:ea typeface="Segoe UI" pitchFamily="34" charset="-122"/>
                          <a:cs typeface="Segoe UI" pitchFamily="34" charset="-120"/>
                        </a:rPr>
                        <a:t>copiée</a:t>
                      </a:r>
                      <a:pPr indent="0" marL="0">
                        <a:buNone/>
                      </a:pPr>
                      <a:r>
                        <a:rPr lang="en-US" sz="1100" dirty="0">
                          <a:solidFill>
                            <a:srgbClr val="1B2A3A"/>
                          </a:solidFill>
                          <a:latin typeface="Segoe UI" pitchFamily="34" charset="0"/>
                          <a:ea typeface="Segoe UI" pitchFamily="34" charset="-122"/>
                          <a:cs typeface="Segoe UI" pitchFamily="34" charset="-120"/>
                        </a:rPr>
                        <a:t> à son intérimaire actif ; le titulaire garde ses tâches et son historique. Le journal et le chronométrage portent la mention « par intérim de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Qui peut suppléer qui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est suppléé par un Chef de commission de n’importe quelle localité ; un Chef de commission de la Centrale, par un autre Chef de commission de la Centrale ou un Membre de sa localité ; un Chef de commission régional, par un </a:t>
                      </a:r>
                      <a:pPr indent="0" marL="0">
                        <a:buNone/>
                      </a:pPr>
                      <a:r>
                        <a:rPr lang="en-US" sz="1100" b="1" dirty="0">
                          <a:solidFill>
                            <a:srgbClr val="1B2A3A"/>
                          </a:solidFill>
                          <a:latin typeface="Segoe UI" pitchFamily="34" charset="0"/>
                          <a:ea typeface="Segoe UI" pitchFamily="34" charset="-122"/>
                          <a:cs typeface="Segoe UI" pitchFamily="34" charset="-120"/>
                        </a:rPr>
                        <a:t>Membre de sa localité</a:t>
                      </a:r>
                      <a:pPr indent="0" marL="0">
                        <a:buNone/>
                      </a:pPr>
                      <a:r>
                        <a:rPr lang="en-US" sz="1100" dirty="0">
                          <a:solidFill>
                            <a:srgbClr val="1B2A3A"/>
                          </a:solidFill>
                          <a:latin typeface="Segoe UI" pitchFamily="34" charset="0"/>
                          <a:ea typeface="Segoe UI" pitchFamily="34" charset="-122"/>
                          <a:cs typeface="Segoe UI" pitchFamily="34" charset="-120"/>
                        </a:rPr>
                        <a:t>. La liste de l’écran ne propose que ces personnes.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(11/11)</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seul intérim à la fois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titulaire n’a qu’un intérim actif ou à venir à une date donnée : tout chevauchement est refusé. Le cumul du côté de l’intérimaire est </a:t>
                      </a:r>
                      <a:pPr indent="0" marL="0">
                        <a:buNone/>
                      </a:pPr>
                      <a:r>
                        <a:rPr lang="en-US" sz="1100" b="1" dirty="0">
                          <a:solidFill>
                            <a:srgbClr val="1B2A3A"/>
                          </a:solidFill>
                          <a:latin typeface="Segoe UI" pitchFamily="34" charset="0"/>
                          <a:ea typeface="Segoe UI" pitchFamily="34" charset="-122"/>
                          <a:cs typeface="Segoe UI" pitchFamily="34" charset="-120"/>
                        </a:rPr>
                        <a:t>signalé</a:t>
                      </a:r>
                      <a:pPr indent="0" marL="0">
                        <a:buNone/>
                      </a:pPr>
                      <a:r>
                        <a:rPr lang="en-US" sz="1100" dirty="0">
                          <a:solidFill>
                            <a:srgbClr val="1B2A3A"/>
                          </a:solidFill>
                          <a:latin typeface="Segoe UI" pitchFamily="34" charset="0"/>
                          <a:ea typeface="Segoe UI" pitchFamily="34" charset="-122"/>
                          <a:cs typeface="Segoe UI" pitchFamily="34" charset="-120"/>
                        </a:rPr>
                        <a:t>, jamais interdit.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Indicateurs selon le profil</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tableau de bord — dossiers par statut, dossiers conformes, taux de conformité, cinq points les plus souvent non conformes — est lu par le Président et l’Administrateur pour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par le Chef de commission pour la sienne seulement. La PRMP n’a pas accès aux statistiques de la CNM.</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mesure la conformité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est conforme quand le Vérificateur constate les observations levées au dernier passage. Le taux de conformité mesure la </a:t>
                      </a:r>
                      <a:pPr indent="0" marL="0">
                        <a:buNone/>
                      </a:pPr>
                      <a:r>
                        <a:rPr lang="en-US" sz="1100" b="1" dirty="0">
                          <a:solidFill>
                            <a:srgbClr val="1B2A3A"/>
                          </a:solidFill>
                          <a:latin typeface="Segoe UI" pitchFamily="34" charset="0"/>
                          <a:ea typeface="Segoe UI" pitchFamily="34" charset="-122"/>
                          <a:cs typeface="Segoe UI" pitchFamily="34" charset="-120"/>
                        </a:rPr>
                        <a:t>qualité initiale</a:t>
                      </a:r>
                      <a:pPr indent="0" marL="0">
                        <a:buNone/>
                      </a:pPr>
                      <a:r>
                        <a:rPr lang="en-US" sz="1100" dirty="0">
                          <a:solidFill>
                            <a:srgbClr val="1B2A3A"/>
                          </a:solidFill>
                          <a:latin typeface="Segoe UI" pitchFamily="34" charset="0"/>
                          <a:ea typeface="Segoe UI" pitchFamily="34" charset="-122"/>
                          <a:cs typeface="Segoe UI" pitchFamily="34" charset="-120"/>
                        </a:rPr>
                        <a:t> des soumissions : 100 % signifie aucun retour.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taux se compte sur les dossiers soumis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taux de conformité rapporte les dossiers conformes aux dossiers </a:t>
                      </a:r>
                      <a:pPr indent="0" marL="0">
                        <a:buNone/>
                      </a:pPr>
                      <a:r>
                        <a:rPr lang="en-US" sz="1100" b="1" dirty="0">
                          <a:solidFill>
                            <a:srgbClr val="1B2A3A"/>
                          </a:solidFill>
                          <a:latin typeface="Segoe UI" pitchFamily="34" charset="0"/>
                          <a:ea typeface="Segoe UI" pitchFamily="34" charset="-122"/>
                          <a:cs typeface="Segoe UI" pitchFamily="34" charset="-120"/>
                        </a:rPr>
                        <a:t>soumis</a:t>
                      </a:r>
                      <a:pPr indent="0" marL="0">
                        <a:buNone/>
                      </a:pPr>
                      <a:r>
                        <a:rPr lang="en-US" sz="1100" dirty="0">
                          <a:solidFill>
                            <a:srgbClr val="1B2A3A"/>
                          </a:solidFill>
                          <a:latin typeface="Segoe UI" pitchFamily="34" charset="0"/>
                          <a:ea typeface="Segoe UI" pitchFamily="34" charset="-122"/>
                          <a:cs typeface="Segoe UI" pitchFamily="34" charset="-120"/>
                        </a:rPr>
                        <a:t> : les brouillons n’entrent pas dans le compte des dossiers déposés, mais restent visibles dans la répartition par statut.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Rapports bornés par la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rapports de dossiers se téléchargent en PDF ou en tableur, sur une période facultative : sans dates, tous les dossiers sont inclus. Président et Administrateur couvrent toutes les commissions ; le Chef de commission n’obtient que </a:t>
                      </a:r>
                      <a:pPr indent="0" marL="0">
                        <a:buNone/>
                      </a:pPr>
                      <a:r>
                        <a:rPr lang="en-US" sz="1100" b="1" dirty="0">
                          <a:solidFill>
                            <a:srgbClr val="1B2A3A"/>
                          </a:solidFill>
                          <a:latin typeface="Segoe UI" pitchFamily="34" charset="0"/>
                          <a:ea typeface="Segoe UI" pitchFamily="34" charset="-122"/>
                          <a:cs typeface="Segoe UI" pitchFamily="34" charset="-120"/>
                        </a:rPr>
                        <a:t>sa localité</a:t>
                      </a:r>
                      <a:pPr indent="0" marL="0">
                        <a:buNone/>
                      </a:pPr>
                      <a:r>
                        <a:rPr lang="en-US" sz="1100" dirty="0">
                          <a:solidFill>
                            <a:srgbClr val="1B2A3A"/>
                          </a:solidFill>
                          <a:latin typeface="Segoe UI" pitchFamily="34" charset="0"/>
                          <a:ea typeface="Segoe UI" pitchFamily="34" charset="-122"/>
                          <a:cs typeface="Segoe UI" pitchFamily="34" charset="-120"/>
                        </a:rPr>
                        <a:t>. L’écran ne propose pas encore de cibler une commission précise, que l’application sait pourtant produire.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Chef de commission · 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 Chef de commission</dc:title>
  <dc:subject>PptxGenJS Presentation</dc:subject>
  <dc:creator>PRS 2.0</dc:creator>
  <cp:lastModifiedBy>PRS 2.0</cp:lastModifiedBy>
  <cp:revision>1</cp:revision>
  <dcterms:created xsi:type="dcterms:W3CDTF">2026-10-14T12:36:46Z</dcterms:created>
  <dcterms:modified xsi:type="dcterms:W3CDTF">2026-10-14T12:36:46Z</dcterms:modified>
</cp:coreProperties>
</file>