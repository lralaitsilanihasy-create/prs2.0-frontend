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procédure de fournitures en remise électronique, suivie de bout en bout : réglages de l’Administrateur, fiche et avis par la PRMP, commission et cérémonie des clés, candidats (inscription, entreprise, retrait, dépôt, remplacement, retrait d’offre), puis la séance d’ouverture avec l’emploi de la part de secours, la lecture, le PV signé en ligne et publié.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démonstration, le délai minimal de 30 jours a été abaissé le temps de la validation, puis rétabli.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PRS 2.0 · COMMISSION NATIONALE DES MARCHÉS</a:t>
            </a:r>
            <a:endParaRPr lang="en-US" sz="1400" dirty="0"/>
          </a:p>
        </p:txBody>
      </p:sp>
      <p:sp>
        <p:nvSpPr>
          <p:cNvPr id="4" name="Text 2"/>
          <p:cNvSpPr/>
          <p:nvPr/>
        </p:nvSpPr>
        <p:spPr>
          <a:xfrm>
            <a:off x="812780" y="1206500"/>
            <a:ext cx="10477238" cy="1079500"/>
          </a:xfrm>
          <a:prstGeom prst="rect">
            <a:avLst/>
          </a:prstGeom>
          <a:noFill/>
          <a:ln/>
        </p:spPr>
        <p:txBody>
          <a:bodyPr wrap="square" rtlCol="0" anchor="ctr"/>
          <a:lstStyle/>
          <a:p>
            <a:pPr indent="0" marL="0">
              <a:buNone/>
            </a:pPr>
            <a:r>
              <a:rPr lang="en-US" sz="5000" b="1" dirty="0">
                <a:solidFill>
                  <a:srgbClr val="FCFCFA"/>
                </a:solidFill>
                <a:latin typeface="Segoe UI" pitchFamily="34" charset="0"/>
                <a:ea typeface="Segoe UI" pitchFamily="34" charset="-122"/>
                <a:cs typeface="Segoe UI" pitchFamily="34" charset="-120"/>
              </a:rPr>
              <a:t>La soumission électronique des offres</a:t>
            </a:r>
            <a:endParaRPr lang="en-US" sz="5000" dirty="0"/>
          </a:p>
        </p:txBody>
      </p:sp>
      <p:sp>
        <p:nvSpPr>
          <p:cNvPr id="5" name="Text 3"/>
          <p:cNvSpPr/>
          <p:nvPr/>
        </p:nvSpPr>
        <p:spPr>
          <a:xfrm>
            <a:off x="812780" y="2476500"/>
            <a:ext cx="9207270" cy="952500"/>
          </a:xfrm>
          <a:prstGeom prst="rect">
            <a:avLst/>
          </a:prstGeom>
          <a:noFill/>
          <a:ln/>
        </p:spPr>
        <p:txBody>
          <a:bodyPr wrap="square" rtlCol="0" anchor="ctr"/>
          <a:lstStyle/>
          <a:p>
            <a:pPr indent="0" marL="0">
              <a:buNone/>
            </a:pPr>
            <a:r>
              <a:rPr lang="en-US" sz="2400" dirty="0">
                <a:solidFill>
                  <a:srgbClr val="FCFCFA"/>
                </a:solidFill>
                <a:latin typeface="Segoe UI" pitchFamily="34" charset="0"/>
                <a:ea typeface="Segoe UI" pitchFamily="34" charset="-122"/>
                <a:cs typeface="Segoe UI" pitchFamily="34" charset="-120"/>
              </a:rPr>
              <a:t>Du réglage de la plateforme au procès-verbal d’ouverture publié : chaque étape, chaque acteur, chaque écran.</a:t>
            </a:r>
            <a:endParaRPr lang="en-US" sz="2400" dirty="0"/>
          </a:p>
        </p:txBody>
      </p:sp>
      <p:sp>
        <p:nvSpPr>
          <p:cNvPr id="6" name="Text 4"/>
          <p:cNvSpPr/>
          <p:nvPr/>
        </p:nvSpPr>
        <p:spPr>
          <a:xfrm>
            <a:off x="812780" y="5080000"/>
            <a:ext cx="9842254" cy="889000"/>
          </a:xfrm>
          <a:prstGeom prst="rect">
            <a:avLst/>
          </a:prstGeom>
          <a:noFill/>
          <a:ln/>
        </p:spPr>
        <p:txBody>
          <a:bodyPr wrap="square" rtlCol="0" anchor="ctr"/>
          <a:lstStyle/>
          <a:p>
            <a:pPr indent="0" marL="0">
              <a:buNone/>
            </a:pPr>
            <a:r>
              <a:rPr lang="en-US" sz="1500" dirty="0">
                <a:solidFill>
                  <a:srgbClr val="C9D6E2"/>
                </a:solidFill>
                <a:latin typeface="Segoe UI" pitchFamily="34" charset="0"/>
                <a:ea typeface="Segoe UI" pitchFamily="34" charset="-122"/>
                <a:cs typeface="Segoe UI" pitchFamily="34" charset="-120"/>
              </a:rPr>
              <a:t>Captures de l’application réelle, sur une procédure de démonstration (fournitures, remise électronique) déroulée le 5 octobre 2026.</a:t>
            </a:r>
            <a:endParaRPr lang="en-US" sz="1500" dirty="0"/>
          </a:p>
          <a:p>
            <a:pPr indent="0" marL="0">
              <a:buNone/>
            </a:pPr>
            <a:r>
              <a:rPr lang="en-US" sz="1500" dirty="0">
                <a:solidFill>
                  <a:srgbClr val="C9D6E2"/>
                </a:solidFill>
                <a:latin typeface="Segoe UI" pitchFamily="34" charset="0"/>
                <a:ea typeface="Segoe UI" pitchFamily="34" charset="-122"/>
                <a:cs typeface="Segoe UI" pitchFamily="34" charset="-120"/>
              </a:rPr>
              <a:t>Noms de personnes remplacés par leur rôle ; phrases secrètes masquées.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2638"/>
        </a:solidFill>
      </p:bgPr>
    </p:bg>
    <p:spTree>
      <p:nvGrpSpPr>
        <p:cNvPr id="1" name=""/>
        <p:cNvGrpSpPr/>
        <p:nvPr/>
      </p:nvGrpSpPr>
      <p:grpSpPr>
        <a:xfrm>
          <a:off x="0" y="0"/>
          <a:ext cx="0" cy="0"/>
          <a:chOff x="0" y="0"/>
          <a:chExt cx="0" cy="0"/>
        </a:xfrm>
      </p:grpSpPr>
      <p:sp>
        <p:nvSpPr>
          <p:cNvPr id="2" name="Text 0"/>
          <p:cNvSpPr/>
          <p:nvPr/>
        </p:nvSpPr>
        <p:spPr>
          <a:xfrm>
            <a:off x="812780" y="952500"/>
            <a:ext cx="5079873" cy="2540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LE PRINCIPE</a:t>
            </a:r>
            <a:endParaRPr lang="en-US" sz="1200" dirty="0"/>
          </a:p>
        </p:txBody>
      </p:sp>
      <p:sp>
        <p:nvSpPr>
          <p:cNvPr id="3" name="Text 1"/>
          <p:cNvSpPr/>
          <p:nvPr/>
        </p:nvSpPr>
        <p:spPr>
          <a:xfrm>
            <a:off x="812780" y="1270000"/>
            <a:ext cx="10413740" cy="1905000"/>
          </a:xfrm>
          <a:prstGeom prst="rect">
            <a:avLst/>
          </a:prstGeom>
          <a:noFill/>
          <a:ln/>
        </p:spPr>
        <p:txBody>
          <a:bodyPr wrap="square" rtlCol="0" anchor="t"/>
          <a:lstStyle/>
          <a:p>
            <a:pPr indent="0" marL="0">
              <a:buNone/>
            </a:pPr>
            <a:r>
              <a:rPr lang="en-US" sz="3200" b="1" dirty="0">
                <a:solidFill>
                  <a:srgbClr val="FCFCFA"/>
                </a:solidFill>
                <a:latin typeface="Segoe UI" pitchFamily="34" charset="0"/>
                <a:ea typeface="Segoe UI" pitchFamily="34" charset="-122"/>
                <a:cs typeface="Segoe UI" pitchFamily="34" charset="-120"/>
              </a:rPr>
              <a:t>Une offre est chiffrée sur le poste du candidat. Elle ne s’ouvre qu’en séance, quand la commission réunit le quorum des parts de la clé.</a:t>
            </a:r>
            <a:endParaRPr lang="en-US" sz="3200" dirty="0"/>
          </a:p>
        </p:txBody>
      </p:sp>
      <p:sp>
        <p:nvSpPr>
          <p:cNvPr id="4" name="Shape 2"/>
          <p:cNvSpPr/>
          <p:nvPr/>
        </p:nvSpPr>
        <p:spPr>
          <a:xfrm>
            <a:off x="812780" y="3683000"/>
            <a:ext cx="38099" cy="1524000"/>
          </a:xfrm>
          <a:prstGeom prst="rect">
            <a:avLst/>
          </a:prstGeom>
          <a:solidFill>
            <a:srgbClr val="E3AE2E"/>
          </a:solidFill>
          <a:ln w="12700">
            <a:solidFill>
              <a:srgbClr val="E3AE2E"/>
            </a:solidFill>
            <a:prstDash val="solid"/>
          </a:ln>
        </p:spPr>
      </p:sp>
      <p:sp>
        <p:nvSpPr>
          <p:cNvPr id="5" name="Text 3"/>
          <p:cNvSpPr/>
          <p:nvPr/>
        </p:nvSpPr>
        <p:spPr>
          <a:xfrm>
            <a:off x="965176" y="3683000"/>
            <a:ext cx="3238419" cy="355600"/>
          </a:xfrm>
          <a:prstGeom prst="rect">
            <a:avLst/>
          </a:prstGeom>
          <a:noFill/>
          <a:ln/>
        </p:spPr>
        <p:txBody>
          <a:bodyPr wrap="square" rtlCol="0" anchor="ctr"/>
          <a:lstStyle/>
          <a:p>
            <a:pPr indent="0" marL="0">
              <a:buNone/>
            </a:pPr>
            <a:r>
              <a:rPr lang="en-US" sz="1600" b="1" dirty="0">
                <a:solidFill>
                  <a:srgbClr val="FCFCFA"/>
                </a:solidFill>
                <a:latin typeface="Segoe UI" pitchFamily="34" charset="0"/>
                <a:ea typeface="Segoe UI" pitchFamily="34" charset="-122"/>
                <a:cs typeface="Segoe UI" pitchFamily="34" charset="-120"/>
              </a:rPr>
              <a:t>Une clé partagée</a:t>
            </a:r>
            <a:endParaRPr lang="en-US" sz="1600" dirty="0"/>
          </a:p>
        </p:txBody>
      </p:sp>
      <p:sp>
        <p:nvSpPr>
          <p:cNvPr id="6" name="Text 4"/>
          <p:cNvSpPr/>
          <p:nvPr/>
        </p:nvSpPr>
        <p:spPr>
          <a:xfrm>
            <a:off x="965176" y="4064000"/>
            <a:ext cx="3238419" cy="1143000"/>
          </a:xfrm>
          <a:prstGeom prst="rect">
            <a:avLst/>
          </a:prstGeom>
          <a:noFill/>
          <a:ln/>
        </p:spPr>
        <p:txBody>
          <a:bodyPr wrap="square" rtlCol="0" anchor="t"/>
          <a:lstStyle/>
          <a:p>
            <a:pPr indent="0" marL="0">
              <a:buNone/>
            </a:pPr>
            <a:r>
              <a:rPr lang="en-US" sz="1300" dirty="0">
                <a:solidFill>
                  <a:srgbClr val="C9D6E2"/>
                </a:solidFill>
                <a:latin typeface="Segoe UI" pitchFamily="34" charset="0"/>
                <a:ea typeface="Segoe UI" pitchFamily="34" charset="-122"/>
                <a:cs typeface="Segoe UI" pitchFamily="34" charset="-120"/>
              </a:rPr>
              <a:t>Une part par membre de la commission d’appel d’offres, et une part de secours gardée par un dépositaire.</a:t>
            </a:r>
            <a:endParaRPr lang="en-US" sz="1300" dirty="0"/>
          </a:p>
        </p:txBody>
      </p:sp>
      <p:sp>
        <p:nvSpPr>
          <p:cNvPr id="7" name="Shape 5"/>
          <p:cNvSpPr/>
          <p:nvPr/>
        </p:nvSpPr>
        <p:spPr>
          <a:xfrm>
            <a:off x="4406790" y="3683000"/>
            <a:ext cx="38099" cy="1524000"/>
          </a:xfrm>
          <a:prstGeom prst="rect">
            <a:avLst/>
          </a:prstGeom>
          <a:solidFill>
            <a:srgbClr val="E3AE2E"/>
          </a:solidFill>
          <a:ln w="12700">
            <a:solidFill>
              <a:srgbClr val="E3AE2E"/>
            </a:solidFill>
            <a:prstDash val="solid"/>
          </a:ln>
        </p:spPr>
      </p:sp>
      <p:sp>
        <p:nvSpPr>
          <p:cNvPr id="8" name="Text 6"/>
          <p:cNvSpPr/>
          <p:nvPr/>
        </p:nvSpPr>
        <p:spPr>
          <a:xfrm>
            <a:off x="4559186" y="3683000"/>
            <a:ext cx="3238419" cy="355600"/>
          </a:xfrm>
          <a:prstGeom prst="rect">
            <a:avLst/>
          </a:prstGeom>
          <a:noFill/>
          <a:ln/>
        </p:spPr>
        <p:txBody>
          <a:bodyPr wrap="square" rtlCol="0" anchor="ctr"/>
          <a:lstStyle/>
          <a:p>
            <a:pPr indent="0" marL="0">
              <a:buNone/>
            </a:pPr>
            <a:r>
              <a:rPr lang="en-US" sz="1600" b="1" dirty="0">
                <a:solidFill>
                  <a:srgbClr val="FCFCFA"/>
                </a:solidFill>
                <a:latin typeface="Segoe UI" pitchFamily="34" charset="0"/>
                <a:ea typeface="Segoe UI" pitchFamily="34" charset="-122"/>
                <a:cs typeface="Segoe UI" pitchFamily="34" charset="-120"/>
              </a:rPr>
              <a:t>Un quorum</a:t>
            </a:r>
            <a:endParaRPr lang="en-US" sz="1600" dirty="0"/>
          </a:p>
        </p:txBody>
      </p:sp>
      <p:sp>
        <p:nvSpPr>
          <p:cNvPr id="9" name="Text 7"/>
          <p:cNvSpPr/>
          <p:nvPr/>
        </p:nvSpPr>
        <p:spPr>
          <a:xfrm>
            <a:off x="4559186" y="4064000"/>
            <a:ext cx="3238419" cy="1143000"/>
          </a:xfrm>
          <a:prstGeom prst="rect">
            <a:avLst/>
          </a:prstGeom>
          <a:noFill/>
          <a:ln/>
        </p:spPr>
        <p:txBody>
          <a:bodyPr wrap="square" rtlCol="0" anchor="t"/>
          <a:lstStyle/>
          <a:p>
            <a:pPr indent="0" marL="0">
              <a:buNone/>
            </a:pPr>
            <a:r>
              <a:rPr lang="en-US" sz="1300" dirty="0">
                <a:solidFill>
                  <a:srgbClr val="C9D6E2"/>
                </a:solidFill>
                <a:latin typeface="Segoe UI" pitchFamily="34" charset="0"/>
                <a:ea typeface="Segoe UI" pitchFamily="34" charset="-122"/>
                <a:cs typeface="Segoe UI" pitchFamily="34" charset="-120"/>
              </a:rPr>
              <a:t>Il faut réunir un nombre minimal de parts ; une seule ne suffit jamais.</a:t>
            </a:r>
            <a:endParaRPr lang="en-US" sz="1300" dirty="0"/>
          </a:p>
        </p:txBody>
      </p:sp>
      <p:sp>
        <p:nvSpPr>
          <p:cNvPr id="10" name="Shape 8"/>
          <p:cNvSpPr/>
          <p:nvPr/>
        </p:nvSpPr>
        <p:spPr>
          <a:xfrm>
            <a:off x="8000800" y="3683000"/>
            <a:ext cx="38099" cy="1524000"/>
          </a:xfrm>
          <a:prstGeom prst="rect">
            <a:avLst/>
          </a:prstGeom>
          <a:solidFill>
            <a:srgbClr val="E3AE2E"/>
          </a:solidFill>
          <a:ln w="12700">
            <a:solidFill>
              <a:srgbClr val="E3AE2E"/>
            </a:solidFill>
            <a:prstDash val="solid"/>
          </a:ln>
        </p:spPr>
      </p:sp>
      <p:sp>
        <p:nvSpPr>
          <p:cNvPr id="11" name="Text 9"/>
          <p:cNvSpPr/>
          <p:nvPr/>
        </p:nvSpPr>
        <p:spPr>
          <a:xfrm>
            <a:off x="8153196" y="3683000"/>
            <a:ext cx="3238419" cy="355600"/>
          </a:xfrm>
          <a:prstGeom prst="rect">
            <a:avLst/>
          </a:prstGeom>
          <a:noFill/>
          <a:ln/>
        </p:spPr>
        <p:txBody>
          <a:bodyPr wrap="square" rtlCol="0" anchor="ctr"/>
          <a:lstStyle/>
          <a:p>
            <a:pPr indent="0" marL="0">
              <a:buNone/>
            </a:pPr>
            <a:r>
              <a:rPr lang="en-US" sz="1600" b="1" dirty="0">
                <a:solidFill>
                  <a:srgbClr val="FCFCFA"/>
                </a:solidFill>
                <a:latin typeface="Segoe UI" pitchFamily="34" charset="0"/>
                <a:ea typeface="Segoe UI" pitchFamily="34" charset="-122"/>
                <a:cs typeface="Segoe UI" pitchFamily="34" charset="-120"/>
              </a:rPr>
              <a:t>Personne avant l’heure</a:t>
            </a:r>
            <a:endParaRPr lang="en-US" sz="1600" dirty="0"/>
          </a:p>
        </p:txBody>
      </p:sp>
      <p:sp>
        <p:nvSpPr>
          <p:cNvPr id="12" name="Text 10"/>
          <p:cNvSpPr/>
          <p:nvPr/>
        </p:nvSpPr>
        <p:spPr>
          <a:xfrm>
            <a:off x="8153196" y="4064000"/>
            <a:ext cx="3238419" cy="1143000"/>
          </a:xfrm>
          <a:prstGeom prst="rect">
            <a:avLst/>
          </a:prstGeom>
          <a:noFill/>
          <a:ln/>
        </p:spPr>
        <p:txBody>
          <a:bodyPr wrap="square" rtlCol="0" anchor="t"/>
          <a:lstStyle/>
          <a:p>
            <a:pPr indent="0" marL="0">
              <a:buNone/>
            </a:pPr>
            <a:r>
              <a:rPr lang="en-US" sz="1300" dirty="0">
                <a:solidFill>
                  <a:srgbClr val="C9D6E2"/>
                </a:solidFill>
                <a:latin typeface="Segoe UI" pitchFamily="34" charset="0"/>
                <a:ea typeface="Segoe UI" pitchFamily="34" charset="-122"/>
                <a:cs typeface="Segoe UI" pitchFamily="34" charset="-120"/>
              </a:rPr>
              <a:t>Ni le serveur, ni un administrateur, ni un membre seul ne peuvent lire une offre avant la séance.</a:t>
            </a:r>
            <a:endParaRPr lang="en-US" sz="1300" dirty="0"/>
          </a:p>
        </p:txBody>
      </p:sp>
      <p:sp>
        <p:nvSpPr>
          <p:cNvPr id="13" name="Text 11"/>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8FA6BB"/>
                </a:solidFill>
                <a:latin typeface="Segoe UI" pitchFamily="34" charset="0"/>
                <a:ea typeface="Segoe UI" pitchFamily="34" charset="-122"/>
                <a:cs typeface="Segoe UI" pitchFamily="34" charset="-120"/>
              </a:rPr>
              <a:t>PRS 2.0 · La soumission électronique des offres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LES ACTEURS</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Six rôles, chacun dans son espace</a:t>
            </a:r>
            <a:endParaRPr lang="en-US" sz="2800" dirty="0"/>
          </a:p>
        </p:txBody>
      </p:sp>
      <p:sp>
        <p:nvSpPr>
          <p:cNvPr id="4" name="Text 2"/>
          <p:cNvSpPr/>
          <p:nvPr/>
        </p:nvSpPr>
        <p:spPr>
          <a:xfrm>
            <a:off x="812780" y="1270000"/>
            <a:ext cx="10286743" cy="508000"/>
          </a:xfrm>
          <a:prstGeom prst="rect">
            <a:avLst/>
          </a:prstGeom>
          <a:noFill/>
          <a:ln/>
        </p:spPr>
        <p:txBody>
          <a:bodyPr wrap="square" rtlCol="0" anchor="t"/>
          <a:lstStyle/>
          <a:p>
            <a:pPr indent="0" marL="0">
              <a:buNone/>
            </a:pPr>
            <a:r>
              <a:rPr lang="en-US" sz="1400" dirty="0">
                <a:solidFill>
                  <a:srgbClr val="465568"/>
                </a:solidFill>
                <a:latin typeface="Segoe UI" pitchFamily="34" charset="0"/>
                <a:ea typeface="Segoe UI" pitchFamily="34" charset="-122"/>
                <a:cs typeface="Segoe UI" pitchFamily="34" charset="-120"/>
              </a:rPr>
              <a:t>Personne ne cumule : la PRMP ne siège pas, le responsable ne détient aucune part, le dépositaire ne lit jamais les offres.</a:t>
            </a:r>
            <a:endParaRPr lang="en-US" sz="1400" dirty="0"/>
          </a:p>
        </p:txBody>
      </p:sp>
      <p:sp>
        <p:nvSpPr>
          <p:cNvPr id="5" name="Shape 3"/>
          <p:cNvSpPr/>
          <p:nvPr/>
        </p:nvSpPr>
        <p:spPr>
          <a:xfrm>
            <a:off x="812780" y="1905000"/>
            <a:ext cx="3403515" cy="1905000"/>
          </a:xfrm>
          <a:prstGeom prst="rect">
            <a:avLst/>
          </a:prstGeom>
          <a:solidFill>
            <a:srgbClr val="FCFCFA"/>
          </a:solidFill>
          <a:ln w="9525">
            <a:solidFill>
              <a:srgbClr val="D5DCE4"/>
            </a:solidFill>
            <a:prstDash val="solid"/>
          </a:ln>
        </p:spPr>
      </p:sp>
      <p:sp>
        <p:nvSpPr>
          <p:cNvPr id="6" name="Shape 4"/>
          <p:cNvSpPr/>
          <p:nvPr/>
        </p:nvSpPr>
        <p:spPr>
          <a:xfrm>
            <a:off x="812780" y="1905000"/>
            <a:ext cx="3403515" cy="38100"/>
          </a:xfrm>
          <a:prstGeom prst="rect">
            <a:avLst/>
          </a:prstGeom>
          <a:solidFill>
            <a:srgbClr val="6A7787"/>
          </a:solidFill>
          <a:ln/>
        </p:spPr>
      </p:sp>
      <p:sp>
        <p:nvSpPr>
          <p:cNvPr id="7" name="Text 5"/>
          <p:cNvSpPr/>
          <p:nvPr/>
        </p:nvSpPr>
        <p:spPr>
          <a:xfrm>
            <a:off x="965176" y="2019300"/>
            <a:ext cx="3098723" cy="469900"/>
          </a:xfrm>
          <a:prstGeom prst="rect">
            <a:avLst/>
          </a:prstGeom>
          <a:noFill/>
          <a:ln/>
        </p:spPr>
        <p:txBody>
          <a:bodyPr wrap="square" rtlCol="0" anchor="t">
            <a:normAutofit/>
          </a:bodyPr>
          <a:lstStyle/>
          <a:p>
            <a:pPr indent="0" marL="0">
              <a:buNone/>
            </a:pPr>
            <a:r>
              <a:rPr lang="en-US" sz="1600" b="1" dirty="0">
                <a:solidFill>
                  <a:srgbClr val="1B2A3A"/>
                </a:solidFill>
                <a:latin typeface="Segoe UI" pitchFamily="34" charset="0"/>
                <a:ea typeface="Segoe UI" pitchFamily="34" charset="-122"/>
                <a:cs typeface="Segoe UI" pitchFamily="34" charset="-120"/>
              </a:rPr>
              <a:t>L’Administrateur</a:t>
            </a:r>
            <a:endParaRPr lang="en-US" sz="1600" dirty="0"/>
          </a:p>
        </p:txBody>
      </p:sp>
      <p:sp>
        <p:nvSpPr>
          <p:cNvPr id="8" name="Text 6"/>
          <p:cNvSpPr/>
          <p:nvPr/>
        </p:nvSpPr>
        <p:spPr>
          <a:xfrm>
            <a:off x="965176" y="2514600"/>
            <a:ext cx="3098723" cy="12192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Règle la plateforme (signature, tailles, délais), les comptes candidats, les exclusions de l’ARMP ; vérifie les entreprises ; désigne le responsable.</a:t>
            </a:r>
            <a:endParaRPr lang="en-US" sz="1300" dirty="0"/>
          </a:p>
        </p:txBody>
      </p:sp>
      <p:sp>
        <p:nvSpPr>
          <p:cNvPr id="9" name="Shape 7"/>
          <p:cNvSpPr/>
          <p:nvPr/>
        </p:nvSpPr>
        <p:spPr>
          <a:xfrm>
            <a:off x="4394090" y="1905000"/>
            <a:ext cx="3403515" cy="1905000"/>
          </a:xfrm>
          <a:prstGeom prst="rect">
            <a:avLst/>
          </a:prstGeom>
          <a:solidFill>
            <a:srgbClr val="FCFCFA"/>
          </a:solidFill>
          <a:ln w="9525">
            <a:solidFill>
              <a:srgbClr val="D5DCE4"/>
            </a:solidFill>
            <a:prstDash val="solid"/>
          </a:ln>
        </p:spPr>
      </p:sp>
      <p:sp>
        <p:nvSpPr>
          <p:cNvPr id="10" name="Shape 8"/>
          <p:cNvSpPr/>
          <p:nvPr/>
        </p:nvSpPr>
        <p:spPr>
          <a:xfrm>
            <a:off x="4394090" y="1905000"/>
            <a:ext cx="3403515" cy="38100"/>
          </a:xfrm>
          <a:prstGeom prst="rect">
            <a:avLst/>
          </a:prstGeom>
          <a:solidFill>
            <a:srgbClr val="1B6FA8"/>
          </a:solidFill>
          <a:ln/>
        </p:spPr>
      </p:sp>
      <p:sp>
        <p:nvSpPr>
          <p:cNvPr id="11" name="Text 9"/>
          <p:cNvSpPr/>
          <p:nvPr/>
        </p:nvSpPr>
        <p:spPr>
          <a:xfrm>
            <a:off x="4546486" y="2019300"/>
            <a:ext cx="3098723" cy="469900"/>
          </a:xfrm>
          <a:prstGeom prst="rect">
            <a:avLst/>
          </a:prstGeom>
          <a:noFill/>
          <a:ln/>
        </p:spPr>
        <p:txBody>
          <a:bodyPr wrap="square" rtlCol="0" anchor="t">
            <a:normAutofit/>
          </a:bodyPr>
          <a:lstStyle/>
          <a:p>
            <a:pPr indent="0" marL="0">
              <a:buNone/>
            </a:pPr>
            <a:r>
              <a:rPr lang="en-US" sz="1600" b="1" dirty="0">
                <a:solidFill>
                  <a:srgbClr val="1B2A3A"/>
                </a:solidFill>
                <a:latin typeface="Segoe UI" pitchFamily="34" charset="0"/>
                <a:ea typeface="Segoe UI" pitchFamily="34" charset="-122"/>
                <a:cs typeface="Segoe UI" pitchFamily="34" charset="-120"/>
              </a:rPr>
              <a:t>La PRMP</a:t>
            </a:r>
            <a:endParaRPr lang="en-US" sz="1600" dirty="0"/>
          </a:p>
        </p:txBody>
      </p:sp>
      <p:sp>
        <p:nvSpPr>
          <p:cNvPr id="12" name="Text 10"/>
          <p:cNvSpPr/>
          <p:nvPr/>
        </p:nvSpPr>
        <p:spPr>
          <a:xfrm>
            <a:off x="4546486" y="2514600"/>
            <a:ext cx="3098723" cy="12192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Choisit la remise électronique dans la fiche du DAO, désigne la commission d’appel d’offres, imprime l’avis, suit les dépôts.</a:t>
            </a:r>
            <a:endParaRPr lang="en-US" sz="1300" dirty="0"/>
          </a:p>
        </p:txBody>
      </p:sp>
      <p:sp>
        <p:nvSpPr>
          <p:cNvPr id="13" name="Shape 11"/>
          <p:cNvSpPr/>
          <p:nvPr/>
        </p:nvSpPr>
        <p:spPr>
          <a:xfrm>
            <a:off x="7975401" y="1905000"/>
            <a:ext cx="3403515" cy="1905000"/>
          </a:xfrm>
          <a:prstGeom prst="rect">
            <a:avLst/>
          </a:prstGeom>
          <a:solidFill>
            <a:srgbClr val="FCFCFA"/>
          </a:solidFill>
          <a:ln w="9525">
            <a:solidFill>
              <a:srgbClr val="D5DCE4"/>
            </a:solidFill>
            <a:prstDash val="solid"/>
          </a:ln>
        </p:spPr>
      </p:sp>
      <p:sp>
        <p:nvSpPr>
          <p:cNvPr id="14" name="Shape 12"/>
          <p:cNvSpPr/>
          <p:nvPr/>
        </p:nvSpPr>
        <p:spPr>
          <a:xfrm>
            <a:off x="7975401" y="1905000"/>
            <a:ext cx="3403515" cy="38100"/>
          </a:xfrm>
          <a:prstGeom prst="rect">
            <a:avLst/>
          </a:prstGeom>
          <a:solidFill>
            <a:srgbClr val="12324A"/>
          </a:solidFill>
          <a:ln/>
        </p:spPr>
      </p:sp>
      <p:sp>
        <p:nvSpPr>
          <p:cNvPr id="15" name="Text 13"/>
          <p:cNvSpPr/>
          <p:nvPr/>
        </p:nvSpPr>
        <p:spPr>
          <a:xfrm>
            <a:off x="8127797" y="2019300"/>
            <a:ext cx="3098723" cy="469900"/>
          </a:xfrm>
          <a:prstGeom prst="rect">
            <a:avLst/>
          </a:prstGeom>
          <a:noFill/>
          <a:ln/>
        </p:spPr>
        <p:txBody>
          <a:bodyPr wrap="square" rtlCol="0" anchor="t">
            <a:normAutofit/>
          </a:bodyPr>
          <a:lstStyle/>
          <a:p>
            <a:pPr indent="0" marL="0">
              <a:buNone/>
            </a:pPr>
            <a:r>
              <a:rPr lang="en-US" sz="1600" b="1" dirty="0">
                <a:solidFill>
                  <a:srgbClr val="1B2A3A"/>
                </a:solidFill>
                <a:latin typeface="Segoe UI" pitchFamily="34" charset="0"/>
                <a:ea typeface="Segoe UI" pitchFamily="34" charset="-122"/>
                <a:cs typeface="Segoe UI" pitchFamily="34" charset="-120"/>
              </a:rPr>
              <a:t>Le responsable</a:t>
            </a:r>
            <a:endParaRPr lang="en-US" sz="1600" dirty="0"/>
          </a:p>
        </p:txBody>
      </p:sp>
      <p:sp>
        <p:nvSpPr>
          <p:cNvPr id="16" name="Text 14"/>
          <p:cNvSpPr/>
          <p:nvPr/>
        </p:nvSpPr>
        <p:spPr>
          <a:xfrm>
            <a:off x="8127797" y="2514600"/>
            <a:ext cx="3098723" cy="12192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Un contrôleur de la CNM : quorum, cérémonie, dépositaire ; il conduit la séance et produit le PV. Aucune part.</a:t>
            </a:r>
            <a:endParaRPr lang="en-US" sz="1300" dirty="0"/>
          </a:p>
        </p:txBody>
      </p:sp>
      <p:sp>
        <p:nvSpPr>
          <p:cNvPr id="17" name="Shape 15"/>
          <p:cNvSpPr/>
          <p:nvPr/>
        </p:nvSpPr>
        <p:spPr>
          <a:xfrm>
            <a:off x="812780" y="3987800"/>
            <a:ext cx="3403515" cy="1905000"/>
          </a:xfrm>
          <a:prstGeom prst="rect">
            <a:avLst/>
          </a:prstGeom>
          <a:solidFill>
            <a:srgbClr val="FCFCFA"/>
          </a:solidFill>
          <a:ln w="9525">
            <a:solidFill>
              <a:srgbClr val="D5DCE4"/>
            </a:solidFill>
            <a:prstDash val="solid"/>
          </a:ln>
        </p:spPr>
      </p:sp>
      <p:sp>
        <p:nvSpPr>
          <p:cNvPr id="18" name="Shape 16"/>
          <p:cNvSpPr/>
          <p:nvPr/>
        </p:nvSpPr>
        <p:spPr>
          <a:xfrm>
            <a:off x="812780" y="3987800"/>
            <a:ext cx="3403515" cy="38100"/>
          </a:xfrm>
          <a:prstGeom prst="rect">
            <a:avLst/>
          </a:prstGeom>
          <a:solidFill>
            <a:srgbClr val="2E8B57"/>
          </a:solidFill>
          <a:ln/>
        </p:spPr>
      </p:sp>
      <p:sp>
        <p:nvSpPr>
          <p:cNvPr id="19" name="Text 17"/>
          <p:cNvSpPr/>
          <p:nvPr/>
        </p:nvSpPr>
        <p:spPr>
          <a:xfrm>
            <a:off x="965176" y="4102100"/>
            <a:ext cx="3098723" cy="469900"/>
          </a:xfrm>
          <a:prstGeom prst="rect">
            <a:avLst/>
          </a:prstGeom>
          <a:noFill/>
          <a:ln/>
        </p:spPr>
        <p:txBody>
          <a:bodyPr wrap="square" rtlCol="0" anchor="t">
            <a:normAutofit/>
          </a:bodyPr>
          <a:lstStyle/>
          <a:p>
            <a:pPr indent="0" marL="0">
              <a:buNone/>
            </a:pPr>
            <a:r>
              <a:rPr lang="en-US" sz="1600" b="1" dirty="0">
                <a:solidFill>
                  <a:srgbClr val="1B2A3A"/>
                </a:solidFill>
                <a:latin typeface="Segoe UI" pitchFamily="34" charset="0"/>
                <a:ea typeface="Segoe UI" pitchFamily="34" charset="-122"/>
                <a:cs typeface="Segoe UI" pitchFamily="34" charset="-120"/>
              </a:rPr>
              <a:t>La commission (CAO)</a:t>
            </a:r>
            <a:endParaRPr lang="en-US" sz="1600" dirty="0"/>
          </a:p>
        </p:txBody>
      </p:sp>
      <p:sp>
        <p:nvSpPr>
          <p:cNvPr id="20" name="Text 18"/>
          <p:cNvSpPr/>
          <p:nvPr/>
        </p:nvSpPr>
        <p:spPr>
          <a:xfrm>
            <a:off x="965176" y="4597400"/>
            <a:ext cx="3098723" cy="12192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Chaque membre génère sa clé, l’apporte en séance, lit les pièces des offres et signe le PV.</a:t>
            </a:r>
            <a:endParaRPr lang="en-US" sz="1300" dirty="0"/>
          </a:p>
        </p:txBody>
      </p:sp>
      <p:sp>
        <p:nvSpPr>
          <p:cNvPr id="21" name="Shape 19"/>
          <p:cNvSpPr/>
          <p:nvPr/>
        </p:nvSpPr>
        <p:spPr>
          <a:xfrm>
            <a:off x="4394090" y="3987800"/>
            <a:ext cx="3403515" cy="1905000"/>
          </a:xfrm>
          <a:prstGeom prst="rect">
            <a:avLst/>
          </a:prstGeom>
          <a:solidFill>
            <a:srgbClr val="FCFCFA"/>
          </a:solidFill>
          <a:ln w="9525">
            <a:solidFill>
              <a:srgbClr val="D5DCE4"/>
            </a:solidFill>
            <a:prstDash val="solid"/>
          </a:ln>
        </p:spPr>
      </p:sp>
      <p:sp>
        <p:nvSpPr>
          <p:cNvPr id="22" name="Shape 20"/>
          <p:cNvSpPr/>
          <p:nvPr/>
        </p:nvSpPr>
        <p:spPr>
          <a:xfrm>
            <a:off x="4394090" y="3987800"/>
            <a:ext cx="3403515" cy="38100"/>
          </a:xfrm>
          <a:prstGeom prst="rect">
            <a:avLst/>
          </a:prstGeom>
          <a:solidFill>
            <a:srgbClr val="E3AE2E"/>
          </a:solidFill>
          <a:ln/>
        </p:spPr>
      </p:sp>
      <p:sp>
        <p:nvSpPr>
          <p:cNvPr id="23" name="Text 21"/>
          <p:cNvSpPr/>
          <p:nvPr/>
        </p:nvSpPr>
        <p:spPr>
          <a:xfrm>
            <a:off x="4546486" y="4102100"/>
            <a:ext cx="3098723" cy="469900"/>
          </a:xfrm>
          <a:prstGeom prst="rect">
            <a:avLst/>
          </a:prstGeom>
          <a:noFill/>
          <a:ln/>
        </p:spPr>
        <p:txBody>
          <a:bodyPr wrap="square" rtlCol="0" anchor="t">
            <a:normAutofit/>
          </a:bodyPr>
          <a:lstStyle/>
          <a:p>
            <a:pPr indent="0" marL="0">
              <a:buNone/>
            </a:pPr>
            <a:r>
              <a:rPr lang="en-US" sz="1600" b="1" dirty="0">
                <a:solidFill>
                  <a:srgbClr val="1B2A3A"/>
                </a:solidFill>
                <a:latin typeface="Segoe UI" pitchFamily="34" charset="0"/>
                <a:ea typeface="Segoe UI" pitchFamily="34" charset="-122"/>
                <a:cs typeface="Segoe UI" pitchFamily="34" charset="-120"/>
              </a:rPr>
              <a:t>Le dépositaire</a:t>
            </a:r>
            <a:endParaRPr lang="en-US" sz="1600" dirty="0"/>
          </a:p>
        </p:txBody>
      </p:sp>
      <p:sp>
        <p:nvSpPr>
          <p:cNvPr id="24" name="Text 22"/>
          <p:cNvSpPr/>
          <p:nvPr/>
        </p:nvSpPr>
        <p:spPr>
          <a:xfrm>
            <a:off x="4546486" y="4597400"/>
            <a:ext cx="3098723" cy="12192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Génère la part de secours sur son poste, garde le pli de sa phrase, l’apporte si la séance la demande.</a:t>
            </a:r>
            <a:endParaRPr lang="en-US" sz="1300" dirty="0"/>
          </a:p>
        </p:txBody>
      </p:sp>
      <p:sp>
        <p:nvSpPr>
          <p:cNvPr id="25" name="Shape 23"/>
          <p:cNvSpPr/>
          <p:nvPr/>
        </p:nvSpPr>
        <p:spPr>
          <a:xfrm>
            <a:off x="7975401" y="3987800"/>
            <a:ext cx="3403515" cy="1905000"/>
          </a:xfrm>
          <a:prstGeom prst="rect">
            <a:avLst/>
          </a:prstGeom>
          <a:solidFill>
            <a:srgbClr val="FCFCFA"/>
          </a:solidFill>
          <a:ln w="9525">
            <a:solidFill>
              <a:srgbClr val="D5DCE4"/>
            </a:solidFill>
            <a:prstDash val="solid"/>
          </a:ln>
        </p:spPr>
      </p:sp>
      <p:sp>
        <p:nvSpPr>
          <p:cNvPr id="26" name="Shape 24"/>
          <p:cNvSpPr/>
          <p:nvPr/>
        </p:nvSpPr>
        <p:spPr>
          <a:xfrm>
            <a:off x="7975401" y="3987800"/>
            <a:ext cx="3403515" cy="38100"/>
          </a:xfrm>
          <a:prstGeom prst="rect">
            <a:avLst/>
          </a:prstGeom>
          <a:solidFill>
            <a:srgbClr val="8A5A9E"/>
          </a:solidFill>
          <a:ln/>
        </p:spPr>
      </p:sp>
      <p:sp>
        <p:nvSpPr>
          <p:cNvPr id="27" name="Text 25"/>
          <p:cNvSpPr/>
          <p:nvPr/>
        </p:nvSpPr>
        <p:spPr>
          <a:xfrm>
            <a:off x="8127797" y="4102100"/>
            <a:ext cx="3098723" cy="469900"/>
          </a:xfrm>
          <a:prstGeom prst="rect">
            <a:avLst/>
          </a:prstGeom>
          <a:noFill/>
          <a:ln/>
        </p:spPr>
        <p:txBody>
          <a:bodyPr wrap="square" rtlCol="0" anchor="t">
            <a:normAutofit/>
          </a:bodyPr>
          <a:lstStyle/>
          <a:p>
            <a:pPr indent="0" marL="0">
              <a:buNone/>
            </a:pPr>
            <a:r>
              <a:rPr lang="en-US" sz="1600" b="1" dirty="0">
                <a:solidFill>
                  <a:srgbClr val="1B2A3A"/>
                </a:solidFill>
                <a:latin typeface="Segoe UI" pitchFamily="34" charset="0"/>
                <a:ea typeface="Segoe UI" pitchFamily="34" charset="-122"/>
                <a:cs typeface="Segoe UI" pitchFamily="34" charset="-120"/>
              </a:rPr>
              <a:t>Le candidat</a:t>
            </a:r>
            <a:endParaRPr lang="en-US" sz="1600" dirty="0"/>
          </a:p>
        </p:txBody>
      </p:sp>
      <p:sp>
        <p:nvSpPr>
          <p:cNvPr id="28" name="Text 26"/>
          <p:cNvSpPr/>
          <p:nvPr/>
        </p:nvSpPr>
        <p:spPr>
          <a:xfrm>
            <a:off x="8127797" y="4597400"/>
            <a:ext cx="3098723" cy="12192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S’inscrit, déclare son entreprise, retire le dossier, dépose une offre scellée, la remplace ou la retire.</a:t>
            </a:r>
            <a:endParaRPr lang="en-US" sz="1300" dirty="0"/>
          </a:p>
        </p:txBody>
      </p:sp>
      <p:sp>
        <p:nvSpPr>
          <p:cNvPr id="29" name="Text 27"/>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LE DÉROULÉ</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Sept temps, de la plateforme au PV publié</a:t>
            </a:r>
            <a:endParaRPr lang="en-US" sz="2800" dirty="0"/>
          </a:p>
        </p:txBody>
      </p:sp>
      <p:sp>
        <p:nvSpPr>
          <p:cNvPr id="4" name="Shape 2"/>
          <p:cNvSpPr/>
          <p:nvPr/>
        </p:nvSpPr>
        <p:spPr>
          <a:xfrm>
            <a:off x="812780" y="1587500"/>
            <a:ext cx="1378823" cy="1587500"/>
          </a:xfrm>
          <a:prstGeom prst="roundRect">
            <a:avLst>
              <a:gd name="adj" fmla="val 3979"/>
            </a:avLst>
          </a:prstGeom>
          <a:solidFill>
            <a:srgbClr val="FCFCFA"/>
          </a:solidFill>
          <a:ln w="19050">
            <a:solidFill>
              <a:srgbClr val="12324A"/>
            </a:solidFill>
            <a:prstDash val="solid"/>
          </a:ln>
        </p:spPr>
      </p:sp>
      <p:sp>
        <p:nvSpPr>
          <p:cNvPr id="5" name="Text 3"/>
          <p:cNvSpPr/>
          <p:nvPr/>
        </p:nvSpPr>
        <p:spPr>
          <a:xfrm>
            <a:off x="901677" y="1676400"/>
            <a:ext cx="1201027"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1</a:t>
            </a:r>
            <a:endParaRPr lang="en-US" sz="1200" dirty="0"/>
          </a:p>
        </p:txBody>
      </p:sp>
      <p:sp>
        <p:nvSpPr>
          <p:cNvPr id="6" name="Text 4"/>
          <p:cNvSpPr/>
          <p:nvPr/>
        </p:nvSpPr>
        <p:spPr>
          <a:xfrm>
            <a:off x="901677" y="1905000"/>
            <a:ext cx="1201027" cy="635000"/>
          </a:xfrm>
          <a:prstGeom prst="rect">
            <a:avLst/>
          </a:prstGeom>
          <a:noFill/>
          <a:ln/>
        </p:spPr>
        <p:txBody>
          <a:bodyPr wrap="square" rtlCol="0" anchor="t">
            <a:normAutofit/>
          </a:bodyPr>
          <a:lstStyle/>
          <a:p>
            <a:pPr indent="0" marL="0">
              <a:buNone/>
            </a:pPr>
            <a:r>
              <a:rPr lang="en-US" sz="1300" b="1" dirty="0">
                <a:solidFill>
                  <a:srgbClr val="1B2A3A"/>
                </a:solidFill>
                <a:latin typeface="Segoe UI" pitchFamily="34" charset="0"/>
                <a:ea typeface="Segoe UI" pitchFamily="34" charset="-122"/>
                <a:cs typeface="Segoe UI" pitchFamily="34" charset="-120"/>
              </a:rPr>
              <a:t>Régler la plateforme</a:t>
            </a:r>
            <a:endParaRPr lang="en-US" sz="1300" dirty="0"/>
          </a:p>
        </p:txBody>
      </p:sp>
      <p:sp>
        <p:nvSpPr>
          <p:cNvPr id="7" name="Text 5"/>
          <p:cNvSpPr/>
          <p:nvPr/>
        </p:nvSpPr>
        <p:spPr>
          <a:xfrm>
            <a:off x="901677" y="2603500"/>
            <a:ext cx="1201027" cy="5080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Administrateur</a:t>
            </a:r>
            <a:endParaRPr lang="en-US" sz="1100" dirty="0"/>
          </a:p>
        </p:txBody>
      </p:sp>
      <p:sp>
        <p:nvSpPr>
          <p:cNvPr id="8" name="Shape 6"/>
          <p:cNvSpPr/>
          <p:nvPr/>
        </p:nvSpPr>
        <p:spPr>
          <a:xfrm>
            <a:off x="2204302" y="2381250"/>
            <a:ext cx="126997" cy="0"/>
          </a:xfrm>
          <a:prstGeom prst="line">
            <a:avLst/>
          </a:prstGeom>
          <a:noFill/>
          <a:ln w="19050">
            <a:solidFill>
              <a:srgbClr val="6A7787"/>
            </a:solidFill>
            <a:prstDash val="solid"/>
            <a:tailEnd type="triangle"/>
          </a:ln>
        </p:spPr>
      </p:sp>
      <p:sp>
        <p:nvSpPr>
          <p:cNvPr id="9" name="Shape 7"/>
          <p:cNvSpPr/>
          <p:nvPr/>
        </p:nvSpPr>
        <p:spPr>
          <a:xfrm>
            <a:off x="2343999" y="1587500"/>
            <a:ext cx="1378823" cy="1587500"/>
          </a:xfrm>
          <a:prstGeom prst="roundRect">
            <a:avLst>
              <a:gd name="adj" fmla="val 3979"/>
            </a:avLst>
          </a:prstGeom>
          <a:solidFill>
            <a:srgbClr val="FCFCFA"/>
          </a:solidFill>
          <a:ln w="19050">
            <a:solidFill>
              <a:srgbClr val="12324A"/>
            </a:solidFill>
            <a:prstDash val="solid"/>
          </a:ln>
        </p:spPr>
      </p:sp>
      <p:sp>
        <p:nvSpPr>
          <p:cNvPr id="10" name="Text 8"/>
          <p:cNvSpPr/>
          <p:nvPr/>
        </p:nvSpPr>
        <p:spPr>
          <a:xfrm>
            <a:off x="2432896" y="1676400"/>
            <a:ext cx="1201027"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2</a:t>
            </a:r>
            <a:endParaRPr lang="en-US" sz="1200" dirty="0"/>
          </a:p>
        </p:txBody>
      </p:sp>
      <p:sp>
        <p:nvSpPr>
          <p:cNvPr id="11" name="Text 9"/>
          <p:cNvSpPr/>
          <p:nvPr/>
        </p:nvSpPr>
        <p:spPr>
          <a:xfrm>
            <a:off x="2432896" y="1905000"/>
            <a:ext cx="1201027" cy="635000"/>
          </a:xfrm>
          <a:prstGeom prst="rect">
            <a:avLst/>
          </a:prstGeom>
          <a:noFill/>
          <a:ln/>
        </p:spPr>
        <p:txBody>
          <a:bodyPr wrap="square" rtlCol="0" anchor="t">
            <a:normAutofit/>
          </a:bodyPr>
          <a:lstStyle/>
          <a:p>
            <a:pPr indent="0" marL="0">
              <a:buNone/>
            </a:pPr>
            <a:r>
              <a:rPr lang="en-US" sz="1300" b="1" dirty="0">
                <a:solidFill>
                  <a:srgbClr val="1B2A3A"/>
                </a:solidFill>
                <a:latin typeface="Segoe UI" pitchFamily="34" charset="0"/>
                <a:ea typeface="Segoe UI" pitchFamily="34" charset="-122"/>
                <a:cs typeface="Segoe UI" pitchFamily="34" charset="-120"/>
              </a:rPr>
              <a:t>Préparer le DAO en ligne</a:t>
            </a:r>
            <a:endParaRPr lang="en-US" sz="1300" dirty="0"/>
          </a:p>
        </p:txBody>
      </p:sp>
      <p:sp>
        <p:nvSpPr>
          <p:cNvPr id="12" name="Text 10"/>
          <p:cNvSpPr/>
          <p:nvPr/>
        </p:nvSpPr>
        <p:spPr>
          <a:xfrm>
            <a:off x="2432896" y="2603500"/>
            <a:ext cx="1201027" cy="5080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PRMP</a:t>
            </a:r>
            <a:endParaRPr lang="en-US" sz="1100" dirty="0"/>
          </a:p>
        </p:txBody>
      </p:sp>
      <p:sp>
        <p:nvSpPr>
          <p:cNvPr id="13" name="Shape 11"/>
          <p:cNvSpPr/>
          <p:nvPr/>
        </p:nvSpPr>
        <p:spPr>
          <a:xfrm>
            <a:off x="3735521" y="2381250"/>
            <a:ext cx="126997" cy="0"/>
          </a:xfrm>
          <a:prstGeom prst="line">
            <a:avLst/>
          </a:prstGeom>
          <a:noFill/>
          <a:ln w="19050">
            <a:solidFill>
              <a:srgbClr val="6A7787"/>
            </a:solidFill>
            <a:prstDash val="solid"/>
            <a:tailEnd type="triangle"/>
          </a:ln>
        </p:spPr>
      </p:sp>
      <p:sp>
        <p:nvSpPr>
          <p:cNvPr id="14" name="Shape 12"/>
          <p:cNvSpPr/>
          <p:nvPr/>
        </p:nvSpPr>
        <p:spPr>
          <a:xfrm>
            <a:off x="3875217" y="1587500"/>
            <a:ext cx="1378823" cy="1587500"/>
          </a:xfrm>
          <a:prstGeom prst="roundRect">
            <a:avLst>
              <a:gd name="adj" fmla="val 3979"/>
            </a:avLst>
          </a:prstGeom>
          <a:solidFill>
            <a:srgbClr val="FCFCFA"/>
          </a:solidFill>
          <a:ln w="19050">
            <a:solidFill>
              <a:srgbClr val="12324A"/>
            </a:solidFill>
            <a:prstDash val="solid"/>
          </a:ln>
        </p:spPr>
      </p:sp>
      <p:sp>
        <p:nvSpPr>
          <p:cNvPr id="15" name="Text 13"/>
          <p:cNvSpPr/>
          <p:nvPr/>
        </p:nvSpPr>
        <p:spPr>
          <a:xfrm>
            <a:off x="3964115" y="1676400"/>
            <a:ext cx="1201027"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3</a:t>
            </a:r>
            <a:endParaRPr lang="en-US" sz="1200" dirty="0"/>
          </a:p>
        </p:txBody>
      </p:sp>
      <p:sp>
        <p:nvSpPr>
          <p:cNvPr id="16" name="Text 14"/>
          <p:cNvSpPr/>
          <p:nvPr/>
        </p:nvSpPr>
        <p:spPr>
          <a:xfrm>
            <a:off x="3964115" y="1905000"/>
            <a:ext cx="1201027" cy="635000"/>
          </a:xfrm>
          <a:prstGeom prst="rect">
            <a:avLst/>
          </a:prstGeom>
          <a:noFill/>
          <a:ln/>
        </p:spPr>
        <p:txBody>
          <a:bodyPr wrap="square" rtlCol="0" anchor="t">
            <a:normAutofit/>
          </a:bodyPr>
          <a:lstStyle/>
          <a:p>
            <a:pPr indent="0" marL="0">
              <a:buNone/>
            </a:pPr>
            <a:r>
              <a:rPr lang="en-US" sz="1300" b="1" dirty="0">
                <a:solidFill>
                  <a:srgbClr val="1B2A3A"/>
                </a:solidFill>
                <a:latin typeface="Segoe UI" pitchFamily="34" charset="0"/>
                <a:ea typeface="Segoe UI" pitchFamily="34" charset="-122"/>
                <a:cs typeface="Segoe UI" pitchFamily="34" charset="-120"/>
              </a:rPr>
              <a:t>La cérémonie des clés</a:t>
            </a:r>
            <a:endParaRPr lang="en-US" sz="1300" dirty="0"/>
          </a:p>
        </p:txBody>
      </p:sp>
      <p:sp>
        <p:nvSpPr>
          <p:cNvPr id="17" name="Text 15"/>
          <p:cNvSpPr/>
          <p:nvPr/>
        </p:nvSpPr>
        <p:spPr>
          <a:xfrm>
            <a:off x="3964115" y="2603500"/>
            <a:ext cx="1201027" cy="5080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CAO, dépositaire, responsable</a:t>
            </a:r>
            <a:endParaRPr lang="en-US" sz="1100" dirty="0"/>
          </a:p>
        </p:txBody>
      </p:sp>
      <p:sp>
        <p:nvSpPr>
          <p:cNvPr id="18" name="Shape 16"/>
          <p:cNvSpPr/>
          <p:nvPr/>
        </p:nvSpPr>
        <p:spPr>
          <a:xfrm>
            <a:off x="5266740" y="2381250"/>
            <a:ext cx="126997" cy="0"/>
          </a:xfrm>
          <a:prstGeom prst="line">
            <a:avLst/>
          </a:prstGeom>
          <a:noFill/>
          <a:ln w="19050">
            <a:solidFill>
              <a:srgbClr val="6A7787"/>
            </a:solidFill>
            <a:prstDash val="solid"/>
            <a:tailEnd type="triangle"/>
          </a:ln>
        </p:spPr>
      </p:sp>
      <p:sp>
        <p:nvSpPr>
          <p:cNvPr id="19" name="Shape 17"/>
          <p:cNvSpPr/>
          <p:nvPr/>
        </p:nvSpPr>
        <p:spPr>
          <a:xfrm>
            <a:off x="5406436" y="1587500"/>
            <a:ext cx="1378823" cy="1587500"/>
          </a:xfrm>
          <a:prstGeom prst="roundRect">
            <a:avLst>
              <a:gd name="adj" fmla="val 3979"/>
            </a:avLst>
          </a:prstGeom>
          <a:solidFill>
            <a:srgbClr val="FCFCFA"/>
          </a:solidFill>
          <a:ln w="19050">
            <a:solidFill>
              <a:srgbClr val="12324A"/>
            </a:solidFill>
            <a:prstDash val="solid"/>
          </a:ln>
        </p:spPr>
      </p:sp>
      <p:sp>
        <p:nvSpPr>
          <p:cNvPr id="20" name="Text 18"/>
          <p:cNvSpPr/>
          <p:nvPr/>
        </p:nvSpPr>
        <p:spPr>
          <a:xfrm>
            <a:off x="5495334" y="1676400"/>
            <a:ext cx="1201027"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4</a:t>
            </a:r>
            <a:endParaRPr lang="en-US" sz="1200" dirty="0"/>
          </a:p>
        </p:txBody>
      </p:sp>
      <p:sp>
        <p:nvSpPr>
          <p:cNvPr id="21" name="Text 19"/>
          <p:cNvSpPr/>
          <p:nvPr/>
        </p:nvSpPr>
        <p:spPr>
          <a:xfrm>
            <a:off x="5495334" y="1905000"/>
            <a:ext cx="1201027" cy="635000"/>
          </a:xfrm>
          <a:prstGeom prst="rect">
            <a:avLst/>
          </a:prstGeom>
          <a:noFill/>
          <a:ln/>
        </p:spPr>
        <p:txBody>
          <a:bodyPr wrap="square" rtlCol="0" anchor="t">
            <a:normAutofit/>
          </a:bodyPr>
          <a:lstStyle/>
          <a:p>
            <a:pPr indent="0" marL="0">
              <a:buNone/>
            </a:pPr>
            <a:r>
              <a:rPr lang="en-US" sz="1300" b="1" dirty="0">
                <a:solidFill>
                  <a:srgbClr val="1B2A3A"/>
                </a:solidFill>
                <a:latin typeface="Segoe UI" pitchFamily="34" charset="0"/>
                <a:ea typeface="Segoe UI" pitchFamily="34" charset="-122"/>
                <a:cs typeface="Segoe UI" pitchFamily="34" charset="-120"/>
              </a:rPr>
              <a:t>Publier l’avis</a:t>
            </a:r>
            <a:endParaRPr lang="en-US" sz="1300" dirty="0"/>
          </a:p>
        </p:txBody>
      </p:sp>
      <p:sp>
        <p:nvSpPr>
          <p:cNvPr id="22" name="Text 20"/>
          <p:cNvSpPr/>
          <p:nvPr/>
        </p:nvSpPr>
        <p:spPr>
          <a:xfrm>
            <a:off x="5495334" y="2603500"/>
            <a:ext cx="1201027" cy="5080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PRMP</a:t>
            </a:r>
            <a:endParaRPr lang="en-US" sz="1100" dirty="0"/>
          </a:p>
        </p:txBody>
      </p:sp>
      <p:sp>
        <p:nvSpPr>
          <p:cNvPr id="23" name="Shape 21"/>
          <p:cNvSpPr/>
          <p:nvPr/>
        </p:nvSpPr>
        <p:spPr>
          <a:xfrm>
            <a:off x="6797959" y="2381250"/>
            <a:ext cx="126997" cy="0"/>
          </a:xfrm>
          <a:prstGeom prst="line">
            <a:avLst/>
          </a:prstGeom>
          <a:noFill/>
          <a:ln w="19050">
            <a:solidFill>
              <a:srgbClr val="6A7787"/>
            </a:solidFill>
            <a:prstDash val="solid"/>
            <a:tailEnd type="triangle"/>
          </a:ln>
        </p:spPr>
      </p:sp>
      <p:sp>
        <p:nvSpPr>
          <p:cNvPr id="24" name="Shape 22"/>
          <p:cNvSpPr/>
          <p:nvPr/>
        </p:nvSpPr>
        <p:spPr>
          <a:xfrm>
            <a:off x="6937655" y="1587500"/>
            <a:ext cx="1378823" cy="1587500"/>
          </a:xfrm>
          <a:prstGeom prst="roundRect">
            <a:avLst>
              <a:gd name="adj" fmla="val 3979"/>
            </a:avLst>
          </a:prstGeom>
          <a:solidFill>
            <a:srgbClr val="FCFCFA"/>
          </a:solidFill>
          <a:ln w="19050">
            <a:solidFill>
              <a:srgbClr val="12324A"/>
            </a:solidFill>
            <a:prstDash val="solid"/>
          </a:ln>
        </p:spPr>
      </p:sp>
      <p:sp>
        <p:nvSpPr>
          <p:cNvPr id="25" name="Text 23"/>
          <p:cNvSpPr/>
          <p:nvPr/>
        </p:nvSpPr>
        <p:spPr>
          <a:xfrm>
            <a:off x="7026553" y="1676400"/>
            <a:ext cx="1201027"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5</a:t>
            </a:r>
            <a:endParaRPr lang="en-US" sz="1200" dirty="0"/>
          </a:p>
        </p:txBody>
      </p:sp>
      <p:sp>
        <p:nvSpPr>
          <p:cNvPr id="26" name="Text 24"/>
          <p:cNvSpPr/>
          <p:nvPr/>
        </p:nvSpPr>
        <p:spPr>
          <a:xfrm>
            <a:off x="7026553" y="1905000"/>
            <a:ext cx="1201027" cy="635000"/>
          </a:xfrm>
          <a:prstGeom prst="rect">
            <a:avLst/>
          </a:prstGeom>
          <a:noFill/>
          <a:ln/>
        </p:spPr>
        <p:txBody>
          <a:bodyPr wrap="square" rtlCol="0" anchor="t">
            <a:normAutofit/>
          </a:bodyPr>
          <a:lstStyle/>
          <a:p>
            <a:pPr indent="0" marL="0">
              <a:buNone/>
            </a:pPr>
            <a:r>
              <a:rPr lang="en-US" sz="1300" b="1" dirty="0">
                <a:solidFill>
                  <a:srgbClr val="1B2A3A"/>
                </a:solidFill>
                <a:latin typeface="Segoe UI" pitchFamily="34" charset="0"/>
                <a:ea typeface="Segoe UI" pitchFamily="34" charset="-122"/>
                <a:cs typeface="Segoe UI" pitchFamily="34" charset="-120"/>
              </a:rPr>
              <a:t>S’inscrire et déposer</a:t>
            </a:r>
            <a:endParaRPr lang="en-US" sz="1300" dirty="0"/>
          </a:p>
        </p:txBody>
      </p:sp>
      <p:sp>
        <p:nvSpPr>
          <p:cNvPr id="27" name="Text 25"/>
          <p:cNvSpPr/>
          <p:nvPr/>
        </p:nvSpPr>
        <p:spPr>
          <a:xfrm>
            <a:off x="7026553" y="2603500"/>
            <a:ext cx="1201027" cy="5080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Candidats</a:t>
            </a:r>
            <a:endParaRPr lang="en-US" sz="1100" dirty="0"/>
          </a:p>
        </p:txBody>
      </p:sp>
      <p:sp>
        <p:nvSpPr>
          <p:cNvPr id="28" name="Shape 26"/>
          <p:cNvSpPr/>
          <p:nvPr/>
        </p:nvSpPr>
        <p:spPr>
          <a:xfrm>
            <a:off x="8329177" y="2381250"/>
            <a:ext cx="126997" cy="0"/>
          </a:xfrm>
          <a:prstGeom prst="line">
            <a:avLst/>
          </a:prstGeom>
          <a:noFill/>
          <a:ln w="19050">
            <a:solidFill>
              <a:srgbClr val="6A7787"/>
            </a:solidFill>
            <a:prstDash val="solid"/>
            <a:tailEnd type="triangle"/>
          </a:ln>
        </p:spPr>
      </p:sp>
      <p:sp>
        <p:nvSpPr>
          <p:cNvPr id="29" name="Shape 27"/>
          <p:cNvSpPr/>
          <p:nvPr/>
        </p:nvSpPr>
        <p:spPr>
          <a:xfrm>
            <a:off x="8468874" y="1587500"/>
            <a:ext cx="1378823" cy="1587500"/>
          </a:xfrm>
          <a:prstGeom prst="roundRect">
            <a:avLst>
              <a:gd name="adj" fmla="val 3979"/>
            </a:avLst>
          </a:prstGeom>
          <a:solidFill>
            <a:srgbClr val="FCFCFA"/>
          </a:solidFill>
          <a:ln w="19050">
            <a:solidFill>
              <a:srgbClr val="12324A"/>
            </a:solidFill>
            <a:prstDash val="solid"/>
          </a:ln>
        </p:spPr>
      </p:sp>
      <p:sp>
        <p:nvSpPr>
          <p:cNvPr id="30" name="Text 28"/>
          <p:cNvSpPr/>
          <p:nvPr/>
        </p:nvSpPr>
        <p:spPr>
          <a:xfrm>
            <a:off x="8557772" y="1676400"/>
            <a:ext cx="1201027" cy="215900"/>
          </a:xfrm>
          <a:prstGeom prst="rect">
            <a:avLst/>
          </a:prstGeom>
          <a:noFill/>
          <a:ln/>
        </p:spPr>
        <p:txBody>
          <a:bodyPr wrap="square" rtlCol="0" anchor="ctr"/>
          <a:lstStyle/>
          <a:p>
            <a:pPr indent="0" marL="0">
              <a:buNone/>
            </a:pPr>
            <a:r>
              <a:rPr lang="en-US" sz="1200" b="1" dirty="0">
                <a:solidFill>
                  <a:srgbClr val="1B6FA8"/>
                </a:solidFill>
                <a:latin typeface="Segoe UI" pitchFamily="34" charset="0"/>
                <a:ea typeface="Segoe UI" pitchFamily="34" charset="-122"/>
                <a:cs typeface="Segoe UI" pitchFamily="34" charset="-120"/>
              </a:rPr>
              <a:t>6</a:t>
            </a:r>
            <a:endParaRPr lang="en-US" sz="1200" dirty="0"/>
          </a:p>
        </p:txBody>
      </p:sp>
      <p:sp>
        <p:nvSpPr>
          <p:cNvPr id="31" name="Text 29"/>
          <p:cNvSpPr/>
          <p:nvPr/>
        </p:nvSpPr>
        <p:spPr>
          <a:xfrm>
            <a:off x="8557772" y="1905000"/>
            <a:ext cx="1201027" cy="635000"/>
          </a:xfrm>
          <a:prstGeom prst="rect">
            <a:avLst/>
          </a:prstGeom>
          <a:noFill/>
          <a:ln/>
        </p:spPr>
        <p:txBody>
          <a:bodyPr wrap="square" rtlCol="0" anchor="t">
            <a:normAutofit/>
          </a:bodyPr>
          <a:lstStyle/>
          <a:p>
            <a:pPr indent="0" marL="0">
              <a:buNone/>
            </a:pPr>
            <a:r>
              <a:rPr lang="en-US" sz="1300" b="1" dirty="0">
                <a:solidFill>
                  <a:srgbClr val="1B2A3A"/>
                </a:solidFill>
                <a:latin typeface="Segoe UI" pitchFamily="34" charset="0"/>
                <a:ea typeface="Segoe UI" pitchFamily="34" charset="-122"/>
                <a:cs typeface="Segoe UI" pitchFamily="34" charset="-120"/>
              </a:rPr>
              <a:t>Ouvrir en séance</a:t>
            </a:r>
            <a:endParaRPr lang="en-US" sz="1300" dirty="0"/>
          </a:p>
        </p:txBody>
      </p:sp>
      <p:sp>
        <p:nvSpPr>
          <p:cNvPr id="32" name="Text 30"/>
          <p:cNvSpPr/>
          <p:nvPr/>
        </p:nvSpPr>
        <p:spPr>
          <a:xfrm>
            <a:off x="8557772" y="2603500"/>
            <a:ext cx="1201027" cy="508000"/>
          </a:xfrm>
          <a:prstGeom prst="rect">
            <a:avLst/>
          </a:prstGeom>
          <a:noFill/>
          <a:ln/>
        </p:spPr>
        <p:txBody>
          <a:bodyPr wrap="square" rtlCol="0" anchor="t"/>
          <a:lstStyle/>
          <a:p>
            <a:pPr indent="0" marL="0">
              <a:buNone/>
            </a:pPr>
            <a:r>
              <a:rPr lang="en-US" sz="1100" dirty="0">
                <a:solidFill>
                  <a:srgbClr val="465568"/>
                </a:solidFill>
                <a:latin typeface="Segoe UI" pitchFamily="34" charset="0"/>
                <a:ea typeface="Segoe UI" pitchFamily="34" charset="-122"/>
                <a:cs typeface="Segoe UI" pitchFamily="34" charset="-120"/>
              </a:rPr>
              <a:t>Responsable, CAO, dépositaire</a:t>
            </a:r>
            <a:endParaRPr lang="en-US" sz="1100" dirty="0"/>
          </a:p>
        </p:txBody>
      </p:sp>
      <p:sp>
        <p:nvSpPr>
          <p:cNvPr id="33" name="Shape 31"/>
          <p:cNvSpPr/>
          <p:nvPr/>
        </p:nvSpPr>
        <p:spPr>
          <a:xfrm>
            <a:off x="9860396" y="2381250"/>
            <a:ext cx="126997" cy="0"/>
          </a:xfrm>
          <a:prstGeom prst="line">
            <a:avLst/>
          </a:prstGeom>
          <a:noFill/>
          <a:ln w="19050">
            <a:solidFill>
              <a:srgbClr val="6A7787"/>
            </a:solidFill>
            <a:prstDash val="solid"/>
            <a:tailEnd type="triangle"/>
          </a:ln>
        </p:spPr>
      </p:sp>
      <p:sp>
        <p:nvSpPr>
          <p:cNvPr id="34" name="Shape 32"/>
          <p:cNvSpPr/>
          <p:nvPr/>
        </p:nvSpPr>
        <p:spPr>
          <a:xfrm>
            <a:off x="10000093" y="1587500"/>
            <a:ext cx="1378823" cy="1587500"/>
          </a:xfrm>
          <a:prstGeom prst="roundRect">
            <a:avLst>
              <a:gd name="adj" fmla="val 3979"/>
            </a:avLst>
          </a:prstGeom>
          <a:solidFill>
            <a:srgbClr val="12324A"/>
          </a:solidFill>
          <a:ln w="19050">
            <a:solidFill>
              <a:srgbClr val="12324A"/>
            </a:solidFill>
            <a:prstDash val="solid"/>
          </a:ln>
        </p:spPr>
      </p:sp>
      <p:sp>
        <p:nvSpPr>
          <p:cNvPr id="35" name="Text 33"/>
          <p:cNvSpPr/>
          <p:nvPr/>
        </p:nvSpPr>
        <p:spPr>
          <a:xfrm>
            <a:off x="10088991" y="1676400"/>
            <a:ext cx="1201027" cy="215900"/>
          </a:xfrm>
          <a:prstGeom prst="rect">
            <a:avLst/>
          </a:prstGeom>
          <a:noFill/>
          <a:ln/>
        </p:spPr>
        <p:txBody>
          <a:bodyPr wrap="square" rtlCol="0" anchor="ctr"/>
          <a:lstStyle/>
          <a:p>
            <a:pPr indent="0" marL="0">
              <a:buNone/>
            </a:pPr>
            <a:r>
              <a:rPr lang="en-US" sz="1200" b="1" dirty="0">
                <a:solidFill>
                  <a:srgbClr val="E3AE2E"/>
                </a:solidFill>
                <a:latin typeface="Segoe UI" pitchFamily="34" charset="0"/>
                <a:ea typeface="Segoe UI" pitchFamily="34" charset="-122"/>
                <a:cs typeface="Segoe UI" pitchFamily="34" charset="-120"/>
              </a:rPr>
              <a:t>7</a:t>
            </a:r>
            <a:endParaRPr lang="en-US" sz="1200" dirty="0"/>
          </a:p>
        </p:txBody>
      </p:sp>
      <p:sp>
        <p:nvSpPr>
          <p:cNvPr id="36" name="Text 34"/>
          <p:cNvSpPr/>
          <p:nvPr/>
        </p:nvSpPr>
        <p:spPr>
          <a:xfrm>
            <a:off x="10088991" y="1905000"/>
            <a:ext cx="1201027" cy="635000"/>
          </a:xfrm>
          <a:prstGeom prst="rect">
            <a:avLst/>
          </a:prstGeom>
          <a:noFill/>
          <a:ln/>
        </p:spPr>
        <p:txBody>
          <a:bodyPr wrap="square" rtlCol="0" anchor="t">
            <a:normAutofit/>
          </a:bodyPr>
          <a:lstStyle/>
          <a:p>
            <a:pPr indent="0" marL="0">
              <a:buNone/>
            </a:pPr>
            <a:r>
              <a:rPr lang="en-US" sz="1300" b="1" dirty="0">
                <a:solidFill>
                  <a:srgbClr val="FCFCFA"/>
                </a:solidFill>
                <a:latin typeface="Segoe UI" pitchFamily="34" charset="0"/>
                <a:ea typeface="Segoe UI" pitchFamily="34" charset="-122"/>
                <a:cs typeface="Segoe UI" pitchFamily="34" charset="-120"/>
              </a:rPr>
              <a:t>Signer et publier le PV</a:t>
            </a:r>
            <a:endParaRPr lang="en-US" sz="1300" dirty="0"/>
          </a:p>
        </p:txBody>
      </p:sp>
      <p:sp>
        <p:nvSpPr>
          <p:cNvPr id="37" name="Text 35"/>
          <p:cNvSpPr/>
          <p:nvPr/>
        </p:nvSpPr>
        <p:spPr>
          <a:xfrm>
            <a:off x="10088991" y="2603500"/>
            <a:ext cx="1201027" cy="508000"/>
          </a:xfrm>
          <a:prstGeom prst="rect">
            <a:avLst/>
          </a:prstGeom>
          <a:noFill/>
          <a:ln/>
        </p:spPr>
        <p:txBody>
          <a:bodyPr wrap="square" rtlCol="0" anchor="t"/>
          <a:lstStyle/>
          <a:p>
            <a:pPr indent="0" marL="0">
              <a:buNone/>
            </a:pPr>
            <a:r>
              <a:rPr lang="en-US" sz="1100" dirty="0">
                <a:solidFill>
                  <a:srgbClr val="C9D6E2"/>
                </a:solidFill>
                <a:latin typeface="Segoe UI" pitchFamily="34" charset="0"/>
                <a:ea typeface="Segoe UI" pitchFamily="34" charset="-122"/>
                <a:cs typeface="Segoe UI" pitchFamily="34" charset="-120"/>
              </a:rPr>
              <a:t>CAO</a:t>
            </a:r>
            <a:endParaRPr lang="en-US" sz="1100" dirty="0"/>
          </a:p>
        </p:txBody>
      </p:sp>
      <p:sp>
        <p:nvSpPr>
          <p:cNvPr id="38" name="Text 36"/>
          <p:cNvSpPr/>
          <p:nvPr/>
        </p:nvSpPr>
        <p:spPr>
          <a:xfrm>
            <a:off x="812780" y="3492500"/>
            <a:ext cx="10413740" cy="1143000"/>
          </a:xfrm>
          <a:prstGeom prst="rect">
            <a:avLst/>
          </a:prstGeom>
          <a:noFill/>
          <a:ln/>
        </p:spPr>
        <p:txBody>
          <a:bodyPr wrap="square" rtlCol="0" anchor="t"/>
          <a:lstStyle/>
          <a:p>
            <a:pPr indent="0" marL="0">
              <a:buNone/>
            </a:pPr>
            <a:r>
              <a:rPr lang="en-US" sz="1400" dirty="0">
                <a:solidFill>
                  <a:srgbClr val="465568"/>
                </a:solidFill>
                <a:latin typeface="Segoe UI" pitchFamily="34" charset="0"/>
                <a:ea typeface="Segoe UI" pitchFamily="34" charset="-122"/>
                <a:cs typeface="Segoe UI" pitchFamily="34" charset="-120"/>
              </a:rPr>
              <a:t>Chaque temps a son intercalaire ; chaque diapositive qui suit montre </a:t>
            </a:r>
            <a:pPr indent="0" marL="0">
              <a:buNone/>
            </a:pPr>
            <a:r>
              <a:rPr lang="en-US" sz="1400" b="1" dirty="0">
                <a:solidFill>
                  <a:srgbClr val="1B2A3A"/>
                </a:solidFill>
                <a:latin typeface="Segoe UI" pitchFamily="34" charset="0"/>
                <a:ea typeface="Segoe UI" pitchFamily="34" charset="-122"/>
                <a:cs typeface="Segoe UI" pitchFamily="34" charset="-120"/>
              </a:rPr>
              <a:t>un écran réel</a:t>
            </a:r>
            <a:pPr indent="0" marL="0">
              <a:buNone/>
            </a:pPr>
            <a:r>
              <a:rPr lang="en-US" sz="1400" dirty="0">
                <a:solidFill>
                  <a:srgbClr val="465568"/>
                </a:solidFill>
                <a:latin typeface="Segoe UI" pitchFamily="34" charset="0"/>
                <a:ea typeface="Segoe UI" pitchFamily="34" charset="-122"/>
                <a:cs typeface="Segoe UI" pitchFamily="34" charset="-120"/>
              </a:rPr>
              <a:t> de la procédure de démonstration.</a:t>
            </a:r>
            <a:endParaRPr lang="en-US" sz="1400" dirty="0"/>
          </a:p>
        </p:txBody>
      </p:sp>
      <p:sp>
        <p:nvSpPr>
          <p:cNvPr id="39" name="Text 37"/>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324A"/>
        </a:solidFill>
      </p:bgPr>
    </p:bg>
    <p:spTree>
      <p:nvGrpSpPr>
        <p:cNvPr id="1" name=""/>
        <p:cNvGrpSpPr/>
        <p:nvPr/>
      </p:nvGrpSpPr>
      <p:grpSpPr>
        <a:xfrm>
          <a:off x="0" y="0"/>
          <a:ext cx="0" cy="0"/>
          <a:chOff x="0" y="0"/>
          <a:chExt cx="0" cy="0"/>
        </a:xfrm>
      </p:grpSpPr>
      <p:sp>
        <p:nvSpPr>
          <p:cNvPr id="2" name="Text 0"/>
          <p:cNvSpPr/>
          <p:nvPr/>
        </p:nvSpPr>
        <p:spPr>
          <a:xfrm>
            <a:off x="812780" y="1397000"/>
            <a:ext cx="2539937" cy="1079500"/>
          </a:xfrm>
          <a:prstGeom prst="rect">
            <a:avLst/>
          </a:prstGeom>
          <a:noFill/>
          <a:ln/>
        </p:spPr>
        <p:txBody>
          <a:bodyPr wrap="square" rtlCol="0" anchor="ctr"/>
          <a:lstStyle/>
          <a:p>
            <a:pPr indent="0" marL="0">
              <a:buNone/>
            </a:pPr>
            <a:r>
              <a:rPr lang="en-US" sz="8000" b="1" dirty="0">
                <a:solidFill>
                  <a:srgbClr val="E3AE2E"/>
                </a:solidFill>
                <a:latin typeface="Segoe UI" pitchFamily="34" charset="0"/>
                <a:ea typeface="Segoe UI" pitchFamily="34" charset="-122"/>
                <a:cs typeface="Segoe UI" pitchFamily="34" charset="-120"/>
              </a:rPr>
              <a:t>01</a:t>
            </a:r>
            <a:endParaRPr lang="en-US" sz="8000" dirty="0"/>
          </a:p>
        </p:txBody>
      </p:sp>
      <p:sp>
        <p:nvSpPr>
          <p:cNvPr id="3" name="Text 1"/>
          <p:cNvSpPr/>
          <p:nvPr/>
        </p:nvSpPr>
        <p:spPr>
          <a:xfrm>
            <a:off x="812780" y="2667000"/>
            <a:ext cx="10159746" cy="698500"/>
          </a:xfrm>
          <a:prstGeom prst="rect">
            <a:avLst/>
          </a:prstGeom>
          <a:noFill/>
          <a:ln/>
        </p:spPr>
        <p:txBody>
          <a:bodyPr wrap="square" rtlCol="0" anchor="ctr"/>
          <a:lstStyle/>
          <a:p>
            <a:pPr indent="0" marL="0">
              <a:buNone/>
            </a:pPr>
            <a:r>
              <a:rPr lang="en-US" sz="4400" b="1" dirty="0">
                <a:solidFill>
                  <a:srgbClr val="FCFCFA"/>
                </a:solidFill>
                <a:latin typeface="Segoe UI" pitchFamily="34" charset="0"/>
                <a:ea typeface="Segoe UI" pitchFamily="34" charset="-122"/>
                <a:cs typeface="Segoe UI" pitchFamily="34" charset="-120"/>
              </a:rPr>
              <a:t>Régler la plateforme</a:t>
            </a:r>
            <a:endParaRPr lang="en-US" sz="4400" dirty="0"/>
          </a:p>
        </p:txBody>
      </p:sp>
      <p:sp>
        <p:nvSpPr>
          <p:cNvPr id="4" name="Text 2"/>
          <p:cNvSpPr/>
          <p:nvPr/>
        </p:nvSpPr>
        <p:spPr>
          <a:xfrm>
            <a:off x="812780" y="3556000"/>
            <a:ext cx="8254794" cy="1016000"/>
          </a:xfrm>
          <a:prstGeom prst="rect">
            <a:avLst/>
          </a:prstGeom>
          <a:noFill/>
          <a:ln/>
        </p:spPr>
        <p:txBody>
          <a:bodyPr wrap="square" rtlCol="0" anchor="t"/>
          <a:lstStyle/>
          <a:p>
            <a:pPr indent="0" marL="0">
              <a:buNone/>
            </a:pPr>
            <a:r>
              <a:rPr lang="en-US" sz="1700" dirty="0">
                <a:solidFill>
                  <a:srgbClr val="C9D6E2"/>
                </a:solidFill>
                <a:latin typeface="Segoe UI" pitchFamily="34" charset="0"/>
                <a:ea typeface="Segoe UI" pitchFamily="34" charset="-122"/>
                <a:cs typeface="Segoe UI" pitchFamily="34" charset="-120"/>
              </a:rPr>
              <a:t>L’Administrateur fixe les règles de la remise électronique et de l’espace candidat, et tient le répertoire des entreprises exclues par l’ARMP.</a:t>
            </a:r>
            <a:endParaRPr lang="en-US" sz="1700" dirty="0"/>
          </a:p>
        </p:txBody>
      </p:sp>
      <p:sp>
        <p:nvSpPr>
          <p:cNvPr id="5" name="Text 3"/>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8FA6BB"/>
                </a:solidFill>
                <a:latin typeface="Segoe UI" pitchFamily="34" charset="0"/>
                <a:ea typeface="Segoe UI" pitchFamily="34" charset="-122"/>
                <a:cs typeface="Segoe UI" pitchFamily="34" charset="-120"/>
              </a:rPr>
              <a:t>PRS 2.0 · La soumission électronique des offres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ADMINISTRATEUR</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Remise électronique : défauts et bornes</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L’adresse de la plateforme, le fuseau de référence, la </a:t>
            </a:r>
            <a:pPr indent="0" marL="0">
              <a:buNone/>
            </a:pPr>
            <a:r>
              <a:rPr lang="en-US" sz="1300" b="1" dirty="0">
                <a:solidFill>
                  <a:srgbClr val="1B2A3A"/>
                </a:solidFill>
                <a:latin typeface="Segoe UI" pitchFamily="34" charset="0"/>
                <a:ea typeface="Segoe UI" pitchFamily="34" charset="-122"/>
                <a:cs typeface="Segoe UI" pitchFamily="34" charset="-120"/>
              </a:rPr>
              <a:t>signature minimale</a:t>
            </a:r>
            <a:pPr indent="0" marL="0">
              <a:buNone/>
            </a:pPr>
            <a:r>
              <a:rPr lang="en-US" sz="1300" dirty="0">
                <a:solidFill>
                  <a:srgbClr val="465568"/>
                </a:solidFill>
                <a:latin typeface="Segoe UI" pitchFamily="34" charset="0"/>
                <a:ea typeface="Segoe UI" pitchFamily="34" charset="-122"/>
                <a:cs typeface="Segoe UI" pitchFamily="34" charset="-120"/>
              </a:rPr>
              <a:t> exigée, la taille maximale d’une offre.</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Le </a:t>
            </a:r>
            <a:pPr indent="0" marL="0">
              <a:buNone/>
            </a:pPr>
            <a:r>
              <a:rPr lang="en-US" sz="1300" b="1" dirty="0">
                <a:solidFill>
                  <a:srgbClr val="1B2A3A"/>
                </a:solidFill>
                <a:latin typeface="Segoe UI" pitchFamily="34" charset="0"/>
                <a:ea typeface="Segoe UI" pitchFamily="34" charset="-122"/>
                <a:cs typeface="Segoe UI" pitchFamily="34" charset="-120"/>
              </a:rPr>
              <a:t>délai minimal</a:t>
            </a:r>
            <a:pPr indent="0" marL="0">
              <a:buNone/>
            </a:pPr>
            <a:r>
              <a:rPr lang="en-US" sz="1300" dirty="0">
                <a:solidFill>
                  <a:srgbClr val="465568"/>
                </a:solidFill>
                <a:latin typeface="Segoe UI" pitchFamily="34" charset="0"/>
                <a:ea typeface="Segoe UI" pitchFamily="34" charset="-122"/>
                <a:cs typeface="Segoe UI" pitchFamily="34" charset="-120"/>
              </a:rPr>
              <a:t> entre la publication de l’avis et la date limite, le quorum proposé, le délai de vérification des parts.</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Remise électronique : défauts et bornes">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ADMINISTRATEUR</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L’espace candidat</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La vérification du NIF (sur pièces ; la voie DGI n’est pas encore raccordée), la confirmation par SMS (désactivée sans passerelle).</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Les limites d’inscription, le nettoyage des comptes, la </a:t>
            </a:r>
            <a:pPr indent="0" marL="0">
              <a:buNone/>
            </a:pPr>
            <a:r>
              <a:rPr lang="en-US" sz="1300" b="1" dirty="0">
                <a:solidFill>
                  <a:srgbClr val="1B2A3A"/>
                </a:solidFill>
                <a:latin typeface="Segoe UI" pitchFamily="34" charset="0"/>
                <a:ea typeface="Segoe UI" pitchFamily="34" charset="-122"/>
                <a:cs typeface="Segoe UI" pitchFamily="34" charset="-120"/>
              </a:rPr>
              <a:t>durée de conservation des offres</a:t>
            </a:r>
            <a:pPr indent="0" marL="0">
              <a:buNone/>
            </a:pPr>
            <a:r>
              <a:rPr lang="en-US" sz="1300" dirty="0">
                <a:solidFill>
                  <a:srgbClr val="465568"/>
                </a:solidFill>
                <a:latin typeface="Segoe UI" pitchFamily="34" charset="0"/>
                <a:ea typeface="Segoe UI" pitchFamily="34" charset="-122"/>
                <a:cs typeface="Segoe UI" pitchFamily="34" charset="-120"/>
              </a:rPr>
              <a:t> et les offres à purger.</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espace candidat">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ADMINISTRATEUR</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Les entreprises exclues par l’ARMP</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Le répertoire des exclusions : NIF, raison sociale, décision, période.</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Une entreprise exclue est </a:t>
            </a:r>
            <a:pPr indent="0" marL="0">
              <a:buNone/>
            </a:pPr>
            <a:r>
              <a:rPr lang="en-US" sz="1300" b="1" dirty="0">
                <a:solidFill>
                  <a:srgbClr val="1B2A3A"/>
                </a:solidFill>
                <a:latin typeface="Segoe UI" pitchFamily="34" charset="0"/>
                <a:ea typeface="Segoe UI" pitchFamily="34" charset="-122"/>
                <a:cs typeface="Segoe UI" pitchFamily="34" charset="-120"/>
              </a:rPr>
              <a:t>signalée</a:t>
            </a:r>
            <a:pPr indent="0" marL="0">
              <a:buNone/>
            </a:pPr>
            <a:r>
              <a:rPr lang="en-US" sz="1300" dirty="0">
                <a:solidFill>
                  <a:srgbClr val="465568"/>
                </a:solidFill>
                <a:latin typeface="Segoe UI" pitchFamily="34" charset="0"/>
                <a:ea typeface="Segoe UI" pitchFamily="34" charset="-122"/>
                <a:cs typeface="Segoe UI" pitchFamily="34" charset="-120"/>
              </a:rPr>
              <a:t> dès son inscription et </a:t>
            </a:r>
            <a:pPr indent="0" marL="0">
              <a:buNone/>
            </a:pPr>
            <a:r>
              <a:rPr lang="en-US" sz="1300" b="1" dirty="0">
                <a:solidFill>
                  <a:srgbClr val="1B2A3A"/>
                </a:solidFill>
                <a:latin typeface="Segoe UI" pitchFamily="34" charset="0"/>
                <a:ea typeface="Segoe UI" pitchFamily="34" charset="-122"/>
                <a:cs typeface="Segoe UI" pitchFamily="34" charset="-120"/>
              </a:rPr>
              <a:t>ne peut pas déposer</a:t>
            </a:r>
            <a:pPr indent="0" marL="0">
              <a:buNone/>
            </a:pPr>
            <a:r>
              <a:rPr lang="en-US" sz="1300" dirty="0">
                <a:solidFill>
                  <a:srgbClr val="465568"/>
                </a:solidFill>
                <a:latin typeface="Segoe UI" pitchFamily="34" charset="0"/>
                <a:ea typeface="Segoe UI" pitchFamily="34" charset="-122"/>
                <a:cs typeface="Segoe UI" pitchFamily="34" charset="-120"/>
              </a:rPr>
              <a:t>.</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es entreprises exclues par l’ARMP">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ADMINISTRATEUR</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Ajouter une exclusion</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Une exclusion ne se supprime jamais : elle se corrige ou se clôt par sa date de fin, avec un journal.</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Ajouter une exclusion">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324A"/>
        </a:solidFill>
      </p:bgPr>
    </p:bg>
    <p:spTree>
      <p:nvGrpSpPr>
        <p:cNvPr id="1" name=""/>
        <p:cNvGrpSpPr/>
        <p:nvPr/>
      </p:nvGrpSpPr>
      <p:grpSpPr>
        <a:xfrm>
          <a:off x="0" y="0"/>
          <a:ext cx="0" cy="0"/>
          <a:chOff x="0" y="0"/>
          <a:chExt cx="0" cy="0"/>
        </a:xfrm>
      </p:grpSpPr>
      <p:sp>
        <p:nvSpPr>
          <p:cNvPr id="2" name="Text 0"/>
          <p:cNvSpPr/>
          <p:nvPr/>
        </p:nvSpPr>
        <p:spPr>
          <a:xfrm>
            <a:off x="812780" y="1397000"/>
            <a:ext cx="2539937" cy="1079500"/>
          </a:xfrm>
          <a:prstGeom prst="rect">
            <a:avLst/>
          </a:prstGeom>
          <a:noFill/>
          <a:ln/>
        </p:spPr>
        <p:txBody>
          <a:bodyPr wrap="square" rtlCol="0" anchor="ctr"/>
          <a:lstStyle/>
          <a:p>
            <a:pPr indent="0" marL="0">
              <a:buNone/>
            </a:pPr>
            <a:r>
              <a:rPr lang="en-US" sz="8000" b="1" dirty="0">
                <a:solidFill>
                  <a:srgbClr val="E3AE2E"/>
                </a:solidFill>
                <a:latin typeface="Segoe UI" pitchFamily="34" charset="0"/>
                <a:ea typeface="Segoe UI" pitchFamily="34" charset="-122"/>
                <a:cs typeface="Segoe UI" pitchFamily="34" charset="-120"/>
              </a:rPr>
              <a:t>02</a:t>
            </a:r>
            <a:endParaRPr lang="en-US" sz="8000" dirty="0"/>
          </a:p>
        </p:txBody>
      </p:sp>
      <p:sp>
        <p:nvSpPr>
          <p:cNvPr id="3" name="Text 1"/>
          <p:cNvSpPr/>
          <p:nvPr/>
        </p:nvSpPr>
        <p:spPr>
          <a:xfrm>
            <a:off x="812780" y="2667000"/>
            <a:ext cx="10159746" cy="698500"/>
          </a:xfrm>
          <a:prstGeom prst="rect">
            <a:avLst/>
          </a:prstGeom>
          <a:noFill/>
          <a:ln/>
        </p:spPr>
        <p:txBody>
          <a:bodyPr wrap="square" rtlCol="0" anchor="ctr"/>
          <a:lstStyle/>
          <a:p>
            <a:pPr indent="0" marL="0">
              <a:buNone/>
            </a:pPr>
            <a:r>
              <a:rPr lang="en-US" sz="4400" b="1" dirty="0">
                <a:solidFill>
                  <a:srgbClr val="FCFCFA"/>
                </a:solidFill>
                <a:latin typeface="Segoe UI" pitchFamily="34" charset="0"/>
                <a:ea typeface="Segoe UI" pitchFamily="34" charset="-122"/>
                <a:cs typeface="Segoe UI" pitchFamily="34" charset="-120"/>
              </a:rPr>
              <a:t>Préparer le DAO en ligne</a:t>
            </a:r>
            <a:endParaRPr lang="en-US" sz="4400" dirty="0"/>
          </a:p>
        </p:txBody>
      </p:sp>
      <p:sp>
        <p:nvSpPr>
          <p:cNvPr id="4" name="Text 2"/>
          <p:cNvSpPr/>
          <p:nvPr/>
        </p:nvSpPr>
        <p:spPr>
          <a:xfrm>
            <a:off x="812780" y="3556000"/>
            <a:ext cx="8254794" cy="1016000"/>
          </a:xfrm>
          <a:prstGeom prst="rect">
            <a:avLst/>
          </a:prstGeom>
          <a:noFill/>
          <a:ln/>
        </p:spPr>
        <p:txBody>
          <a:bodyPr wrap="square" rtlCol="0" anchor="t"/>
          <a:lstStyle/>
          <a:p>
            <a:pPr indent="0" marL="0">
              <a:buNone/>
            </a:pPr>
            <a:r>
              <a:rPr lang="en-US" sz="1700" dirty="0">
                <a:solidFill>
                  <a:srgbClr val="C9D6E2"/>
                </a:solidFill>
                <a:latin typeface="Segoe UI" pitchFamily="34" charset="0"/>
                <a:ea typeface="Segoe UI" pitchFamily="34" charset="-122"/>
                <a:cs typeface="Segoe UI" pitchFamily="34" charset="-120"/>
              </a:rPr>
              <a:t>Dans la fiche du marché, la PRMP choisit la remise électronique : la fiche gagne alors les rubriques de la plateforme et de la séance, et exige une commission d’appel d’offres.</a:t>
            </a:r>
            <a:endParaRPr lang="en-US" sz="1700" dirty="0"/>
          </a:p>
        </p:txBody>
      </p:sp>
      <p:sp>
        <p:nvSpPr>
          <p:cNvPr id="5" name="Text 3"/>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8FA6BB"/>
                </a:solidFill>
                <a:latin typeface="Segoe UI" pitchFamily="34" charset="0"/>
                <a:ea typeface="Segoe UI" pitchFamily="34" charset="-122"/>
                <a:cs typeface="Segoe UI" pitchFamily="34" charset="-120"/>
              </a:rPr>
              <a:t>PRS 2.0 · La soumission électronique des offres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Le cadrage : la remise électronique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 </a:t>
            </a:r>
            <a:pPr indent="0" marL="0">
              <a:buNone/>
            </a:pPr>
            <a:r>
              <a:rPr lang="en-US" sz="1300" b="1" dirty="0">
                <a:solidFill>
                  <a:srgbClr val="1B2A3A"/>
                </a:solidFill>
                <a:latin typeface="Segoe UI" pitchFamily="34" charset="0"/>
                <a:ea typeface="Segoe UI" pitchFamily="34" charset="-122"/>
                <a:cs typeface="Segoe UI" pitchFamily="34" charset="-120"/>
              </a:rPr>
              <a:t>Comment les offres sont-elles remises ?</a:t>
            </a:r>
            <a:pPr indent="0" marL="0">
              <a:buNone/>
            </a:pPr>
            <a:r>
              <a:rPr lang="en-US" sz="1300" dirty="0">
                <a:solidFill>
                  <a:srgbClr val="465568"/>
                </a:solidFill>
                <a:latin typeface="Segoe UI" pitchFamily="34" charset="0"/>
                <a:ea typeface="Segoe UI" pitchFamily="34" charset="-122"/>
                <a:cs typeface="Segoe UI" pitchFamily="34" charset="-120"/>
              </a:rPr>
              <a:t> » — papier, ou électronique.</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Ici aussi : la garantie de soumission exigée, qui sera lue en séance.</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e cadrage : la remise électroniqu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Le bloc de la remise électronique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L’adresse de la plateforme, l’</a:t>
            </a:r>
            <a:pPr indent="0" marL="0">
              <a:buNone/>
            </a:pPr>
            <a:r>
              <a:rPr lang="en-US" sz="1300" b="1" dirty="0">
                <a:solidFill>
                  <a:srgbClr val="1B2A3A"/>
                </a:solidFill>
                <a:latin typeface="Segoe UI" pitchFamily="34" charset="0"/>
                <a:ea typeface="Segoe UI" pitchFamily="34" charset="-122"/>
                <a:cs typeface="Segoe UI" pitchFamily="34" charset="-120"/>
              </a:rPr>
              <a:t>ouverture des dépôts</a:t>
            </a:r>
            <a:pPr indent="0" marL="0">
              <a:buNone/>
            </a:pPr>
            <a:r>
              <a:rPr lang="en-US" sz="1300" dirty="0">
                <a:solidFill>
                  <a:srgbClr val="465568"/>
                </a:solidFill>
                <a:latin typeface="Segoe UI" pitchFamily="34" charset="0"/>
                <a:ea typeface="Segoe UI" pitchFamily="34" charset="-122"/>
                <a:cs typeface="Segoe UI" pitchFamily="34" charset="-120"/>
              </a:rPr>
              <a:t>, l’heure de référence, la signature exigée.</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Les formats et tailles acceptés, le remplacement et le retrait autorisés, la prorogation en cas d’indisponibilité, l’assistance.</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e bloc de la remise électroniqu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La séance d’ouverture, dans la fiche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Le jour et l’</a:t>
            </a:r>
            <a:pPr indent="0" marL="0">
              <a:buNone/>
            </a:pPr>
            <a:r>
              <a:rPr lang="en-US" sz="1300" b="1" dirty="0">
                <a:solidFill>
                  <a:srgbClr val="1B2A3A"/>
                </a:solidFill>
                <a:latin typeface="Segoe UI" pitchFamily="34" charset="0"/>
                <a:ea typeface="Segoe UI" pitchFamily="34" charset="-122"/>
                <a:cs typeface="Segoe UI" pitchFamily="34" charset="-120"/>
              </a:rPr>
              <a:t>heure de l’ouverture des plis</a:t>
            </a:r>
            <a:pPr indent="0" marL="0">
              <a:buNone/>
            </a:pPr>
            <a:r>
              <a:rPr lang="en-US" sz="1300" dirty="0">
                <a:solidFill>
                  <a:srgbClr val="465568"/>
                </a:solidFill>
                <a:latin typeface="Segoe UI" pitchFamily="34" charset="0"/>
                <a:ea typeface="Segoe UI" pitchFamily="34" charset="-122"/>
                <a:cs typeface="Segoe UI" pitchFamily="34" charset="-120"/>
              </a:rPr>
              <a:t>, la modalité (présentiel, en ligne, mixte), le délai après la date limite.</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La </a:t>
            </a:r>
            <a:pPr indent="0" marL="0">
              <a:buNone/>
            </a:pPr>
            <a:r>
              <a:rPr lang="en-US" sz="1300" b="1" dirty="0">
                <a:solidFill>
                  <a:srgbClr val="1B2A3A"/>
                </a:solidFill>
                <a:latin typeface="Segoe UI" pitchFamily="34" charset="0"/>
                <a:ea typeface="Segoe UI" pitchFamily="34" charset="-122"/>
                <a:cs typeface="Segoe UI" pitchFamily="34" charset="-120"/>
              </a:rPr>
              <a:t>publication du PV</a:t>
            </a:r>
            <a:pPr indent="0" marL="0">
              <a:buNone/>
            </a:pPr>
            <a:r>
              <a:rPr lang="en-US" sz="1300" dirty="0">
                <a:solidFill>
                  <a:srgbClr val="465568"/>
                </a:solidFill>
                <a:latin typeface="Segoe UI" pitchFamily="34" charset="0"/>
                <a:ea typeface="Segoe UI" pitchFamily="34" charset="-122"/>
                <a:cs typeface="Segoe UI" pitchFamily="34" charset="-120"/>
              </a:rPr>
              <a:t> sur la plateforme.</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a séance d’ouverture, dans la fich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La commission d’appel d’offres</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Désignée par la PRMP (ou saisie par l’UGPM), par une </a:t>
            </a:r>
            <a:pPr indent="0" marL="0">
              <a:buNone/>
            </a:pPr>
            <a:r>
              <a:rPr lang="en-US" sz="1300" b="1" dirty="0">
                <a:solidFill>
                  <a:srgbClr val="1B2A3A"/>
                </a:solidFill>
                <a:latin typeface="Segoe UI" pitchFamily="34" charset="0"/>
                <a:ea typeface="Segoe UI" pitchFamily="34" charset="-122"/>
                <a:cs typeface="Segoe UI" pitchFamily="34" charset="-120"/>
              </a:rPr>
              <a:t>décision</a:t>
            </a:r>
            <a:pPr indent="0" marL="0">
              <a:buNone/>
            </a:pPr>
            <a:r>
              <a:rPr lang="en-US" sz="1300" dirty="0">
                <a:solidFill>
                  <a:srgbClr val="465568"/>
                </a:solidFill>
                <a:latin typeface="Segoe UI" pitchFamily="34" charset="0"/>
                <a:ea typeface="Segoe UI" pitchFamily="34" charset="-122"/>
                <a:cs typeface="Segoe UI" pitchFamily="34" charset="-120"/>
              </a:rPr>
              <a:t> : des agents de l’entité, au plus un expert de l’objet, un président.</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Chaque membre reçoit un compte et une invitation par courriel.</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a commission d’appel d’offres">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Les contrôles propres à la remise électronique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La commission, le responsable, le dépositaire, la cérémonie avant la publication, et le </a:t>
            </a:r>
            <a:pPr indent="0" marL="0">
              <a:buNone/>
            </a:pPr>
            <a:r>
              <a:rPr lang="en-US" sz="1300" b="1" dirty="0">
                <a:solidFill>
                  <a:srgbClr val="1B2A3A"/>
                </a:solidFill>
                <a:latin typeface="Segoe UI" pitchFamily="34" charset="0"/>
                <a:ea typeface="Segoe UI" pitchFamily="34" charset="-122"/>
                <a:cs typeface="Segoe UI" pitchFamily="34" charset="-120"/>
              </a:rPr>
              <a:t>délai minimal</a:t>
            </a:r>
            <a:pPr indent="0" marL="0">
              <a:buNone/>
            </a:pPr>
            <a:r>
              <a:rPr lang="en-US" sz="1300" dirty="0">
                <a:solidFill>
                  <a:srgbClr val="465568"/>
                </a:solidFill>
                <a:latin typeface="Segoe UI" pitchFamily="34" charset="0"/>
                <a:ea typeface="Segoe UI" pitchFamily="34" charset="-122"/>
                <a:cs typeface="Segoe UI" pitchFamily="34" charset="-120"/>
              </a:rPr>
              <a:t> entre la publication et la date limite.</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Tant qu’un contrôle bloque, la fiche ne se valide pas.</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es contrôles propres à la remise électronique">    </p:cNvPr>
          <p:cNvPicPr>
            <a:picLocks noChangeAspect="1"/>
          </p:cNvPicPr>
          <p:nvPr/>
        </p:nvPicPr>
        <p:blipFill>
          <a:blip r:embed="rId1"/>
          <a:stretch>
            <a:fillRect/>
          </a:stretch>
        </p:blipFill>
        <p:spPr>
          <a:xfrm>
            <a:off x="4279793" y="1587500"/>
            <a:ext cx="7010225" cy="4381500"/>
          </a:xfrm>
          <a:prstGeom prst="rect">
            <a:avLst/>
          </a:prstGeom>
        </p:spPr>
      </p:pic>
      <p:sp>
        <p:nvSpPr>
          <p:cNvPr id="8"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324A"/>
        </a:solidFill>
      </p:bgPr>
    </p:bg>
    <p:spTree>
      <p:nvGrpSpPr>
        <p:cNvPr id="1" name=""/>
        <p:cNvGrpSpPr/>
        <p:nvPr/>
      </p:nvGrpSpPr>
      <p:grpSpPr>
        <a:xfrm>
          <a:off x="0" y="0"/>
          <a:ext cx="0" cy="0"/>
          <a:chOff x="0" y="0"/>
          <a:chExt cx="0" cy="0"/>
        </a:xfrm>
      </p:grpSpPr>
      <p:sp>
        <p:nvSpPr>
          <p:cNvPr id="2" name="Text 0"/>
          <p:cNvSpPr/>
          <p:nvPr/>
        </p:nvSpPr>
        <p:spPr>
          <a:xfrm>
            <a:off x="812780" y="1397000"/>
            <a:ext cx="2539937" cy="1079500"/>
          </a:xfrm>
          <a:prstGeom prst="rect">
            <a:avLst/>
          </a:prstGeom>
          <a:noFill/>
          <a:ln/>
        </p:spPr>
        <p:txBody>
          <a:bodyPr wrap="square" rtlCol="0" anchor="ctr"/>
          <a:lstStyle/>
          <a:p>
            <a:pPr indent="0" marL="0">
              <a:buNone/>
            </a:pPr>
            <a:r>
              <a:rPr lang="en-US" sz="8000" b="1" dirty="0">
                <a:solidFill>
                  <a:srgbClr val="E3AE2E"/>
                </a:solidFill>
                <a:latin typeface="Segoe UI" pitchFamily="34" charset="0"/>
                <a:ea typeface="Segoe UI" pitchFamily="34" charset="-122"/>
                <a:cs typeface="Segoe UI" pitchFamily="34" charset="-120"/>
              </a:rPr>
              <a:t>03</a:t>
            </a:r>
            <a:endParaRPr lang="en-US" sz="8000" dirty="0"/>
          </a:p>
        </p:txBody>
      </p:sp>
      <p:sp>
        <p:nvSpPr>
          <p:cNvPr id="3" name="Text 1"/>
          <p:cNvSpPr/>
          <p:nvPr/>
        </p:nvSpPr>
        <p:spPr>
          <a:xfrm>
            <a:off x="812780" y="2667000"/>
            <a:ext cx="10159746" cy="698500"/>
          </a:xfrm>
          <a:prstGeom prst="rect">
            <a:avLst/>
          </a:prstGeom>
          <a:noFill/>
          <a:ln/>
        </p:spPr>
        <p:txBody>
          <a:bodyPr wrap="square" rtlCol="0" anchor="ctr"/>
          <a:lstStyle/>
          <a:p>
            <a:pPr indent="0" marL="0">
              <a:buNone/>
            </a:pPr>
            <a:r>
              <a:rPr lang="en-US" sz="4400" b="1" dirty="0">
                <a:solidFill>
                  <a:srgbClr val="FCFCFA"/>
                </a:solidFill>
                <a:latin typeface="Segoe UI" pitchFamily="34" charset="0"/>
                <a:ea typeface="Segoe UI" pitchFamily="34" charset="-122"/>
                <a:cs typeface="Segoe UI" pitchFamily="34" charset="-120"/>
              </a:rPr>
              <a:t>La cérémonie des clés</a:t>
            </a:r>
            <a:endParaRPr lang="en-US" sz="4400" dirty="0"/>
          </a:p>
        </p:txBody>
      </p:sp>
      <p:sp>
        <p:nvSpPr>
          <p:cNvPr id="4" name="Text 2"/>
          <p:cNvSpPr/>
          <p:nvPr/>
        </p:nvSpPr>
        <p:spPr>
          <a:xfrm>
            <a:off x="812780" y="3556000"/>
            <a:ext cx="8254794" cy="1016000"/>
          </a:xfrm>
          <a:prstGeom prst="rect">
            <a:avLst/>
          </a:prstGeom>
          <a:noFill/>
          <a:ln/>
        </p:spPr>
        <p:txBody>
          <a:bodyPr wrap="square" rtlCol="0" anchor="t"/>
          <a:lstStyle/>
          <a:p>
            <a:pPr indent="0" marL="0">
              <a:buNone/>
            </a:pPr>
            <a:r>
              <a:rPr lang="en-US" sz="1700" dirty="0">
                <a:solidFill>
                  <a:srgbClr val="C9D6E2"/>
                </a:solidFill>
                <a:latin typeface="Segoe UI" pitchFamily="34" charset="0"/>
                <a:ea typeface="Segoe UI" pitchFamily="34" charset="-122"/>
                <a:cs typeface="Segoe UI" pitchFamily="34" charset="-120"/>
              </a:rPr>
              <a:t>Chaque détenteur crée sa clé sur son poste ; le responsable clôt la cérémonie, et les clés publiques sont servies aux candidats. (Le détail fait l’objet d’une présentation à part.)</a:t>
            </a:r>
            <a:endParaRPr lang="en-US" sz="1700" dirty="0"/>
          </a:p>
        </p:txBody>
      </p:sp>
      <p:sp>
        <p:nvSpPr>
          <p:cNvPr id="5" name="Text 3"/>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8FA6BB"/>
                </a:solidFill>
                <a:latin typeface="Segoe UI" pitchFamily="34" charset="0"/>
                <a:ea typeface="Segoe UI" pitchFamily="34" charset="-122"/>
                <a:cs typeface="Segoe UI" pitchFamily="34" charset="-120"/>
              </a:rPr>
              <a:t>PRS 2.0 · La soumission électronique des offres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RESPONSABLE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Quorum, date de la cérémonie, dépositaire</a:t>
            </a:r>
            <a:endParaRPr lang="en-US" sz="2800" dirty="0"/>
          </a:p>
        </p:txBody>
      </p:sp>
      <p:sp>
        <p:nvSpPr>
          <p:cNvPr id="4" name="Text 2"/>
          <p:cNvSpPr/>
          <p:nvPr/>
        </p:nvSpPr>
        <p:spPr>
          <a:xfrm>
            <a:off x="812780" y="1397000"/>
            <a:ext cx="10566136" cy="15875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Les membres viennent de la commission ; le responsable fixe le </a:t>
            </a:r>
            <a:pPr indent="0" marL="0">
              <a:buNone/>
            </a:pPr>
            <a:r>
              <a:rPr lang="en-US" sz="1300" b="1" dirty="0">
                <a:solidFill>
                  <a:srgbClr val="1B2A3A"/>
                </a:solidFill>
                <a:latin typeface="Segoe UI" pitchFamily="34" charset="0"/>
                <a:ea typeface="Segoe UI" pitchFamily="34" charset="-122"/>
                <a:cs typeface="Segoe UI" pitchFamily="34" charset="-120"/>
              </a:rPr>
              <a:t>quorum</a:t>
            </a:r>
            <a:pPr indent="0" marL="0">
              <a:buNone/>
            </a:pPr>
            <a:r>
              <a:rPr lang="en-US" sz="1300" dirty="0">
                <a:solidFill>
                  <a:srgbClr val="465568"/>
                </a:solidFill>
                <a:latin typeface="Segoe UI" pitchFamily="34" charset="0"/>
                <a:ea typeface="Segoe UI" pitchFamily="34" charset="-122"/>
                <a:cs typeface="Segoe UI" pitchFamily="34" charset="-120"/>
              </a:rPr>
              <a:t>, la date de la cérémonie et le </a:t>
            </a:r>
            <a:pPr indent="0" marL="0">
              <a:buNone/>
            </a:pPr>
            <a:r>
              <a:rPr lang="en-US" sz="1300" b="1" dirty="0">
                <a:solidFill>
                  <a:srgbClr val="1B2A3A"/>
                </a:solidFill>
                <a:latin typeface="Segoe UI" pitchFamily="34" charset="0"/>
                <a:ea typeface="Segoe UI" pitchFamily="34" charset="-122"/>
                <a:cs typeface="Segoe UI" pitchFamily="34" charset="-120"/>
              </a:rPr>
              <a:t>dépositaire</a:t>
            </a:r>
            <a:pPr indent="0" marL="0">
              <a:buNone/>
            </a:pPr>
            <a:r>
              <a:rPr lang="en-US" sz="1300" dirty="0">
                <a:solidFill>
                  <a:srgbClr val="465568"/>
                </a:solidFill>
                <a:latin typeface="Segoe UI" pitchFamily="34" charset="0"/>
                <a:ea typeface="Segoe UI" pitchFamily="34" charset="-122"/>
                <a:cs typeface="Segoe UI" pitchFamily="34" charset="-120"/>
              </a:rPr>
              <a:t> (avec son adresse).</a:t>
            </a:r>
            <a:endParaRPr lang="en-US" sz="1300" dirty="0"/>
          </a:p>
        </p:txBody>
      </p:sp>
      <p:sp>
        <p:nvSpPr>
          <p:cNvPr id="5" name="Shape 3"/>
          <p:cNvSpPr/>
          <p:nvPr/>
        </p:nvSpPr>
        <p:spPr>
          <a:xfrm>
            <a:off x="1363099" y="3060700"/>
            <a:ext cx="9465497" cy="3086100"/>
          </a:xfrm>
          <a:prstGeom prst="rect">
            <a:avLst/>
          </a:prstGeom>
          <a:solidFill>
            <a:srgbClr val="D5DCE4"/>
          </a:solidFill>
          <a:ln w="12700">
            <a:solidFill>
              <a:srgbClr val="D5DCE4"/>
            </a:solidFill>
            <a:prstDash val="solid"/>
          </a:ln>
        </p:spPr>
      </p:sp>
      <p:pic>
        <p:nvPicPr>
          <p:cNvPr id="6" name="Image 0" descr="Quorum, date de la cérémonie, dépositaire">    </p:cNvPr>
          <p:cNvPicPr>
            <a:picLocks noChangeAspect="1"/>
          </p:cNvPicPr>
          <p:nvPr/>
        </p:nvPicPr>
        <p:blipFill>
          <a:blip r:embed="rId1"/>
          <a:stretch>
            <a:fillRect/>
          </a:stretch>
        </p:blipFill>
        <p:spPr>
          <a:xfrm>
            <a:off x="1439297" y="3136900"/>
            <a:ext cx="9313101" cy="29337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RESPONSABLE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La cérémonie attend ses clés</a:t>
            </a:r>
            <a:endParaRPr lang="en-US" sz="2800" dirty="0"/>
          </a:p>
        </p:txBody>
      </p:sp>
      <p:sp>
        <p:nvSpPr>
          <p:cNvPr id="4" name="Text 2"/>
          <p:cNvSpPr/>
          <p:nvPr/>
        </p:nvSpPr>
        <p:spPr>
          <a:xfrm>
            <a:off x="812780" y="1397000"/>
            <a:ext cx="10566136" cy="15875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n parts = les membres + la part de secours ; chaque détenteur est « Clé à publier ».</a:t>
            </a:r>
            <a:endParaRPr lang="en-US" sz="1300" dirty="0"/>
          </a:p>
        </p:txBody>
      </p:sp>
      <p:sp>
        <p:nvSpPr>
          <p:cNvPr id="5" name="Shape 3"/>
          <p:cNvSpPr/>
          <p:nvPr/>
        </p:nvSpPr>
        <p:spPr>
          <a:xfrm>
            <a:off x="872936" y="3060700"/>
            <a:ext cx="10445823" cy="3086100"/>
          </a:xfrm>
          <a:prstGeom prst="rect">
            <a:avLst/>
          </a:prstGeom>
          <a:solidFill>
            <a:srgbClr val="D5DCE4"/>
          </a:solidFill>
          <a:ln w="12700">
            <a:solidFill>
              <a:srgbClr val="D5DCE4"/>
            </a:solidFill>
            <a:prstDash val="solid"/>
          </a:ln>
        </p:spPr>
      </p:sp>
      <p:pic>
        <p:nvPicPr>
          <p:cNvPr id="6" name="Image 0" descr="La cérémonie attend ses clés">    </p:cNvPr>
          <p:cNvPicPr>
            <a:picLocks noChangeAspect="1"/>
          </p:cNvPicPr>
          <p:nvPr/>
        </p:nvPicPr>
        <p:blipFill>
          <a:blip r:embed="rId1"/>
          <a:stretch>
            <a:fillRect/>
          </a:stretch>
        </p:blipFill>
        <p:spPr>
          <a:xfrm>
            <a:off x="949134" y="3136900"/>
            <a:ext cx="10293427" cy="29337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MEMBRE DE LA CAO</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Il choisit sa phrase secrète</a:t>
            </a:r>
            <a:endParaRPr lang="en-US" sz="2800" dirty="0"/>
          </a:p>
        </p:txBody>
      </p:sp>
      <p:sp>
        <p:nvSpPr>
          <p:cNvPr id="4" name="Text 2"/>
          <p:cNvSpPr/>
          <p:nvPr/>
        </p:nvSpPr>
        <p:spPr>
          <a:xfrm>
            <a:off x="812780" y="1397000"/>
            <a:ext cx="10566136" cy="15875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La paire de clés naît </a:t>
            </a:r>
            <a:pPr indent="0" marL="0">
              <a:buNone/>
            </a:pPr>
            <a:r>
              <a:rPr lang="en-US" sz="1300" b="1" dirty="0">
                <a:solidFill>
                  <a:srgbClr val="1B2A3A"/>
                </a:solidFill>
                <a:latin typeface="Segoe UI" pitchFamily="34" charset="0"/>
                <a:ea typeface="Segoe UI" pitchFamily="34" charset="-122"/>
                <a:cs typeface="Segoe UI" pitchFamily="34" charset="-120"/>
              </a:rPr>
              <a:t>dans son navigateur</a:t>
            </a:r>
            <a:pPr indent="0" marL="0">
              <a:buNone/>
            </a:pPr>
            <a:r>
              <a:rPr lang="en-US" sz="1300" dirty="0">
                <a:solidFill>
                  <a:srgbClr val="465568"/>
                </a:solidFill>
                <a:latin typeface="Segoe UI" pitchFamily="34" charset="0"/>
                <a:ea typeface="Segoe UI" pitchFamily="34" charset="-122"/>
                <a:cs typeface="Segoe UI" pitchFamily="34" charset="-120"/>
              </a:rPr>
              <a:t> ; la clé privée est enveloppée par sa phrase, qui ne quitte jamais le poste.</a:t>
            </a:r>
            <a:endParaRPr lang="en-US" sz="1300" dirty="0"/>
          </a:p>
        </p:txBody>
      </p:sp>
      <p:sp>
        <p:nvSpPr>
          <p:cNvPr id="5" name="Shape 3"/>
          <p:cNvSpPr/>
          <p:nvPr/>
        </p:nvSpPr>
        <p:spPr>
          <a:xfrm>
            <a:off x="2586307" y="3060700"/>
            <a:ext cx="7019081" cy="3086100"/>
          </a:xfrm>
          <a:prstGeom prst="rect">
            <a:avLst/>
          </a:prstGeom>
          <a:solidFill>
            <a:srgbClr val="D5DCE4"/>
          </a:solidFill>
          <a:ln w="12700">
            <a:solidFill>
              <a:srgbClr val="D5DCE4"/>
            </a:solidFill>
            <a:prstDash val="solid"/>
          </a:ln>
        </p:spPr>
      </p:sp>
      <p:pic>
        <p:nvPicPr>
          <p:cNvPr id="6" name="Image 0" descr="Il choisit sa phrase secrète">    </p:cNvPr>
          <p:cNvPicPr>
            <a:picLocks noChangeAspect="1"/>
          </p:cNvPicPr>
          <p:nvPr/>
        </p:nvPicPr>
        <p:blipFill>
          <a:blip r:embed="rId1"/>
          <a:stretch>
            <a:fillRect/>
          </a:stretch>
        </p:blipFill>
        <p:spPr>
          <a:xfrm>
            <a:off x="2662505" y="3136900"/>
            <a:ext cx="6866685" cy="29337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MEMBRE DE LA CAO</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Sa clé est publiée</a:t>
            </a:r>
            <a:endParaRPr lang="en-US" sz="2800" dirty="0"/>
          </a:p>
        </p:txBody>
      </p:sp>
      <p:sp>
        <p:nvSpPr>
          <p:cNvPr id="4" name="Text 2"/>
          <p:cNvSpPr/>
          <p:nvPr/>
        </p:nvSpPr>
        <p:spPr>
          <a:xfrm>
            <a:off x="812780" y="1397000"/>
            <a:ext cx="10566136" cy="15875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a:t>
            </a:r>
            <a:pPr indent="0" marL="0">
              <a:buNone/>
            </a:pPr>
            <a:r>
              <a:rPr lang="en-US" sz="1300" b="1" dirty="0">
                <a:solidFill>
                  <a:srgbClr val="1B2A3A"/>
                </a:solidFill>
                <a:latin typeface="Segoe UI" pitchFamily="34" charset="0"/>
                <a:ea typeface="Segoe UI" pitchFamily="34" charset="-122"/>
                <a:cs typeface="Segoe UI" pitchFamily="34" charset="-120"/>
              </a:rPr>
              <a:t>empreinte</a:t>
            </a:r>
            <a:pPr indent="0" marL="0">
              <a:buNone/>
            </a:pPr>
            <a:r>
              <a:rPr lang="en-US" sz="1300" dirty="0">
                <a:solidFill>
                  <a:srgbClr val="465568"/>
                </a:solidFill>
                <a:latin typeface="Segoe UI" pitchFamily="34" charset="0"/>
                <a:ea typeface="Segoe UI" pitchFamily="34" charset="-122"/>
                <a:cs typeface="Segoe UI" pitchFamily="34" charset="-120"/>
              </a:rPr>
              <a:t> de sa clé, à comparer avec la liste des détenteurs ; une copie de sauvegarde hors ligne.</a:t>
            </a:r>
            <a:endParaRPr lang="en-US" sz="1300" dirty="0"/>
          </a:p>
        </p:txBody>
      </p:sp>
      <p:sp>
        <p:nvSpPr>
          <p:cNvPr id="5" name="Shape 3"/>
          <p:cNvSpPr/>
          <p:nvPr/>
        </p:nvSpPr>
        <p:spPr>
          <a:xfrm>
            <a:off x="2938286" y="3060700"/>
            <a:ext cx="6315123" cy="3086100"/>
          </a:xfrm>
          <a:prstGeom prst="rect">
            <a:avLst/>
          </a:prstGeom>
          <a:solidFill>
            <a:srgbClr val="D5DCE4"/>
          </a:solidFill>
          <a:ln w="12700">
            <a:solidFill>
              <a:srgbClr val="D5DCE4"/>
            </a:solidFill>
            <a:prstDash val="solid"/>
          </a:ln>
        </p:spPr>
      </p:sp>
      <p:pic>
        <p:nvPicPr>
          <p:cNvPr id="6" name="Image 0" descr="Sa clé est publiée">    </p:cNvPr>
          <p:cNvPicPr>
            <a:picLocks noChangeAspect="1"/>
          </p:cNvPicPr>
          <p:nvPr/>
        </p:nvPicPr>
        <p:blipFill>
          <a:blip r:embed="rId1"/>
          <a:stretch>
            <a:fillRect/>
          </a:stretch>
        </p:blipFill>
        <p:spPr>
          <a:xfrm>
            <a:off x="3014484" y="3136900"/>
            <a:ext cx="6162727" cy="29337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DÉPOSITAIRE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Ses procédures</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Dans son espace : les procédures dont il garde la part de secours, et ce qui l’attend.</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Ses procédures">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DÉPOSITAIRE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Sa clé de secours et son pli</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La phrase est </a:t>
            </a:r>
            <a:pPr indent="0" marL="0">
              <a:buNone/>
            </a:pPr>
            <a:r>
              <a:rPr lang="en-US" sz="1300" b="1" dirty="0">
                <a:solidFill>
                  <a:srgbClr val="1B2A3A"/>
                </a:solidFill>
                <a:latin typeface="Segoe UI" pitchFamily="34" charset="0"/>
                <a:ea typeface="Segoe UI" pitchFamily="34" charset="-122"/>
                <a:cs typeface="Segoe UI" pitchFamily="34" charset="-120"/>
              </a:rPr>
              <a:t>générée</a:t>
            </a:r>
            <a:pPr indent="0" marL="0">
              <a:buNone/>
            </a:pPr>
            <a:r>
              <a:rPr lang="en-US" sz="1300" dirty="0">
                <a:solidFill>
                  <a:srgbClr val="465568"/>
                </a:solidFill>
                <a:latin typeface="Segoe UI" pitchFamily="34" charset="0"/>
                <a:ea typeface="Segoe UI" pitchFamily="34" charset="-122"/>
                <a:cs typeface="Segoe UI" pitchFamily="34" charset="-120"/>
              </a:rPr>
              <a:t> et montrée une seule fois, </a:t>
            </a:r>
            <a:pPr indent="0" marL="0">
              <a:buNone/>
            </a:pPr>
            <a:r>
              <a:rPr lang="en-US" sz="1300" b="1" dirty="0">
                <a:solidFill>
                  <a:srgbClr val="1B2A3A"/>
                </a:solidFill>
                <a:latin typeface="Segoe UI" pitchFamily="34" charset="0"/>
                <a:ea typeface="Segoe UI" pitchFamily="34" charset="-122"/>
                <a:cs typeface="Segoe UI" pitchFamily="34" charset="-120"/>
              </a:rPr>
              <a:t>à lui seul</a:t>
            </a:r>
            <a:pPr indent="0" marL="0">
              <a:buNone/>
            </a:pPr>
            <a:r>
              <a:rPr lang="en-US" sz="1300" dirty="0">
                <a:solidFill>
                  <a:srgbClr val="465568"/>
                </a:solidFill>
                <a:latin typeface="Segoe UI" pitchFamily="34" charset="0"/>
                <a:ea typeface="Segoe UI" pitchFamily="34" charset="-122"/>
                <a:cs typeface="Segoe UI" pitchFamily="34" charset="-120"/>
              </a:rPr>
              <a:t> ; il imprime le pli et le conserve.</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Phrase masquée sur la capture.</a:t>
            </a:r>
            <a:endParaRPr lang="en-US" sz="1300" dirty="0"/>
          </a:p>
        </p:txBody>
      </p:sp>
      <p:sp>
        <p:nvSpPr>
          <p:cNvPr id="5" name="Shape 3"/>
          <p:cNvSpPr/>
          <p:nvPr/>
        </p:nvSpPr>
        <p:spPr>
          <a:xfrm>
            <a:off x="4279793" y="1473200"/>
            <a:ext cx="7010225" cy="4610100"/>
          </a:xfrm>
          <a:prstGeom prst="rect">
            <a:avLst/>
          </a:prstGeom>
          <a:solidFill>
            <a:srgbClr val="D5DCE4"/>
          </a:solidFill>
          <a:ln w="12700">
            <a:solidFill>
              <a:srgbClr val="D5DCE4"/>
            </a:solidFill>
            <a:prstDash val="solid"/>
          </a:ln>
        </p:spPr>
      </p:sp>
      <p:pic>
        <p:nvPicPr>
          <p:cNvPr id="6" name="Image 0" descr="Sa clé de secours et son pli">    </p:cNvPr>
          <p:cNvPicPr>
            <a:picLocks noChangeAspect="1"/>
          </p:cNvPicPr>
          <p:nvPr/>
        </p:nvPicPr>
        <p:blipFill>
          <a:blip r:embed="rId1"/>
          <a:stretch>
            <a:fillRect/>
          </a:stretch>
        </p:blipFill>
        <p:spPr>
          <a:xfrm>
            <a:off x="4355991" y="1549400"/>
            <a:ext cx="6857829" cy="44577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RESPONSABLE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Toutes les clés sont publiées</a:t>
            </a:r>
            <a:endParaRPr lang="en-US" sz="2800" dirty="0"/>
          </a:p>
        </p:txBody>
      </p:sp>
      <p:sp>
        <p:nvSpPr>
          <p:cNvPr id="4" name="Text 2"/>
          <p:cNvSpPr/>
          <p:nvPr/>
        </p:nvSpPr>
        <p:spPr>
          <a:xfrm>
            <a:off x="812780" y="1397000"/>
            <a:ext cx="10566136" cy="15875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Le tableau des détenteurs : l’état de chaque part et son empreinte.</a:t>
            </a:r>
            <a:endParaRPr lang="en-US" sz="1300" dirty="0"/>
          </a:p>
        </p:txBody>
      </p:sp>
      <p:sp>
        <p:nvSpPr>
          <p:cNvPr id="5" name="Shape 3"/>
          <p:cNvSpPr/>
          <p:nvPr/>
        </p:nvSpPr>
        <p:spPr>
          <a:xfrm>
            <a:off x="872936" y="3060700"/>
            <a:ext cx="10445823" cy="3086100"/>
          </a:xfrm>
          <a:prstGeom prst="rect">
            <a:avLst/>
          </a:prstGeom>
          <a:solidFill>
            <a:srgbClr val="D5DCE4"/>
          </a:solidFill>
          <a:ln w="12700">
            <a:solidFill>
              <a:srgbClr val="D5DCE4"/>
            </a:solidFill>
            <a:prstDash val="solid"/>
          </a:ln>
        </p:spPr>
      </p:sp>
      <p:pic>
        <p:nvPicPr>
          <p:cNvPr id="6" name="Image 0" descr="Toutes les clés sont publiées">    </p:cNvPr>
          <p:cNvPicPr>
            <a:picLocks noChangeAspect="1"/>
          </p:cNvPicPr>
          <p:nvPr/>
        </p:nvPicPr>
        <p:blipFill>
          <a:blip r:embed="rId1"/>
          <a:stretch>
            <a:fillRect/>
          </a:stretch>
        </p:blipFill>
        <p:spPr>
          <a:xfrm>
            <a:off x="949134" y="3136900"/>
            <a:ext cx="10293427" cy="29337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RESPONSABLE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La cérémonie est close</a:t>
            </a:r>
            <a:endParaRPr lang="en-US" sz="2800" dirty="0"/>
          </a:p>
        </p:txBody>
      </p:sp>
      <p:sp>
        <p:nvSpPr>
          <p:cNvPr id="4" name="Text 2"/>
          <p:cNvSpPr/>
          <p:nvPr/>
        </p:nvSpPr>
        <p:spPr>
          <a:xfrm>
            <a:off x="812780" y="1397000"/>
            <a:ext cx="10566136" cy="15875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Les </a:t>
            </a:r>
            <a:pPr indent="0" marL="0">
              <a:buNone/>
            </a:pPr>
            <a:r>
              <a:rPr lang="en-US" sz="1300" b="1" dirty="0">
                <a:solidFill>
                  <a:srgbClr val="1B2A3A"/>
                </a:solidFill>
                <a:latin typeface="Segoe UI" pitchFamily="34" charset="0"/>
                <a:ea typeface="Segoe UI" pitchFamily="34" charset="-122"/>
                <a:cs typeface="Segoe UI" pitchFamily="34" charset="-120"/>
              </a:rPr>
              <a:t>clés publiques</a:t>
            </a:r>
            <a:pPr indent="0" marL="0">
              <a:buNone/>
            </a:pPr>
            <a:r>
              <a:rPr lang="en-US" sz="1300" dirty="0">
                <a:solidFill>
                  <a:srgbClr val="465568"/>
                </a:solidFill>
                <a:latin typeface="Segoe UI" pitchFamily="34" charset="0"/>
                <a:ea typeface="Segoe UI" pitchFamily="34" charset="-122"/>
                <a:cs typeface="Segoe UI" pitchFamily="34" charset="-120"/>
              </a:rPr>
              <a:t> sont servies aux candidats ; avant le premier dépôt, la cérémonie peut encore être rouverte.</a:t>
            </a:r>
            <a:endParaRPr lang="en-US" sz="1300" dirty="0"/>
          </a:p>
        </p:txBody>
      </p:sp>
      <p:sp>
        <p:nvSpPr>
          <p:cNvPr id="5" name="Shape 3"/>
          <p:cNvSpPr/>
          <p:nvPr/>
        </p:nvSpPr>
        <p:spPr>
          <a:xfrm>
            <a:off x="1650418" y="3060700"/>
            <a:ext cx="8890859" cy="3086100"/>
          </a:xfrm>
          <a:prstGeom prst="rect">
            <a:avLst/>
          </a:prstGeom>
          <a:solidFill>
            <a:srgbClr val="D5DCE4"/>
          </a:solidFill>
          <a:ln w="12700">
            <a:solidFill>
              <a:srgbClr val="D5DCE4"/>
            </a:solidFill>
            <a:prstDash val="solid"/>
          </a:ln>
        </p:spPr>
      </p:sp>
      <p:pic>
        <p:nvPicPr>
          <p:cNvPr id="6" name="Image 0" descr="La cérémonie est close">    </p:cNvPr>
          <p:cNvPicPr>
            <a:picLocks noChangeAspect="1"/>
          </p:cNvPicPr>
          <p:nvPr/>
        </p:nvPicPr>
        <p:blipFill>
          <a:blip r:embed="rId1"/>
          <a:stretch>
            <a:fillRect/>
          </a:stretch>
        </p:blipFill>
        <p:spPr>
          <a:xfrm>
            <a:off x="1726616" y="3136900"/>
            <a:ext cx="8738462" cy="29337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L’avis spécifique, imprimé</a:t>
            </a:r>
            <a:endParaRPr lang="en-US" sz="2800" dirty="0"/>
          </a:p>
        </p:txBody>
      </p:sp>
      <p:sp>
        <p:nvSpPr>
          <p:cNvPr id="4" name="Text 2"/>
          <p:cNvSpPr/>
          <p:nvPr/>
        </p:nvSpPr>
        <p:spPr>
          <a:xfrm>
            <a:off x="812780" y="1397000"/>
            <a:ext cx="10566136" cy="15875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Après le PV favorable du DAO, l’avis s’imprime depuis la fiche ; la procédure paraît alors aux candidats.</a:t>
            </a:r>
            <a:endParaRPr lang="en-US" sz="1300" dirty="0"/>
          </a:p>
        </p:txBody>
      </p:sp>
      <p:sp>
        <p:nvSpPr>
          <p:cNvPr id="5" name="Shape 3"/>
          <p:cNvSpPr/>
          <p:nvPr/>
        </p:nvSpPr>
        <p:spPr>
          <a:xfrm>
            <a:off x="825479" y="3086795"/>
            <a:ext cx="10540736" cy="3033909"/>
          </a:xfrm>
          <a:prstGeom prst="rect">
            <a:avLst/>
          </a:prstGeom>
          <a:solidFill>
            <a:srgbClr val="D5DCE4"/>
          </a:solidFill>
          <a:ln w="12700">
            <a:solidFill>
              <a:srgbClr val="D5DCE4"/>
            </a:solidFill>
            <a:prstDash val="solid"/>
          </a:ln>
        </p:spPr>
      </p:sp>
      <p:pic>
        <p:nvPicPr>
          <p:cNvPr id="6" name="Image 0" descr="L’avis spécifique, imprimé">    </p:cNvPr>
          <p:cNvPicPr>
            <a:picLocks noChangeAspect="1"/>
          </p:cNvPicPr>
          <p:nvPr/>
        </p:nvPicPr>
        <p:blipFill>
          <a:blip r:embed="rId1"/>
          <a:stretch>
            <a:fillRect/>
          </a:stretch>
        </p:blipFill>
        <p:spPr>
          <a:xfrm>
            <a:off x="901677" y="3162995"/>
            <a:ext cx="10388340" cy="2881509"/>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324A"/>
        </a:solidFill>
      </p:bgPr>
    </p:bg>
    <p:spTree>
      <p:nvGrpSpPr>
        <p:cNvPr id="1" name=""/>
        <p:cNvGrpSpPr/>
        <p:nvPr/>
      </p:nvGrpSpPr>
      <p:grpSpPr>
        <a:xfrm>
          <a:off x="0" y="0"/>
          <a:ext cx="0" cy="0"/>
          <a:chOff x="0" y="0"/>
          <a:chExt cx="0" cy="0"/>
        </a:xfrm>
      </p:grpSpPr>
      <p:sp>
        <p:nvSpPr>
          <p:cNvPr id="2" name="Text 0"/>
          <p:cNvSpPr/>
          <p:nvPr/>
        </p:nvSpPr>
        <p:spPr>
          <a:xfrm>
            <a:off x="812780" y="1397000"/>
            <a:ext cx="2539937" cy="1079500"/>
          </a:xfrm>
          <a:prstGeom prst="rect">
            <a:avLst/>
          </a:prstGeom>
          <a:noFill/>
          <a:ln/>
        </p:spPr>
        <p:txBody>
          <a:bodyPr wrap="square" rtlCol="0" anchor="ctr"/>
          <a:lstStyle/>
          <a:p>
            <a:pPr indent="0" marL="0">
              <a:buNone/>
            </a:pPr>
            <a:r>
              <a:rPr lang="en-US" sz="8000" b="1" dirty="0">
                <a:solidFill>
                  <a:srgbClr val="E3AE2E"/>
                </a:solidFill>
                <a:latin typeface="Segoe UI" pitchFamily="34" charset="0"/>
                <a:ea typeface="Segoe UI" pitchFamily="34" charset="-122"/>
                <a:cs typeface="Segoe UI" pitchFamily="34" charset="-120"/>
              </a:rPr>
              <a:t>04</a:t>
            </a:r>
            <a:endParaRPr lang="en-US" sz="8000" dirty="0"/>
          </a:p>
        </p:txBody>
      </p:sp>
      <p:sp>
        <p:nvSpPr>
          <p:cNvPr id="3" name="Text 1"/>
          <p:cNvSpPr/>
          <p:nvPr/>
        </p:nvSpPr>
        <p:spPr>
          <a:xfrm>
            <a:off x="812780" y="2667000"/>
            <a:ext cx="10159746" cy="698500"/>
          </a:xfrm>
          <a:prstGeom prst="rect">
            <a:avLst/>
          </a:prstGeom>
          <a:noFill/>
          <a:ln/>
        </p:spPr>
        <p:txBody>
          <a:bodyPr wrap="square" rtlCol="0" anchor="ctr"/>
          <a:lstStyle/>
          <a:p>
            <a:pPr indent="0" marL="0">
              <a:buNone/>
            </a:pPr>
            <a:r>
              <a:rPr lang="en-US" sz="4400" b="1" dirty="0">
                <a:solidFill>
                  <a:srgbClr val="FCFCFA"/>
                </a:solidFill>
                <a:latin typeface="Segoe UI" pitchFamily="34" charset="0"/>
                <a:ea typeface="Segoe UI" pitchFamily="34" charset="-122"/>
                <a:cs typeface="Segoe UI" pitchFamily="34" charset="-120"/>
              </a:rPr>
              <a:t>S’inscrire et déposer</a:t>
            </a:r>
            <a:endParaRPr lang="en-US" sz="4400" dirty="0"/>
          </a:p>
        </p:txBody>
      </p:sp>
      <p:sp>
        <p:nvSpPr>
          <p:cNvPr id="4" name="Text 2"/>
          <p:cNvSpPr/>
          <p:nvPr/>
        </p:nvSpPr>
        <p:spPr>
          <a:xfrm>
            <a:off x="812780" y="3556000"/>
            <a:ext cx="8254794" cy="1016000"/>
          </a:xfrm>
          <a:prstGeom prst="rect">
            <a:avLst/>
          </a:prstGeom>
          <a:noFill/>
          <a:ln/>
        </p:spPr>
        <p:txBody>
          <a:bodyPr wrap="square" rtlCol="0" anchor="t"/>
          <a:lstStyle/>
          <a:p>
            <a:pPr indent="0" marL="0">
              <a:buNone/>
            </a:pPr>
            <a:r>
              <a:rPr lang="en-US" sz="1700" dirty="0">
                <a:solidFill>
                  <a:srgbClr val="C9D6E2"/>
                </a:solidFill>
                <a:latin typeface="Segoe UI" pitchFamily="34" charset="0"/>
                <a:ea typeface="Segoe UI" pitchFamily="34" charset="-122"/>
                <a:cs typeface="Segoe UI" pitchFamily="34" charset="-120"/>
              </a:rPr>
              <a:t>Une entreprise crée son compte, déclare son entreprise, retire le dossier et dépose une offre scellée ; jusqu’à la date limite, elle peut la remplacer ou la retirer.</a:t>
            </a:r>
            <a:endParaRPr lang="en-US" sz="1700" dirty="0"/>
          </a:p>
        </p:txBody>
      </p:sp>
      <p:sp>
        <p:nvSpPr>
          <p:cNvPr id="5" name="Text 3"/>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8FA6BB"/>
                </a:solidFill>
                <a:latin typeface="Segoe UI" pitchFamily="34" charset="0"/>
                <a:ea typeface="Segoe UI" pitchFamily="34" charset="-122"/>
                <a:cs typeface="Segoe UI" pitchFamily="34" charset="-120"/>
              </a:rPr>
              <a:t>PRS 2.0 · La soumission électronique des offres · 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La page des entreprises</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Une entrée publique propre aux entreprises.</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a page des entreprises">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Les procédures ouvertes</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Sans compte : référence, objet, lots, date limite et heure de référence.</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es procédures ouvertes">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Créer un compte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Nom, adresse électronique, téléphone, mot de passe.</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Créer un compt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Confirmer avec le code reçu</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Un </a:t>
            </a:r>
            <a:pPr indent="0" marL="0">
              <a:buNone/>
            </a:pPr>
            <a:r>
              <a:rPr lang="en-US" sz="1300" b="1" dirty="0">
                <a:solidFill>
                  <a:srgbClr val="1B2A3A"/>
                </a:solidFill>
                <a:latin typeface="Segoe UI" pitchFamily="34" charset="0"/>
                <a:ea typeface="Segoe UI" pitchFamily="34" charset="-122"/>
                <a:cs typeface="Segoe UI" pitchFamily="34" charset="-120"/>
              </a:rPr>
              <a:t>code à six chiffres</a:t>
            </a:r>
            <a:pPr indent="0" marL="0">
              <a:buNone/>
            </a:pPr>
            <a:r>
              <a:rPr lang="en-US" sz="1300" dirty="0">
                <a:solidFill>
                  <a:srgbClr val="465568"/>
                </a:solidFill>
                <a:latin typeface="Segoe UI" pitchFamily="34" charset="0"/>
                <a:ea typeface="Segoe UI" pitchFamily="34" charset="-122"/>
                <a:cs typeface="Segoe UI" pitchFamily="34" charset="-120"/>
              </a:rPr>
              <a:t>, reçu par courriel, confirme le compte (la confirmation par SMS attend une passerelle).</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Confirmer avec le code reçu">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Déclarer son entreprise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Raison sociale, </a:t>
            </a:r>
            <a:pPr indent="0" marL="0">
              <a:buNone/>
            </a:pPr>
            <a:r>
              <a:rPr lang="en-US" sz="1300" b="1" dirty="0">
                <a:solidFill>
                  <a:srgbClr val="1B2A3A"/>
                </a:solidFill>
                <a:latin typeface="Segoe UI" pitchFamily="34" charset="0"/>
                <a:ea typeface="Segoe UI" pitchFamily="34" charset="-122"/>
                <a:cs typeface="Segoe UI" pitchFamily="34" charset="-120"/>
              </a:rPr>
              <a:t>NIF</a:t>
            </a:r>
            <a:pPr indent="0" marL="0">
              <a:buNone/>
            </a:pPr>
            <a:r>
              <a:rPr lang="en-US" sz="1300" dirty="0">
                <a:solidFill>
                  <a:srgbClr val="465568"/>
                </a:solidFill>
                <a:latin typeface="Segoe UI" pitchFamily="34" charset="0"/>
                <a:ea typeface="Segoe UI" pitchFamily="34" charset="-122"/>
                <a:cs typeface="Segoe UI" pitchFamily="34" charset="-120"/>
              </a:rPr>
              <a:t>, STAT, RCS, adresse, représentant : une fois pour toutes ; NIF, STAT et RCS sont uniques.</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Déclarer son entrepris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Les pièces de l’entreprise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Carte fiscale, statuts, pouvoir : vérifiés à leurs premiers octets (PDF, JPEG, PNG).</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es pièces de l’entrepris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ADMINISTRATEUR</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La vérification de l’entreprise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Il rapproche la carte fiscale du NIF déclaré, puis décide. La décision </a:t>
            </a:r>
            <a:pPr indent="0" marL="0">
              <a:buNone/>
            </a:pPr>
            <a:r>
              <a:rPr lang="en-US" sz="1300" b="1" dirty="0">
                <a:solidFill>
                  <a:srgbClr val="1B2A3A"/>
                </a:solidFill>
                <a:latin typeface="Segoe UI" pitchFamily="34" charset="0"/>
                <a:ea typeface="Segoe UI" pitchFamily="34" charset="-122"/>
                <a:cs typeface="Segoe UI" pitchFamily="34" charset="-120"/>
              </a:rPr>
              <a:t>ne bloque jamais un dépôt</a:t>
            </a:r>
            <a:pPr indent="0" marL="0">
              <a:buNone/>
            </a:pPr>
            <a:r>
              <a:rPr lang="en-US" sz="1300" dirty="0">
                <a:solidFill>
                  <a:srgbClr val="465568"/>
                </a:solidFill>
                <a:latin typeface="Segoe UI" pitchFamily="34" charset="0"/>
                <a:ea typeface="Segoe UI" pitchFamily="34" charset="-122"/>
                <a:cs typeface="Segoe UI" pitchFamily="34" charset="-120"/>
              </a:rPr>
              <a:t> : la commission la lit à l’ouverture.</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a vérification de l’entrepris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La procédure, une fois connecté</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Les documents du DAO, et « </a:t>
            </a:r>
            <a:pPr indent="0" marL="0">
              <a:buNone/>
            </a:pPr>
            <a:r>
              <a:rPr lang="en-US" sz="1300" b="1" dirty="0">
                <a:solidFill>
                  <a:srgbClr val="1B2A3A"/>
                </a:solidFill>
                <a:latin typeface="Segoe UI" pitchFamily="34" charset="0"/>
                <a:ea typeface="Segoe UI" pitchFamily="34" charset="-122"/>
                <a:cs typeface="Segoe UI" pitchFamily="34" charset="-120"/>
              </a:rPr>
              <a:t>Déposer une offre</a:t>
            </a:r>
            <a:pPr indent="0" marL="0">
              <a:buNone/>
            </a:pPr>
            <a:r>
              <a:rPr lang="en-US" sz="1300" dirty="0">
                <a:solidFill>
                  <a:srgbClr val="465568"/>
                </a:solidFill>
                <a:latin typeface="Segoe UI" pitchFamily="34" charset="0"/>
                <a:ea typeface="Segoe UI" pitchFamily="34" charset="-122"/>
                <a:cs typeface="Segoe UI" pitchFamily="34" charset="-120"/>
              </a:rPr>
              <a:t> » quand les dépôts sont ouverts.</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a procédure, une fois connecté">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Le retrait du dossier</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Chaque document retiré est inscrit au </a:t>
            </a:r>
            <a:pPr indent="0" marL="0">
              <a:buNone/>
            </a:pPr>
            <a:r>
              <a:rPr lang="en-US" sz="1300" b="1" dirty="0">
                <a:solidFill>
                  <a:srgbClr val="1B2A3A"/>
                </a:solidFill>
                <a:latin typeface="Segoe UI" pitchFamily="34" charset="0"/>
                <a:ea typeface="Segoe UI" pitchFamily="34" charset="-122"/>
                <a:cs typeface="Segoe UI" pitchFamily="34" charset="-120"/>
              </a:rPr>
              <a:t>registre</a:t>
            </a:r>
            <a:pPr indent="0" marL="0">
              <a:buNone/>
            </a:pPr>
            <a:r>
              <a:rPr lang="en-US" sz="1300" dirty="0">
                <a:solidFill>
                  <a:srgbClr val="465568"/>
                </a:solidFill>
                <a:latin typeface="Segoe UI" pitchFamily="34" charset="0"/>
                <a:ea typeface="Segoe UI" pitchFamily="34" charset="-122"/>
                <a:cs typeface="Segoe UI" pitchFamily="34" charset="-120"/>
              </a:rPr>
              <a:t> de la PRMP.</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e retrait du dossier">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Le dépôt : acte d’engagement, pièces, garantie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Les valeurs lues en séance ; chaque pièce attendue ; la garantie : son code, son </a:t>
            </a:r>
            <a:pPr indent="0" marL="0">
              <a:buNone/>
            </a:pPr>
            <a:r>
              <a:rPr lang="en-US" sz="1300" b="1" dirty="0">
                <a:solidFill>
                  <a:srgbClr val="1B2A3A"/>
                </a:solidFill>
                <a:latin typeface="Segoe UI" pitchFamily="34" charset="0"/>
                <a:ea typeface="Segoe UI" pitchFamily="34" charset="-122"/>
                <a:cs typeface="Segoe UI" pitchFamily="34" charset="-120"/>
              </a:rPr>
              <a:t>montant</a:t>
            </a:r>
            <a:pPr indent="0" marL="0">
              <a:buNone/>
            </a:pPr>
            <a:r>
              <a:rPr lang="en-US" sz="1300" dirty="0">
                <a:solidFill>
                  <a:srgbClr val="465568"/>
                </a:solidFill>
                <a:latin typeface="Segoe UI" pitchFamily="34" charset="0"/>
                <a:ea typeface="Segoe UI" pitchFamily="34" charset="-122"/>
                <a:cs typeface="Segoe UI" pitchFamily="34" charset="-120"/>
              </a:rPr>
              <a:t> et son </a:t>
            </a:r>
            <a:pPr indent="0" marL="0">
              <a:buNone/>
            </a:pPr>
            <a:r>
              <a:rPr lang="en-US" sz="1300" b="1" dirty="0">
                <a:solidFill>
                  <a:srgbClr val="1B2A3A"/>
                </a:solidFill>
                <a:latin typeface="Segoe UI" pitchFamily="34" charset="0"/>
                <a:ea typeface="Segoe UI" pitchFamily="34" charset="-122"/>
                <a:cs typeface="Segoe UI" pitchFamily="34" charset="-120"/>
              </a:rPr>
              <a:t>émetteur</a:t>
            </a:r>
            <a:pPr indent="0" marL="0">
              <a:buNone/>
            </a:pPr>
            <a:r>
              <a:rPr lang="en-US" sz="1300" dirty="0">
                <a:solidFill>
                  <a:srgbClr val="465568"/>
                </a:solidFill>
                <a:latin typeface="Segoe UI" pitchFamily="34" charset="0"/>
                <a:ea typeface="Segoe UI" pitchFamily="34" charset="-122"/>
                <a:cs typeface="Segoe UI" pitchFamily="34" charset="-120"/>
              </a:rPr>
              <a:t>.</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Ici, une garantie volontairement inférieure au minimum de la fiche.</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e dépôt : acte d’engagement, pièces, garanti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L’accusé de dépôt</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L’heure, le numéro d’arrivée, l’</a:t>
            </a:r>
            <a:pPr indent="0" marL="0">
              <a:buNone/>
            </a:pPr>
            <a:r>
              <a:rPr lang="en-US" sz="1300" b="1" dirty="0">
                <a:solidFill>
                  <a:srgbClr val="1B2A3A"/>
                </a:solidFill>
                <a:latin typeface="Segoe UI" pitchFamily="34" charset="0"/>
                <a:ea typeface="Segoe UI" pitchFamily="34" charset="-122"/>
                <a:cs typeface="Segoe UI" pitchFamily="34" charset="-120"/>
              </a:rPr>
              <a:t>empreinte</a:t>
            </a:r>
            <a:pPr indent="0" marL="0">
              <a:buNone/>
            </a:pPr>
            <a:r>
              <a:rPr lang="en-US" sz="1300" dirty="0">
                <a:solidFill>
                  <a:srgbClr val="465568"/>
                </a:solidFill>
                <a:latin typeface="Segoe UI" pitchFamily="34" charset="0"/>
                <a:ea typeface="Segoe UI" pitchFamily="34" charset="-122"/>
                <a:cs typeface="Segoe UI" pitchFamily="34" charset="-120"/>
              </a:rPr>
              <a:t> de l’offre ; scellée pour n détenteurs, k suffisent.</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accusé de dépôt">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Remplacer son offre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Avant la date limite : une nouvelle offre scellée remplace l’ancienne, qui ne sera pas ouverte.</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Remplacer son offr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Mes offres</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L’offre remplacée et la nouvelle ; l’accusé de chacune.</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Mes offres">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Retirer son offre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Un retrait se confirme ; l’offre retirée ne sera pas ouverte. L’entreprise peut déposer de nouveau avant la date limite.</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Retirer son offr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Le registre des dépôts, avant l’échéance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Avant la date limite, la PRMP ne connaît que le </a:t>
            </a:r>
            <a:pPr indent="0" marL="0">
              <a:buNone/>
            </a:pPr>
            <a:r>
              <a:rPr lang="en-US" sz="1300" b="1" dirty="0">
                <a:solidFill>
                  <a:srgbClr val="1B2A3A"/>
                </a:solidFill>
                <a:latin typeface="Segoe UI" pitchFamily="34" charset="0"/>
                <a:ea typeface="Segoe UI" pitchFamily="34" charset="-122"/>
                <a:cs typeface="Segoe UI" pitchFamily="34" charset="-120"/>
              </a:rPr>
              <a:t>nombre</a:t>
            </a:r>
            <a:pPr indent="0" marL="0">
              <a:buNone/>
            </a:pPr>
            <a:r>
              <a:rPr lang="en-US" sz="1300" dirty="0">
                <a:solidFill>
                  <a:srgbClr val="465568"/>
                </a:solidFill>
                <a:latin typeface="Segoe UI" pitchFamily="34" charset="0"/>
                <a:ea typeface="Segoe UI" pitchFamily="34" charset="-122"/>
                <a:cs typeface="Segoe UI" pitchFamily="34" charset="-120"/>
              </a:rPr>
              <a:t> d’offres.</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e registre des dépôts, avant l’échéanc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Le registre des retraits du dossier</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Qui a retiré quel document, et quand.</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e registre des retraits du dossier">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2324A"/>
        </a:solidFill>
      </p:bgPr>
    </p:bg>
    <p:spTree>
      <p:nvGrpSpPr>
        <p:cNvPr id="1" name=""/>
        <p:cNvGrpSpPr/>
        <p:nvPr/>
      </p:nvGrpSpPr>
      <p:grpSpPr>
        <a:xfrm>
          <a:off x="0" y="0"/>
          <a:ext cx="0" cy="0"/>
          <a:chOff x="0" y="0"/>
          <a:chExt cx="0" cy="0"/>
        </a:xfrm>
      </p:grpSpPr>
      <p:sp>
        <p:nvSpPr>
          <p:cNvPr id="2" name="Text 0"/>
          <p:cNvSpPr/>
          <p:nvPr/>
        </p:nvSpPr>
        <p:spPr>
          <a:xfrm>
            <a:off x="812780" y="1397000"/>
            <a:ext cx="2539937" cy="1079500"/>
          </a:xfrm>
          <a:prstGeom prst="rect">
            <a:avLst/>
          </a:prstGeom>
          <a:noFill/>
          <a:ln/>
        </p:spPr>
        <p:txBody>
          <a:bodyPr wrap="square" rtlCol="0" anchor="ctr"/>
          <a:lstStyle/>
          <a:p>
            <a:pPr indent="0" marL="0">
              <a:buNone/>
            </a:pPr>
            <a:r>
              <a:rPr lang="en-US" sz="8000" b="1" dirty="0">
                <a:solidFill>
                  <a:srgbClr val="E3AE2E"/>
                </a:solidFill>
                <a:latin typeface="Segoe UI" pitchFamily="34" charset="0"/>
                <a:ea typeface="Segoe UI" pitchFamily="34" charset="-122"/>
                <a:cs typeface="Segoe UI" pitchFamily="34" charset="-120"/>
              </a:rPr>
              <a:t>05</a:t>
            </a:r>
            <a:endParaRPr lang="en-US" sz="8000" dirty="0"/>
          </a:p>
        </p:txBody>
      </p:sp>
      <p:sp>
        <p:nvSpPr>
          <p:cNvPr id="3" name="Text 1"/>
          <p:cNvSpPr/>
          <p:nvPr/>
        </p:nvSpPr>
        <p:spPr>
          <a:xfrm>
            <a:off x="812780" y="2667000"/>
            <a:ext cx="10159746" cy="698500"/>
          </a:xfrm>
          <a:prstGeom prst="rect">
            <a:avLst/>
          </a:prstGeom>
          <a:noFill/>
          <a:ln/>
        </p:spPr>
        <p:txBody>
          <a:bodyPr wrap="square" rtlCol="0" anchor="ctr"/>
          <a:lstStyle/>
          <a:p>
            <a:pPr indent="0" marL="0">
              <a:buNone/>
            </a:pPr>
            <a:r>
              <a:rPr lang="en-US" sz="4400" b="1" dirty="0">
                <a:solidFill>
                  <a:srgbClr val="FCFCFA"/>
                </a:solidFill>
                <a:latin typeface="Segoe UI" pitchFamily="34" charset="0"/>
                <a:ea typeface="Segoe UI" pitchFamily="34" charset="-122"/>
                <a:cs typeface="Segoe UI" pitchFamily="34" charset="-120"/>
              </a:rPr>
              <a:t>Ouvrir en séance</a:t>
            </a:r>
            <a:endParaRPr lang="en-US" sz="4400" dirty="0"/>
          </a:p>
        </p:txBody>
      </p:sp>
      <p:sp>
        <p:nvSpPr>
          <p:cNvPr id="4" name="Text 2"/>
          <p:cNvSpPr/>
          <p:nvPr/>
        </p:nvSpPr>
        <p:spPr>
          <a:xfrm>
            <a:off x="812780" y="3556000"/>
            <a:ext cx="8254794" cy="1016000"/>
          </a:xfrm>
          <a:prstGeom prst="rect">
            <a:avLst/>
          </a:prstGeom>
          <a:noFill/>
          <a:ln/>
        </p:spPr>
        <p:txBody>
          <a:bodyPr wrap="square" rtlCol="0" anchor="t"/>
          <a:lstStyle/>
          <a:p>
            <a:pPr indent="0" marL="0">
              <a:buNone/>
            </a:pPr>
            <a:r>
              <a:rPr lang="en-US" sz="1700" dirty="0">
                <a:solidFill>
                  <a:srgbClr val="C9D6E2"/>
                </a:solidFill>
                <a:latin typeface="Segoe UI" pitchFamily="34" charset="0"/>
                <a:ea typeface="Segoe UI" pitchFamily="34" charset="-122"/>
                <a:cs typeface="Segoe UI" pitchFamily="34" charset="-120"/>
              </a:rPr>
              <a:t>Après la date limite, à l’heure prévue : le quorum se réunit, toutes les offres s’ouvrent ensemble, la séance les lit et signe le PV.</a:t>
            </a:r>
            <a:endParaRPr lang="en-US" sz="1700" dirty="0"/>
          </a:p>
        </p:txBody>
      </p:sp>
      <p:sp>
        <p:nvSpPr>
          <p:cNvPr id="5" name="Text 3"/>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8FA6BB"/>
                </a:solidFill>
                <a:latin typeface="Segoe UI" pitchFamily="34" charset="0"/>
                <a:ea typeface="Segoe UI" pitchFamily="34" charset="-122"/>
                <a:cs typeface="Segoe UI" pitchFamily="34" charset="-120"/>
              </a:rPr>
              <a:t>PRS 2.0 · La soumission électronique des offres · 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RESPONSABLE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Pas avant l’heure d’ouverture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La date limite est passée, mais pas l’</a:t>
            </a:r>
            <a:pPr indent="0" marL="0">
              <a:buNone/>
            </a:pPr>
            <a:r>
              <a:rPr lang="en-US" sz="1300" b="1" dirty="0">
                <a:solidFill>
                  <a:srgbClr val="1B2A3A"/>
                </a:solidFill>
                <a:latin typeface="Segoe UI" pitchFamily="34" charset="0"/>
                <a:ea typeface="Segoe UI" pitchFamily="34" charset="-122"/>
                <a:cs typeface="Segoe UI" pitchFamily="34" charset="-120"/>
              </a:rPr>
              <a:t>heure d’ouverture des plis</a:t>
            </a:r>
            <a:pPr indent="0" marL="0">
              <a:buNone/>
            </a:pPr>
            <a:r>
              <a:rPr lang="en-US" sz="1300" dirty="0">
                <a:solidFill>
                  <a:srgbClr val="465568"/>
                </a:solidFill>
                <a:latin typeface="Segoe UI" pitchFamily="34" charset="0"/>
                <a:ea typeface="Segoe UI" pitchFamily="34" charset="-122"/>
                <a:cs typeface="Segoe UI" pitchFamily="34" charset="-120"/>
              </a:rPr>
              <a:t> : le serveur refuse, en le disant.</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Pas avant l’heure d’ouvertur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RESPONSABLE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L’ouverture et les présences</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Le responsable ouvre, coche les membres présents, ajoute les autres présents.</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ouverture et les présences">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MEMBRE DE LA CAO</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Apporter ses parts</a:t>
            </a:r>
            <a:endParaRPr lang="en-US" sz="2800" dirty="0"/>
          </a:p>
        </p:txBody>
      </p:sp>
      <p:sp>
        <p:nvSpPr>
          <p:cNvPr id="4" name="Text 2"/>
          <p:cNvSpPr/>
          <p:nvPr/>
        </p:nvSpPr>
        <p:spPr>
          <a:xfrm>
            <a:off x="812780" y="1397000"/>
            <a:ext cx="10566136" cy="15875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Sa phrase déverrouille sa clé </a:t>
            </a:r>
            <a:pPr indent="0" marL="0">
              <a:buNone/>
            </a:pPr>
            <a:r>
              <a:rPr lang="en-US" sz="1300" b="1" dirty="0">
                <a:solidFill>
                  <a:srgbClr val="1B2A3A"/>
                </a:solidFill>
                <a:latin typeface="Segoe UI" pitchFamily="34" charset="0"/>
                <a:ea typeface="Segoe UI" pitchFamily="34" charset="-122"/>
                <a:cs typeface="Segoe UI" pitchFamily="34" charset="-120"/>
              </a:rPr>
              <a:t>sur son poste</a:t>
            </a:r>
            <a:pPr indent="0" marL="0">
              <a:buNone/>
            </a:pPr>
            <a:r>
              <a:rPr lang="en-US" sz="1300" dirty="0">
                <a:solidFill>
                  <a:srgbClr val="465568"/>
                </a:solidFill>
                <a:latin typeface="Segoe UI" pitchFamily="34" charset="0"/>
                <a:ea typeface="Segoe UI" pitchFamily="34" charset="-122"/>
                <a:cs typeface="Segoe UI" pitchFamily="34" charset="-120"/>
              </a:rPr>
              <a:t>, qui déchiffre sa part de chaque offre ; seules ces parts partent.</a:t>
            </a:r>
            <a:endParaRPr lang="en-US" sz="1300" dirty="0"/>
          </a:p>
        </p:txBody>
      </p:sp>
      <p:sp>
        <p:nvSpPr>
          <p:cNvPr id="5" name="Shape 3"/>
          <p:cNvSpPr/>
          <p:nvPr/>
        </p:nvSpPr>
        <p:spPr>
          <a:xfrm>
            <a:off x="825479" y="3558066"/>
            <a:ext cx="10540736" cy="2091368"/>
          </a:xfrm>
          <a:prstGeom prst="rect">
            <a:avLst/>
          </a:prstGeom>
          <a:solidFill>
            <a:srgbClr val="D5DCE4"/>
          </a:solidFill>
          <a:ln w="12700">
            <a:solidFill>
              <a:srgbClr val="D5DCE4"/>
            </a:solidFill>
            <a:prstDash val="solid"/>
          </a:ln>
        </p:spPr>
      </p:sp>
      <p:pic>
        <p:nvPicPr>
          <p:cNvPr id="6" name="Image 0" descr="Apporter ses parts">    </p:cNvPr>
          <p:cNvPicPr>
            <a:picLocks noChangeAspect="1"/>
          </p:cNvPicPr>
          <p:nvPr/>
        </p:nvPicPr>
        <p:blipFill>
          <a:blip r:embed="rId1"/>
          <a:stretch>
            <a:fillRect/>
          </a:stretch>
        </p:blipFill>
        <p:spPr>
          <a:xfrm>
            <a:off x="901677" y="3634266"/>
            <a:ext cx="10388340" cy="1938968"/>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MEMBRE DE LA CAO</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Un membre manque</a:t>
            </a:r>
            <a:endParaRPr lang="en-US" sz="2800" dirty="0"/>
          </a:p>
        </p:txBody>
      </p:sp>
      <p:sp>
        <p:nvSpPr>
          <p:cNvPr id="4" name="Text 2"/>
          <p:cNvSpPr/>
          <p:nvPr/>
        </p:nvSpPr>
        <p:spPr>
          <a:xfrm>
            <a:off x="812780" y="1397000"/>
            <a:ext cx="10566136" cy="15875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Quorum 1 / 2 : le second membre est empêché. Les offres restent fermées.</a:t>
            </a:r>
            <a:endParaRPr lang="en-US" sz="1300" dirty="0"/>
          </a:p>
        </p:txBody>
      </p:sp>
      <p:sp>
        <p:nvSpPr>
          <p:cNvPr id="5" name="Shape 3"/>
          <p:cNvSpPr/>
          <p:nvPr/>
        </p:nvSpPr>
        <p:spPr>
          <a:xfrm>
            <a:off x="825479" y="4016125"/>
            <a:ext cx="10540736" cy="1175250"/>
          </a:xfrm>
          <a:prstGeom prst="rect">
            <a:avLst/>
          </a:prstGeom>
          <a:solidFill>
            <a:srgbClr val="D5DCE4"/>
          </a:solidFill>
          <a:ln w="12700">
            <a:solidFill>
              <a:srgbClr val="D5DCE4"/>
            </a:solidFill>
            <a:prstDash val="solid"/>
          </a:ln>
        </p:spPr>
      </p:sp>
      <p:pic>
        <p:nvPicPr>
          <p:cNvPr id="6" name="Image 0" descr="Un membre manque">    </p:cNvPr>
          <p:cNvPicPr>
            <a:picLocks noChangeAspect="1"/>
          </p:cNvPicPr>
          <p:nvPr/>
        </p:nvPicPr>
        <p:blipFill>
          <a:blip r:embed="rId1"/>
          <a:stretch>
            <a:fillRect/>
          </a:stretch>
        </p:blipFill>
        <p:spPr>
          <a:xfrm>
            <a:off x="901677" y="4092325"/>
            <a:ext cx="10388340" cy="102285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RESPONSABLE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Demander la part de secours</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Le responsable demande la part de secours, avec un </a:t>
            </a:r>
            <a:pPr indent="0" marL="0">
              <a:buNone/>
            </a:pPr>
            <a:r>
              <a:rPr lang="en-US" sz="1300" b="1" dirty="0">
                <a:solidFill>
                  <a:srgbClr val="1B2A3A"/>
                </a:solidFill>
                <a:latin typeface="Segoe UI" pitchFamily="34" charset="0"/>
                <a:ea typeface="Segoe UI" pitchFamily="34" charset="-122"/>
                <a:cs typeface="Segoe UI" pitchFamily="34" charset="-120"/>
              </a:rPr>
              <a:t>motif</a:t>
            </a:r>
            <a:pPr indent="0" marL="0">
              <a:buNone/>
            </a:pPr>
            <a:r>
              <a:rPr lang="en-US" sz="1300" dirty="0">
                <a:solidFill>
                  <a:srgbClr val="465568"/>
                </a:solidFill>
                <a:latin typeface="Segoe UI" pitchFamily="34" charset="0"/>
                <a:ea typeface="Segoe UI" pitchFamily="34" charset="-122"/>
                <a:cs typeface="Segoe UI" pitchFamily="34" charset="-120"/>
              </a:rPr>
              <a:t> qui sera porté au PV.</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Demander la part de secours">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RESPONSABLE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La demande est faite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Le dépositaire est prévenu par courriel ; l’écran dit « En attente du dépositaire ».</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a demande est fait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DÉPOSITAIRE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La demande lui parvient</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 La séance demande votre part » : il l’apporte depuis son espace, en salle ou à distance.</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a demande lui parvient">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DÉPOSITAIRE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Il apporte la part de secours</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La phrase de son pli déverrouille sa clé </a:t>
            </a:r>
            <a:pPr indent="0" marL="0">
              <a:buNone/>
            </a:pPr>
            <a:r>
              <a:rPr lang="en-US" sz="1300" b="1" dirty="0">
                <a:solidFill>
                  <a:srgbClr val="1B2A3A"/>
                </a:solidFill>
                <a:latin typeface="Segoe UI" pitchFamily="34" charset="0"/>
                <a:ea typeface="Segoe UI" pitchFamily="34" charset="-122"/>
                <a:cs typeface="Segoe UI" pitchFamily="34" charset="-120"/>
              </a:rPr>
              <a:t>sur son poste</a:t>
            </a:r>
            <a:pPr indent="0" marL="0">
              <a:buNone/>
            </a:pPr>
            <a:r>
              <a:rPr lang="en-US" sz="1300" dirty="0">
                <a:solidFill>
                  <a:srgbClr val="465568"/>
                </a:solidFill>
                <a:latin typeface="Segoe UI" pitchFamily="34" charset="0"/>
                <a:ea typeface="Segoe UI" pitchFamily="34" charset="-122"/>
                <a:cs typeface="Segoe UI" pitchFamily="34" charset="-120"/>
              </a:rPr>
              <a:t> ; elle ne le quitte jamais.</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Il apporte la part de secours">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DÉPOSITAIRE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La part de secours est apportée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Le quorum est atteint : les offres s’ouvrent.</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a part de secours est apporté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RESPONSABLE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Toutes les offres s’ouvrent ensemble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Chaque offre : empreinte vérifiée, déchiffrée, comparée aux pièces attendues ; les offres remplacées et retirées restent fermées.</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Toutes les offres s’ouvrent ensembl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RESPONSABLE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La lecture des offres</a:t>
            </a:r>
            <a:endParaRPr lang="en-US" sz="2800" dirty="0"/>
          </a:p>
        </p:txBody>
      </p:sp>
      <p:sp>
        <p:nvSpPr>
          <p:cNvPr id="4" name="Text 2"/>
          <p:cNvSpPr/>
          <p:nvPr/>
        </p:nvSpPr>
        <p:spPr>
          <a:xfrm>
            <a:off x="812780" y="1397000"/>
            <a:ext cx="10566136" cy="15875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Soumissionnaire, NIF et sa vérification, montants, délai, validité, rabais, </a:t>
            </a:r>
            <a:pPr indent="0" marL="0">
              <a:buNone/>
            </a:pPr>
            <a:r>
              <a:rPr lang="en-US" sz="1300" b="1" dirty="0">
                <a:solidFill>
                  <a:srgbClr val="1B2A3A"/>
                </a:solidFill>
                <a:latin typeface="Segoe UI" pitchFamily="34" charset="0"/>
                <a:ea typeface="Segoe UI" pitchFamily="34" charset="-122"/>
                <a:cs typeface="Segoe UI" pitchFamily="34" charset="-120"/>
              </a:rPr>
              <a:t>garantie (montant, émetteur)</a:t>
            </a:r>
            <a:pPr indent="0" marL="0">
              <a:buNone/>
            </a:pPr>
            <a:r>
              <a:rPr lang="en-US" sz="1300" dirty="0">
                <a:solidFill>
                  <a:srgbClr val="465568"/>
                </a:solidFill>
                <a:latin typeface="Segoe UI" pitchFamily="34" charset="0"/>
                <a:ea typeface="Segoe UI" pitchFamily="34" charset="-122"/>
                <a:cs typeface="Segoe UI" pitchFamily="34" charset="-120"/>
              </a:rPr>
              <a:t>, pièces manquantes.</a:t>
            </a:r>
            <a:endParaRPr lang="en-US" sz="1300" dirty="0"/>
          </a:p>
          <a:p>
            <a:pPr marL="342900" indent="-342900">
              <a:spcBef>
                <a:spcPts val="800"/>
              </a:spcBef>
              <a:buSzPct val="100000"/>
              <a:buChar char="•"/>
            </a:pPr>
            <a:r>
              <a:rPr lang="en-US" sz="1300" dirty="0">
                <a:solidFill>
                  <a:srgbClr val="465568"/>
                </a:solidFill>
                <a:latin typeface="Segoe UI" pitchFamily="34" charset="0"/>
                <a:ea typeface="Segoe UI" pitchFamily="34" charset="-122"/>
                <a:cs typeface="Segoe UI" pitchFamily="34" charset="-120"/>
              </a:rPr>
              <a:t>Les </a:t>
            </a:r>
            <a:pPr indent="0" marL="0">
              <a:buNone/>
            </a:pPr>
            <a:r>
              <a:rPr lang="en-US" sz="1300" b="1" dirty="0">
                <a:solidFill>
                  <a:srgbClr val="1B2A3A"/>
                </a:solidFill>
                <a:latin typeface="Segoe UI" pitchFamily="34" charset="0"/>
                <a:ea typeface="Segoe UI" pitchFamily="34" charset="-122"/>
                <a:cs typeface="Segoe UI" pitchFamily="34" charset="-120"/>
              </a:rPr>
              <a:t>alertes</a:t>
            </a:r>
            <a:pPr indent="0" marL="0">
              <a:buNone/>
            </a:pPr>
            <a:r>
              <a:rPr lang="en-US" sz="1300" dirty="0">
                <a:solidFill>
                  <a:srgbClr val="465568"/>
                </a:solidFill>
                <a:latin typeface="Segoe UI" pitchFamily="34" charset="0"/>
                <a:ea typeface="Segoe UI" pitchFamily="34" charset="-122"/>
                <a:cs typeface="Segoe UI" pitchFamily="34" charset="-120"/>
              </a:rPr>
              <a:t> : garantie inférieure au minimum de la fiche, rapprochements entre déposants, exclusion.</a:t>
            </a:r>
            <a:endParaRPr lang="en-US" sz="1300" dirty="0"/>
          </a:p>
        </p:txBody>
      </p:sp>
      <p:sp>
        <p:nvSpPr>
          <p:cNvPr id="5" name="Shape 3"/>
          <p:cNvSpPr/>
          <p:nvPr/>
        </p:nvSpPr>
        <p:spPr>
          <a:xfrm>
            <a:off x="2396308" y="3060700"/>
            <a:ext cx="7399078" cy="3086100"/>
          </a:xfrm>
          <a:prstGeom prst="rect">
            <a:avLst/>
          </a:prstGeom>
          <a:solidFill>
            <a:srgbClr val="D5DCE4"/>
          </a:solidFill>
          <a:ln w="12700">
            <a:solidFill>
              <a:srgbClr val="D5DCE4"/>
            </a:solidFill>
            <a:prstDash val="solid"/>
          </a:ln>
        </p:spPr>
      </p:sp>
      <p:pic>
        <p:nvPicPr>
          <p:cNvPr id="6" name="Image 0" descr="La lecture des offres">    </p:cNvPr>
          <p:cNvPicPr>
            <a:picLocks noChangeAspect="1"/>
          </p:cNvPicPr>
          <p:nvPr/>
        </p:nvPicPr>
        <p:blipFill>
          <a:blip r:embed="rId1"/>
          <a:stretch>
            <a:fillRect/>
          </a:stretch>
        </p:blipFill>
        <p:spPr>
          <a:xfrm>
            <a:off x="2472507" y="3136900"/>
            <a:ext cx="7246682" cy="29337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RESPONSABLE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La lecture, projetée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En grand, pour la salle.</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a lecture, projeté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MEMBRE DE LA CAO</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Les pièces, pour la commission seule</a:t>
            </a:r>
            <a:endParaRPr lang="en-US" sz="2800" dirty="0"/>
          </a:p>
        </p:txBody>
      </p:sp>
      <p:sp>
        <p:nvSpPr>
          <p:cNvPr id="4" name="Text 2"/>
          <p:cNvSpPr/>
          <p:nvPr/>
        </p:nvSpPr>
        <p:spPr>
          <a:xfrm>
            <a:off x="812780" y="1397000"/>
            <a:ext cx="10566136" cy="15875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Seuls les </a:t>
            </a:r>
            <a:pPr indent="0" marL="0">
              <a:buNone/>
            </a:pPr>
            <a:r>
              <a:rPr lang="en-US" sz="1300" b="1" dirty="0">
                <a:solidFill>
                  <a:srgbClr val="1B2A3A"/>
                </a:solidFill>
                <a:latin typeface="Segoe UI" pitchFamily="34" charset="0"/>
                <a:ea typeface="Segoe UI" pitchFamily="34" charset="-122"/>
                <a:cs typeface="Segoe UI" pitchFamily="34" charset="-120"/>
              </a:rPr>
              <a:t>membres de la commission</a:t>
            </a:r>
            <a:pPr indent="0" marL="0">
              <a:buNone/>
            </a:pPr>
            <a:r>
              <a:rPr lang="en-US" sz="1300" dirty="0">
                <a:solidFill>
                  <a:srgbClr val="465568"/>
                </a:solidFill>
                <a:latin typeface="Segoe UI" pitchFamily="34" charset="0"/>
                <a:ea typeface="Segoe UI" pitchFamily="34" charset="-122"/>
                <a:cs typeface="Segoe UI" pitchFamily="34" charset="-120"/>
              </a:rPr>
              <a:t> ouvrent les pièces des offres.</a:t>
            </a:r>
            <a:endParaRPr lang="en-US" sz="1300" dirty="0"/>
          </a:p>
        </p:txBody>
      </p:sp>
      <p:sp>
        <p:nvSpPr>
          <p:cNvPr id="5" name="Shape 3"/>
          <p:cNvSpPr/>
          <p:nvPr/>
        </p:nvSpPr>
        <p:spPr>
          <a:xfrm>
            <a:off x="3043964" y="3060700"/>
            <a:ext cx="6103768" cy="3086100"/>
          </a:xfrm>
          <a:prstGeom prst="rect">
            <a:avLst/>
          </a:prstGeom>
          <a:solidFill>
            <a:srgbClr val="D5DCE4"/>
          </a:solidFill>
          <a:ln w="12700">
            <a:solidFill>
              <a:srgbClr val="D5DCE4"/>
            </a:solidFill>
            <a:prstDash val="solid"/>
          </a:ln>
        </p:spPr>
      </p:sp>
      <p:pic>
        <p:nvPicPr>
          <p:cNvPr id="6" name="Image 0" descr="Les pièces, pour la commission seule">    </p:cNvPr>
          <p:cNvPicPr>
            <a:picLocks noChangeAspect="1"/>
          </p:cNvPicPr>
          <p:nvPr/>
        </p:nvPicPr>
        <p:blipFill>
          <a:blip r:embed="rId1"/>
          <a:stretch>
            <a:fillRect/>
          </a:stretch>
        </p:blipFill>
        <p:spPr>
          <a:xfrm>
            <a:off x="3120162" y="3136900"/>
            <a:ext cx="5951372" cy="29337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56</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RESPONSABLE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Le PV d’ouverture, à signer</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Le responsable produit le PV ; il attend la signature de chaque membre présent.</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e PV d’ouverture, à signer">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PRÉSIDENT DE LA CAO</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Signer le PV en ligne</a:t>
            </a:r>
            <a:endParaRPr lang="en-US" sz="2800" dirty="0"/>
          </a:p>
        </p:txBody>
      </p:sp>
      <p:sp>
        <p:nvSpPr>
          <p:cNvPr id="4" name="Text 2"/>
          <p:cNvSpPr/>
          <p:nvPr/>
        </p:nvSpPr>
        <p:spPr>
          <a:xfrm>
            <a:off x="812780" y="1397000"/>
            <a:ext cx="10566136" cy="15875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Relire le PV (PDF), cocher, signer : la signature est horodatée, journalisée, imprimée au PV.</a:t>
            </a:r>
            <a:endParaRPr lang="en-US" sz="1300" dirty="0"/>
          </a:p>
        </p:txBody>
      </p:sp>
      <p:sp>
        <p:nvSpPr>
          <p:cNvPr id="5" name="Shape 3"/>
          <p:cNvSpPr/>
          <p:nvPr/>
        </p:nvSpPr>
        <p:spPr>
          <a:xfrm>
            <a:off x="825479" y="3807139"/>
            <a:ext cx="10540736" cy="1593222"/>
          </a:xfrm>
          <a:prstGeom prst="rect">
            <a:avLst/>
          </a:prstGeom>
          <a:solidFill>
            <a:srgbClr val="D5DCE4"/>
          </a:solidFill>
          <a:ln w="12700">
            <a:solidFill>
              <a:srgbClr val="D5DCE4"/>
            </a:solidFill>
            <a:prstDash val="solid"/>
          </a:ln>
        </p:spPr>
      </p:sp>
      <p:pic>
        <p:nvPicPr>
          <p:cNvPr id="6" name="Image 0" descr="Signer le PV en ligne">    </p:cNvPr>
          <p:cNvPicPr>
            <a:picLocks noChangeAspect="1"/>
          </p:cNvPicPr>
          <p:nvPr/>
        </p:nvPicPr>
        <p:blipFill>
          <a:blip r:embed="rId1"/>
          <a:stretch>
            <a:fillRect/>
          </a:stretch>
        </p:blipFill>
        <p:spPr>
          <a:xfrm>
            <a:off x="901677" y="3883339"/>
            <a:ext cx="10388340" cy="1440822"/>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58</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PRÉSIDENT DE LA CAO</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Constater un empêchement</a:t>
            </a:r>
            <a:endParaRPr lang="en-US" sz="2800" dirty="0"/>
          </a:p>
        </p:txBody>
      </p:sp>
      <p:sp>
        <p:nvSpPr>
          <p:cNvPr id="4" name="Text 2"/>
          <p:cNvSpPr/>
          <p:nvPr/>
        </p:nvSpPr>
        <p:spPr>
          <a:xfrm>
            <a:off x="812780" y="1397000"/>
            <a:ext cx="10566136" cy="15875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Un membre présent ne peut pas signer : le </a:t>
            </a:r>
            <a:pPr indent="0" marL="0">
              <a:buNone/>
            </a:pPr>
            <a:r>
              <a:rPr lang="en-US" sz="1300" b="1" dirty="0">
                <a:solidFill>
                  <a:srgbClr val="1B2A3A"/>
                </a:solidFill>
                <a:latin typeface="Segoe UI" pitchFamily="34" charset="0"/>
                <a:ea typeface="Segoe UI" pitchFamily="34" charset="-122"/>
                <a:cs typeface="Segoe UI" pitchFamily="34" charset="-120"/>
              </a:rPr>
              <a:t>président</a:t>
            </a:r>
            <a:pPr indent="0" marL="0">
              <a:buNone/>
            </a:pPr>
            <a:r>
              <a:rPr lang="en-US" sz="1300" dirty="0">
                <a:solidFill>
                  <a:srgbClr val="465568"/>
                </a:solidFill>
                <a:latin typeface="Segoe UI" pitchFamily="34" charset="0"/>
                <a:ea typeface="Segoe UI" pitchFamily="34" charset="-122"/>
                <a:cs typeface="Segoe UI" pitchFamily="34" charset="-120"/>
              </a:rPr>
              <a:t> le constate, avec un motif imprimé au PV.</a:t>
            </a:r>
            <a:endParaRPr lang="en-US" sz="1300" dirty="0"/>
          </a:p>
        </p:txBody>
      </p:sp>
      <p:sp>
        <p:nvSpPr>
          <p:cNvPr id="5" name="Shape 3"/>
          <p:cNvSpPr/>
          <p:nvPr/>
        </p:nvSpPr>
        <p:spPr>
          <a:xfrm>
            <a:off x="825479" y="3692424"/>
            <a:ext cx="10540736" cy="1822652"/>
          </a:xfrm>
          <a:prstGeom prst="rect">
            <a:avLst/>
          </a:prstGeom>
          <a:solidFill>
            <a:srgbClr val="D5DCE4"/>
          </a:solidFill>
          <a:ln w="12700">
            <a:solidFill>
              <a:srgbClr val="D5DCE4"/>
            </a:solidFill>
            <a:prstDash val="solid"/>
          </a:ln>
        </p:spPr>
      </p:sp>
      <p:pic>
        <p:nvPicPr>
          <p:cNvPr id="6" name="Image 0" descr="Constater un empêchement">    </p:cNvPr>
          <p:cNvPicPr>
            <a:picLocks noChangeAspect="1"/>
          </p:cNvPicPr>
          <p:nvPr/>
        </p:nvPicPr>
        <p:blipFill>
          <a:blip r:embed="rId1"/>
          <a:stretch>
            <a:fillRect/>
          </a:stretch>
        </p:blipFill>
        <p:spPr>
          <a:xfrm>
            <a:off x="901677" y="3768624"/>
            <a:ext cx="10388340" cy="1670252"/>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59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RESPONSABLE</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Le PV est signé et publié</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À la dernière signature, la séance est close ; l’</a:t>
            </a:r>
            <a:pPr indent="0" marL="0">
              <a:buNone/>
            </a:pPr>
            <a:r>
              <a:rPr lang="en-US" sz="1300" b="1" dirty="0">
                <a:solidFill>
                  <a:srgbClr val="1B2A3A"/>
                </a:solidFill>
                <a:latin typeface="Segoe UI" pitchFamily="34" charset="0"/>
                <a:ea typeface="Segoe UI" pitchFamily="34" charset="-122"/>
                <a:cs typeface="Segoe UI" pitchFamily="34" charset="-120"/>
              </a:rPr>
              <a:t>extrait du PV</a:t>
            </a:r>
            <a:pPr indent="0" marL="0">
              <a:buNone/>
            </a:pPr>
            <a:r>
              <a:rPr lang="en-US" sz="1300" dirty="0">
                <a:solidFill>
                  <a:srgbClr val="465568"/>
                </a:solidFill>
                <a:latin typeface="Segoe UI" pitchFamily="34" charset="0"/>
                <a:ea typeface="Segoe UI" pitchFamily="34" charset="-122"/>
                <a:cs typeface="Segoe UI" pitchFamily="34" charset="-120"/>
              </a:rPr>
              <a:t> (sans les alertes) est publié sur la procédure.</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e PV est signé et publié">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60</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Le PV, sur la procédure publique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Les candidats lisent l’extrait du PV d’ouverture.</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e PV, sur la procédure publiqu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61</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PRMP</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Le registre complet, après l’échéance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Entreprise, NIF, lot, heure de dépôt, état, empreinte de chaque offre.</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Le registre complet, après l’échéanc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62</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Mes offres, après la séance</a:t>
            </a:r>
            <a:endParaRPr lang="en-US" sz="2800" dirty="0"/>
          </a:p>
        </p:txBody>
      </p:sp>
      <p:sp>
        <p:nvSpPr>
          <p:cNvPr id="4" name="Text 2"/>
          <p:cNvSpPr/>
          <p:nvPr/>
        </p:nvSpPr>
        <p:spPr>
          <a:xfrm>
            <a:off x="812780" y="1524000"/>
            <a:ext cx="3174921" cy="4445000"/>
          </a:xfrm>
          <a:prstGeom prst="rect">
            <a:avLst/>
          </a:prstGeom>
          <a:noFill/>
          <a:ln/>
        </p:spPr>
        <p:txBody>
          <a:bodyPr wrap="square" rtlCol="0" anchor="t"/>
          <a:lstStyle/>
          <a:p>
            <a:pPr marL="342900" indent="-342900">
              <a:buSzPct val="100000"/>
              <a:buChar char="•"/>
            </a:pPr>
            <a:r>
              <a:rPr lang="en-US" sz="1300" dirty="0">
                <a:solidFill>
                  <a:srgbClr val="465568"/>
                </a:solidFill>
                <a:latin typeface="Segoe UI" pitchFamily="34" charset="0"/>
                <a:ea typeface="Segoe UI" pitchFamily="34" charset="-122"/>
                <a:cs typeface="Segoe UI" pitchFamily="34" charset="-120"/>
              </a:rPr>
              <a:t>L’état de chaque offre après l’ouverture.</a:t>
            </a:r>
            <a:endParaRPr lang="en-US" sz="1300" dirty="0"/>
          </a:p>
        </p:txBody>
      </p:sp>
      <p:sp>
        <p:nvSpPr>
          <p:cNvPr id="5" name="Shape 3"/>
          <p:cNvSpPr/>
          <p:nvPr/>
        </p:nvSpPr>
        <p:spPr>
          <a:xfrm>
            <a:off x="4203595" y="1511300"/>
            <a:ext cx="7162621" cy="4533900"/>
          </a:xfrm>
          <a:prstGeom prst="rect">
            <a:avLst/>
          </a:prstGeom>
          <a:solidFill>
            <a:srgbClr val="D5DCE4"/>
          </a:solidFill>
          <a:ln w="12700">
            <a:solidFill>
              <a:srgbClr val="D5DCE4"/>
            </a:solidFill>
            <a:prstDash val="solid"/>
          </a:ln>
        </p:spPr>
      </p:sp>
      <p:pic>
        <p:nvPicPr>
          <p:cNvPr id="6" name="Image 0" descr="Mes offres, après la séance">    </p:cNvPr>
          <p:cNvPicPr>
            <a:picLocks noChangeAspect="1"/>
          </p:cNvPicPr>
          <p:nvPr/>
        </p:nvPicPr>
        <p:blipFill>
          <a:blip r:embed="rId1"/>
          <a:stretch>
            <a:fillRect/>
          </a:stretch>
        </p:blipFill>
        <p:spPr>
          <a:xfrm>
            <a:off x="4279793" y="1587500"/>
            <a:ext cx="7010225" cy="4381500"/>
          </a:xfrm>
          <a:prstGeom prst="rect">
            <a:avLst/>
          </a:prstGeom>
        </p:spPr>
      </p:pic>
      <p:sp>
        <p:nvSpPr>
          <p:cNvPr id="7" name="Text 4"/>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63</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533400"/>
            <a:ext cx="10566136" cy="2286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ET SI…</a:t>
            </a:r>
            <a:endParaRPr lang="en-US" sz="1200" dirty="0"/>
          </a:p>
        </p:txBody>
      </p:sp>
      <p:sp>
        <p:nvSpPr>
          <p:cNvPr id="3" name="Text 1"/>
          <p:cNvSpPr/>
          <p:nvPr/>
        </p:nvSpPr>
        <p:spPr>
          <a:xfrm>
            <a:off x="812780" y="774700"/>
            <a:ext cx="10566136" cy="457200"/>
          </a:xfrm>
          <a:prstGeom prst="rect">
            <a:avLst/>
          </a:prstGeom>
          <a:noFill/>
          <a:ln/>
        </p:spPr>
        <p:txBody>
          <a:bodyPr wrap="square" rtlCol="0" anchor="ctr">
            <a:normAutofit/>
          </a:bodyPr>
          <a:lstStyle/>
          <a:p>
            <a:pPr indent="0" marL="0">
              <a:buNone/>
            </a:pPr>
            <a:r>
              <a:rPr lang="en-US" sz="2800" b="1" dirty="0">
                <a:solidFill>
                  <a:srgbClr val="1B2A3A"/>
                </a:solidFill>
                <a:latin typeface="Segoe UI" pitchFamily="34" charset="0"/>
                <a:ea typeface="Segoe UI" pitchFamily="34" charset="-122"/>
                <a:cs typeface="Segoe UI" pitchFamily="34" charset="-120"/>
              </a:rPr>
              <a:t>Les incidents prévus</a:t>
            </a:r>
            <a:endParaRPr lang="en-US" sz="2800" dirty="0"/>
          </a:p>
        </p:txBody>
      </p:sp>
      <p:sp>
        <p:nvSpPr>
          <p:cNvPr id="4" name="Text 2"/>
          <p:cNvSpPr/>
          <p:nvPr/>
        </p:nvSpPr>
        <p:spPr>
          <a:xfrm>
            <a:off x="812780" y="1270000"/>
            <a:ext cx="10286743" cy="508000"/>
          </a:xfrm>
          <a:prstGeom prst="rect">
            <a:avLst/>
          </a:prstGeom>
          <a:noFill/>
          <a:ln/>
        </p:spPr>
        <p:txBody>
          <a:bodyPr wrap="square" rtlCol="0" anchor="t"/>
          <a:lstStyle/>
          <a:p>
            <a:pPr indent="0" marL="0">
              <a:buNone/>
            </a:pPr>
            <a:r>
              <a:rPr lang="en-US" sz="1400" dirty="0">
                <a:solidFill>
                  <a:srgbClr val="465568"/>
                </a:solidFill>
                <a:latin typeface="Segoe UI" pitchFamily="34" charset="0"/>
                <a:ea typeface="Segoe UI" pitchFamily="34" charset="-122"/>
                <a:cs typeface="Segoe UI" pitchFamily="34" charset="-120"/>
              </a:rPr>
              <a:t>Chaque cas a sa réponse dans l’application ; aucune ne donne à une personne seule le pouvoir d’ouvrir les offres.</a:t>
            </a:r>
            <a:endParaRPr lang="en-US" sz="1400" dirty="0"/>
          </a:p>
        </p:txBody>
      </p:sp>
      <p:sp>
        <p:nvSpPr>
          <p:cNvPr id="5" name="Shape 3"/>
          <p:cNvSpPr/>
          <p:nvPr/>
        </p:nvSpPr>
        <p:spPr>
          <a:xfrm>
            <a:off x="812780" y="1905000"/>
            <a:ext cx="5194170" cy="1905000"/>
          </a:xfrm>
          <a:prstGeom prst="rect">
            <a:avLst/>
          </a:prstGeom>
          <a:solidFill>
            <a:srgbClr val="FCFCFA"/>
          </a:solidFill>
          <a:ln w="9525">
            <a:solidFill>
              <a:srgbClr val="D5DCE4"/>
            </a:solidFill>
            <a:prstDash val="solid"/>
          </a:ln>
        </p:spPr>
      </p:sp>
      <p:sp>
        <p:nvSpPr>
          <p:cNvPr id="6" name="Shape 4"/>
          <p:cNvSpPr/>
          <p:nvPr/>
        </p:nvSpPr>
        <p:spPr>
          <a:xfrm>
            <a:off x="812780" y="1905000"/>
            <a:ext cx="5194170" cy="38100"/>
          </a:xfrm>
          <a:prstGeom prst="rect">
            <a:avLst/>
          </a:prstGeom>
          <a:solidFill>
            <a:srgbClr val="E3AE2E"/>
          </a:solidFill>
          <a:ln/>
        </p:spPr>
      </p:sp>
      <p:sp>
        <p:nvSpPr>
          <p:cNvPr id="7" name="Text 5"/>
          <p:cNvSpPr/>
          <p:nvPr/>
        </p:nvSpPr>
        <p:spPr>
          <a:xfrm>
            <a:off x="965176" y="2019300"/>
            <a:ext cx="4889378" cy="469900"/>
          </a:xfrm>
          <a:prstGeom prst="rect">
            <a:avLst/>
          </a:prstGeom>
          <a:noFill/>
          <a:ln/>
        </p:spPr>
        <p:txBody>
          <a:bodyPr wrap="square" rtlCol="0" anchor="t">
            <a:normAutofit/>
          </a:bodyPr>
          <a:lstStyle/>
          <a:p>
            <a:pPr indent="0" marL="0">
              <a:buNone/>
            </a:pPr>
            <a:r>
              <a:rPr lang="en-US" sz="1600" b="1" dirty="0">
                <a:solidFill>
                  <a:srgbClr val="1B2A3A"/>
                </a:solidFill>
                <a:latin typeface="Segoe UI" pitchFamily="34" charset="0"/>
                <a:ea typeface="Segoe UI" pitchFamily="34" charset="-122"/>
                <a:cs typeface="Segoe UI" pitchFamily="34" charset="-120"/>
              </a:rPr>
              <a:t>Une phrase oubliée avant la séance</a:t>
            </a:r>
            <a:endParaRPr lang="en-US" sz="1600" dirty="0"/>
          </a:p>
        </p:txBody>
      </p:sp>
      <p:sp>
        <p:nvSpPr>
          <p:cNvPr id="8" name="Text 6"/>
          <p:cNvSpPr/>
          <p:nvPr/>
        </p:nvSpPr>
        <p:spPr>
          <a:xfrm>
            <a:off x="965176" y="2514600"/>
            <a:ext cx="4889378" cy="12192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Le détenteur déclare sa part perdue et génère une nouvelle clé ; les offres déjà déposées restent couvertes par le quorum et la part de secours.</a:t>
            </a:r>
            <a:endParaRPr lang="en-US" sz="1300" dirty="0"/>
          </a:p>
        </p:txBody>
      </p:sp>
      <p:sp>
        <p:nvSpPr>
          <p:cNvPr id="9" name="Shape 7"/>
          <p:cNvSpPr/>
          <p:nvPr/>
        </p:nvSpPr>
        <p:spPr>
          <a:xfrm>
            <a:off x="6184745" y="1905000"/>
            <a:ext cx="5194170" cy="1905000"/>
          </a:xfrm>
          <a:prstGeom prst="rect">
            <a:avLst/>
          </a:prstGeom>
          <a:solidFill>
            <a:srgbClr val="FCFCFA"/>
          </a:solidFill>
          <a:ln w="9525">
            <a:solidFill>
              <a:srgbClr val="D5DCE4"/>
            </a:solidFill>
            <a:prstDash val="solid"/>
          </a:ln>
        </p:spPr>
      </p:sp>
      <p:sp>
        <p:nvSpPr>
          <p:cNvPr id="10" name="Shape 8"/>
          <p:cNvSpPr/>
          <p:nvPr/>
        </p:nvSpPr>
        <p:spPr>
          <a:xfrm>
            <a:off x="6184745" y="1905000"/>
            <a:ext cx="5194170" cy="38100"/>
          </a:xfrm>
          <a:prstGeom prst="rect">
            <a:avLst/>
          </a:prstGeom>
          <a:solidFill>
            <a:srgbClr val="E3AE2E"/>
          </a:solidFill>
          <a:ln/>
        </p:spPr>
      </p:sp>
      <p:sp>
        <p:nvSpPr>
          <p:cNvPr id="11" name="Text 9"/>
          <p:cNvSpPr/>
          <p:nvPr/>
        </p:nvSpPr>
        <p:spPr>
          <a:xfrm>
            <a:off x="6337142" y="2019300"/>
            <a:ext cx="4889378" cy="469900"/>
          </a:xfrm>
          <a:prstGeom prst="rect">
            <a:avLst/>
          </a:prstGeom>
          <a:noFill/>
          <a:ln/>
        </p:spPr>
        <p:txBody>
          <a:bodyPr wrap="square" rtlCol="0" anchor="t">
            <a:normAutofit/>
          </a:bodyPr>
          <a:lstStyle/>
          <a:p>
            <a:pPr indent="0" marL="0">
              <a:buNone/>
            </a:pPr>
            <a:r>
              <a:rPr lang="en-US" sz="1600" b="1" dirty="0">
                <a:solidFill>
                  <a:srgbClr val="1B2A3A"/>
                </a:solidFill>
                <a:latin typeface="Segoe UI" pitchFamily="34" charset="0"/>
                <a:ea typeface="Segoe UI" pitchFamily="34" charset="-122"/>
                <a:cs typeface="Segoe UI" pitchFamily="34" charset="-120"/>
              </a:rPr>
              <a:t>Un membre absent en séance</a:t>
            </a:r>
            <a:endParaRPr lang="en-US" sz="1600" dirty="0"/>
          </a:p>
        </p:txBody>
      </p:sp>
      <p:sp>
        <p:nvSpPr>
          <p:cNvPr id="12" name="Text 10"/>
          <p:cNvSpPr/>
          <p:nvPr/>
        </p:nvSpPr>
        <p:spPr>
          <a:xfrm>
            <a:off x="6337142" y="2514600"/>
            <a:ext cx="4889378" cy="12192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Le responsable demande la part de secours, avec un motif ; le dépositaire l’apporte depuis son espace.</a:t>
            </a:r>
            <a:endParaRPr lang="en-US" sz="1300" dirty="0"/>
          </a:p>
        </p:txBody>
      </p:sp>
      <p:sp>
        <p:nvSpPr>
          <p:cNvPr id="13" name="Shape 11"/>
          <p:cNvSpPr/>
          <p:nvPr/>
        </p:nvSpPr>
        <p:spPr>
          <a:xfrm>
            <a:off x="812780" y="3987800"/>
            <a:ext cx="5194170" cy="1905000"/>
          </a:xfrm>
          <a:prstGeom prst="rect">
            <a:avLst/>
          </a:prstGeom>
          <a:solidFill>
            <a:srgbClr val="FCFCFA"/>
          </a:solidFill>
          <a:ln w="9525">
            <a:solidFill>
              <a:srgbClr val="D5DCE4"/>
            </a:solidFill>
            <a:prstDash val="solid"/>
          </a:ln>
        </p:spPr>
      </p:sp>
      <p:sp>
        <p:nvSpPr>
          <p:cNvPr id="14" name="Shape 12"/>
          <p:cNvSpPr/>
          <p:nvPr/>
        </p:nvSpPr>
        <p:spPr>
          <a:xfrm>
            <a:off x="812780" y="3987800"/>
            <a:ext cx="5194170" cy="38100"/>
          </a:xfrm>
          <a:prstGeom prst="rect">
            <a:avLst/>
          </a:prstGeom>
          <a:solidFill>
            <a:srgbClr val="E3AE2E"/>
          </a:solidFill>
          <a:ln/>
        </p:spPr>
      </p:sp>
      <p:sp>
        <p:nvSpPr>
          <p:cNvPr id="15" name="Text 13"/>
          <p:cNvSpPr/>
          <p:nvPr/>
        </p:nvSpPr>
        <p:spPr>
          <a:xfrm>
            <a:off x="965176" y="4102100"/>
            <a:ext cx="4889378" cy="469900"/>
          </a:xfrm>
          <a:prstGeom prst="rect">
            <a:avLst/>
          </a:prstGeom>
          <a:noFill/>
          <a:ln/>
        </p:spPr>
        <p:txBody>
          <a:bodyPr wrap="square" rtlCol="0" anchor="t">
            <a:normAutofit/>
          </a:bodyPr>
          <a:lstStyle/>
          <a:p>
            <a:pPr indent="0" marL="0">
              <a:buNone/>
            </a:pPr>
            <a:r>
              <a:rPr lang="en-US" sz="1600" b="1" dirty="0">
                <a:solidFill>
                  <a:srgbClr val="1B2A3A"/>
                </a:solidFill>
                <a:latin typeface="Segoe UI" pitchFamily="34" charset="0"/>
                <a:ea typeface="Segoe UI" pitchFamily="34" charset="-122"/>
                <a:cs typeface="Segoe UI" pitchFamily="34" charset="-120"/>
              </a:rPr>
              <a:t>Un signataire empêché</a:t>
            </a:r>
            <a:endParaRPr lang="en-US" sz="1600" dirty="0"/>
          </a:p>
        </p:txBody>
      </p:sp>
      <p:sp>
        <p:nvSpPr>
          <p:cNvPr id="16" name="Text 14"/>
          <p:cNvSpPr/>
          <p:nvPr/>
        </p:nvSpPr>
        <p:spPr>
          <a:xfrm>
            <a:off x="965176" y="4597400"/>
            <a:ext cx="4889378" cy="12192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Le président constate l’empêchement, motif au PV ; le PV est signé par les autres présents.</a:t>
            </a:r>
            <a:endParaRPr lang="en-US" sz="1300" dirty="0"/>
          </a:p>
        </p:txBody>
      </p:sp>
      <p:sp>
        <p:nvSpPr>
          <p:cNvPr id="17" name="Shape 15"/>
          <p:cNvSpPr/>
          <p:nvPr/>
        </p:nvSpPr>
        <p:spPr>
          <a:xfrm>
            <a:off x="6184745" y="3987800"/>
            <a:ext cx="5194170" cy="1905000"/>
          </a:xfrm>
          <a:prstGeom prst="rect">
            <a:avLst/>
          </a:prstGeom>
          <a:solidFill>
            <a:srgbClr val="FCFCFA"/>
          </a:solidFill>
          <a:ln w="9525">
            <a:solidFill>
              <a:srgbClr val="D5DCE4"/>
            </a:solidFill>
            <a:prstDash val="solid"/>
          </a:ln>
        </p:spPr>
      </p:sp>
      <p:sp>
        <p:nvSpPr>
          <p:cNvPr id="18" name="Shape 16"/>
          <p:cNvSpPr/>
          <p:nvPr/>
        </p:nvSpPr>
        <p:spPr>
          <a:xfrm>
            <a:off x="6184745" y="3987800"/>
            <a:ext cx="5194170" cy="38100"/>
          </a:xfrm>
          <a:prstGeom prst="rect">
            <a:avLst/>
          </a:prstGeom>
          <a:solidFill>
            <a:srgbClr val="E3AE2E"/>
          </a:solidFill>
          <a:ln/>
        </p:spPr>
      </p:sp>
      <p:sp>
        <p:nvSpPr>
          <p:cNvPr id="19" name="Text 17"/>
          <p:cNvSpPr/>
          <p:nvPr/>
        </p:nvSpPr>
        <p:spPr>
          <a:xfrm>
            <a:off x="6337142" y="4102100"/>
            <a:ext cx="4889378" cy="469900"/>
          </a:xfrm>
          <a:prstGeom prst="rect">
            <a:avLst/>
          </a:prstGeom>
          <a:noFill/>
          <a:ln/>
        </p:spPr>
        <p:txBody>
          <a:bodyPr wrap="square" rtlCol="0" anchor="t">
            <a:normAutofit/>
          </a:bodyPr>
          <a:lstStyle/>
          <a:p>
            <a:pPr indent="0" marL="0">
              <a:buNone/>
            </a:pPr>
            <a:r>
              <a:rPr lang="en-US" sz="1600" b="1" dirty="0">
                <a:solidFill>
                  <a:srgbClr val="1B2A3A"/>
                </a:solidFill>
                <a:latin typeface="Segoe UI" pitchFamily="34" charset="0"/>
                <a:ea typeface="Segoe UI" pitchFamily="34" charset="-122"/>
                <a:cs typeface="Segoe UI" pitchFamily="34" charset="-120"/>
              </a:rPr>
              <a:t>Le quorum impossible</a:t>
            </a:r>
            <a:endParaRPr lang="en-US" sz="1600" dirty="0"/>
          </a:p>
        </p:txBody>
      </p:sp>
      <p:sp>
        <p:nvSpPr>
          <p:cNvPr id="20" name="Text 18"/>
          <p:cNvSpPr/>
          <p:nvPr/>
        </p:nvSpPr>
        <p:spPr>
          <a:xfrm>
            <a:off x="6337142" y="4597400"/>
            <a:ext cx="4889378" cy="1219200"/>
          </a:xfrm>
          <a:prstGeom prst="rect">
            <a:avLst/>
          </a:prstGeom>
          <a:noFill/>
          <a:ln/>
        </p:spPr>
        <p:txBody>
          <a:bodyPr wrap="square" rtlCol="0" anchor="t"/>
          <a:lstStyle/>
          <a:p>
            <a:pPr indent="0" marL="0">
              <a:buNone/>
            </a:pPr>
            <a:r>
              <a:rPr lang="en-US" sz="1300" dirty="0">
                <a:solidFill>
                  <a:srgbClr val="465568"/>
                </a:solidFill>
                <a:latin typeface="Segoe UI" pitchFamily="34" charset="0"/>
                <a:ea typeface="Segoe UI" pitchFamily="34" charset="-122"/>
                <a:cs typeface="Segoe UI" pitchFamily="34" charset="-120"/>
              </a:rPr>
              <a:t>Si, part de secours comprise, le quorum ne peut plus être atteint : la séance constate l’illisibilité, un PV de constat est produit, la procédure est relancée.</a:t>
            </a:r>
            <a:endParaRPr lang="en-US" sz="1300" dirty="0"/>
          </a:p>
        </p:txBody>
      </p:sp>
      <p:sp>
        <p:nvSpPr>
          <p:cNvPr id="21" name="Text 19"/>
          <p:cNvSpPr/>
          <p:nvPr/>
        </p:nvSpPr>
        <p:spPr>
          <a:xfrm>
            <a:off x="812780" y="6350000"/>
            <a:ext cx="6349841" cy="254000"/>
          </a:xfrm>
          <a:prstGeom prst="rect">
            <a:avLst/>
          </a:prstGeom>
          <a:noFill/>
          <a:ln/>
        </p:spPr>
        <p:txBody>
          <a:bodyPr wrap="square" rtlCol="0" anchor="ctr"/>
          <a:lstStyle/>
          <a:p>
            <a:pPr indent="0" marL="0">
              <a:buNone/>
            </a:pPr>
            <a:r>
              <a:rPr lang="en-US" sz="1200" dirty="0">
                <a:solidFill>
                  <a:srgbClr val="6A7787"/>
                </a:solidFill>
                <a:latin typeface="Segoe UI" pitchFamily="34" charset="0"/>
                <a:ea typeface="Segoe UI" pitchFamily="34" charset="-122"/>
                <a:cs typeface="Segoe UI" pitchFamily="34" charset="-120"/>
              </a:rPr>
              <a:t>PRS 2.0 · La soumission électronique des offres · 64</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1460500"/>
            <a:ext cx="10159746" cy="1270000"/>
          </a:xfrm>
          <a:prstGeom prst="rect">
            <a:avLst/>
          </a:prstGeom>
          <a:noFill/>
          <a:ln/>
        </p:spPr>
        <p:txBody>
          <a:bodyPr wrap="square" rtlCol="0" anchor="ctr"/>
          <a:lstStyle/>
          <a:p>
            <a:pPr indent="0" marL="0">
              <a:buNone/>
            </a:pPr>
            <a:r>
              <a:rPr lang="en-US" sz="4000" b="1" dirty="0">
                <a:solidFill>
                  <a:srgbClr val="FCFCFA"/>
                </a:solidFill>
                <a:latin typeface="Segoe UI" pitchFamily="34" charset="0"/>
                <a:ea typeface="Segoe UI" pitchFamily="34" charset="-122"/>
                <a:cs typeface="Segoe UI" pitchFamily="34" charset="-120"/>
              </a:rPr>
              <a:t>Personne n’ouvre une offre seul, ni avant l’heure.</a:t>
            </a:r>
            <a:endParaRPr lang="en-US" sz="4000" dirty="0"/>
          </a:p>
        </p:txBody>
      </p:sp>
      <p:sp>
        <p:nvSpPr>
          <p:cNvPr id="4" name="Text 2"/>
          <p:cNvSpPr/>
          <p:nvPr/>
        </p:nvSpPr>
        <p:spPr>
          <a:xfrm>
            <a:off x="812780" y="2984500"/>
            <a:ext cx="9207270" cy="1016000"/>
          </a:xfrm>
          <a:prstGeom prst="rect">
            <a:avLst/>
          </a:prstGeom>
          <a:noFill/>
          <a:ln/>
        </p:spPr>
        <p:txBody>
          <a:bodyPr wrap="square" rtlCol="0" anchor="ctr"/>
          <a:lstStyle/>
          <a:p>
            <a:pPr indent="0" marL="0">
              <a:buNone/>
            </a:pPr>
            <a:r>
              <a:rPr lang="en-US" sz="2000" dirty="0">
                <a:solidFill>
                  <a:srgbClr val="C9D6E2"/>
                </a:solidFill>
                <a:latin typeface="Segoe UI" pitchFamily="34" charset="0"/>
                <a:ea typeface="Segoe UI" pitchFamily="34" charset="-122"/>
                <a:cs typeface="Segoe UI" pitchFamily="34" charset="-120"/>
              </a:rPr>
              <a:t>Chiffrée sur le poste du candidat, l’offre ne s’ouvre qu’en séance, au quorum de la commission — et, si un membre manque, avec la part de secours du dépositaire.</a:t>
            </a:r>
            <a:endParaRPr lang="en-US" sz="2000" dirty="0"/>
          </a:p>
        </p:txBody>
      </p:sp>
      <p:sp>
        <p:nvSpPr>
          <p:cNvPr id="5" name="Text 3"/>
          <p:cNvSpPr/>
          <p:nvPr/>
        </p:nvSpPr>
        <p:spPr>
          <a:xfrm>
            <a:off x="812780" y="4445000"/>
            <a:ext cx="8889778" cy="317500"/>
          </a:xfrm>
          <a:prstGeom prst="rect">
            <a:avLst/>
          </a:prstGeom>
          <a:noFill/>
          <a:ln/>
        </p:spPr>
        <p:txBody>
          <a:bodyPr wrap="square" rtlCol="0" anchor="ctr"/>
          <a:lstStyle/>
          <a:p>
            <a:pPr indent="0" marL="0">
              <a:buNone/>
            </a:pPr>
            <a:r>
              <a:rPr lang="en-US" sz="1400" dirty="0">
                <a:solidFill>
                  <a:srgbClr val="E3AE2E"/>
                </a:solidFill>
                <a:latin typeface="Segoe UI" pitchFamily="34" charset="0"/>
                <a:ea typeface="Segoe UI" pitchFamily="34" charset="-122"/>
                <a:cs typeface="Segoe UI" pitchFamily="34" charset="-120"/>
              </a:rPr>
              <a:t>PRS 2.0 · Commission nationale des marchés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La soumission électronique des offres</dc:title>
  <dc:subject>PptxGenJS Presentation</dc:subject>
  <dc:creator>PRS 2.0</dc:creator>
  <cp:lastModifiedBy>PRS 2.0</cp:lastModifiedBy>
  <cp:revision>1</cp:revision>
  <dcterms:created xsi:type="dcterms:W3CDTF">2026-10-05T12:41:18Z</dcterms:created>
  <dcterms:modified xsi:type="dcterms:W3CDTF">2026-10-05T12:41:18Z</dcterms:modified>
</cp:coreProperties>
</file>