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procédure de fournitures en remise électronique, suivie de bout en bout : réglages de l’Administrateur, fiche et avis par la PRMP, commission et cérémonie des clés, candidats (inscription, entreprise, retrait, offre remplie en ligne — bordereau, DQE, conformité, capacités —, dépôt, remplacement, retrait d’offre), puis la séance d’ouverture avec l’emploi de la part de secours, la lecture, le PV signé en ligne et publié.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démonstration, le délai minimal de 30 jours a été abaissé le temps de la validation, puis rétabli.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45 : fournitures à commande en trois lots (besoin du dossier 2463). Capture du formulaire avec la procédure présentée comme ouverte : rien n’a été déposé à cette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46 : route (pièces, matériel, personnel et seuils repris d’un DAO réel du MTP).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45, séance du 5 octobre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46, séance du 5 octobre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812800"/>
            <a:ext cx="10159746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780" y="1206500"/>
            <a:ext cx="10477238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soumission électronique des offres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12780" y="2476500"/>
            <a:ext cx="920727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réglage de la plateforme au procès-verbal d’ouverture publié : chaque étape, chaque acteur, chaque écran.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2780" y="5080000"/>
            <a:ext cx="9842254" cy="8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de l’application réelle, sur des procédures de démonstration et de recette (fournitures et travaux, remise électronique) déroulées le 5 octobre 2026.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Noms de personnes remplacés par leur rôle ; phrases secrètes masquées.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952500"/>
            <a:ext cx="5079873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PRINCIPE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1270000"/>
            <a:ext cx="1041374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est chiffrée sur le poste du candidat. Elle ne s’ouvre qu’en séance, quand la commission réunit le quorum des parts de la clé.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8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17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clé partagée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517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part par membre de la commission d’appel d’offres, et une part de secours gardée par un dépositaire.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0679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918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quorum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918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faut réunir un nombre minimal de parts ; une seule ne suffit jamais.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0080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319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avant l’heure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5319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 le serveur, ni un administrateur, ni un membre seul ne peuvent lire une offre avant la séance.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ACTEURS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rôles, chacun dans son espace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ne cumule : la PRMP ne siège pas, le responsable ne détient aucune part, le dépositaire ne lit jamais les offres.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Règle la plateforme (signature, tailles, délais), les comptes candidats, les exclusions de l’ARMP ; vérifie les entreprises ; désigne le responsable.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Choisit la remise électronique dans la fiche du DAO, désigne la commission d’appel d’offres, imprime l’avis, suit les dépôts.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contrôleur de la CNM : quorum, cérémonie, dépositaire ; il conduit la séance et produit le PV. Aucune part.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(CAO)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génère sa clé, l’apporte en séance, lit les pièces des offres et signe le PV.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dépositaire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Génère la part de secours sur son poste, garde le pli de sa phrase, l’apporte si la séance la demande.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S’inscrit, déclare son entreprise, retire le dossier, dépose une offre scellée, la remplace ou la retire.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DÉROULÉ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Sept temps, de la plateforme au PV publié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780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1677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1677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Régler la plateforme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1677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04302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3999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896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32896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 en ligne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2896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35521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5217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4115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64115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4115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CAO, dépositaire, responsable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66740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06436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95334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95334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Publier l’avis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5334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7959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37655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26553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26553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et déposer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6553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29177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468874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57772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57772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Ouvrir en séance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57772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Responsable, CAO, dépositaire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60396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000093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12324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88991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88991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et publier le PV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88991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2780" y="3492500"/>
            <a:ext cx="104137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temps a son intercalaire ; chaque diapositive qui suit montre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écran réel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procédure de démonstration.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Régler la plateforme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fixe les règles de la remise électronique et de l’espace candidat, et tient le répertoire des entreprises exclues par l’ARMP.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Remise électronique : défauts et bornes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L’adresse de la plateforme, le fuseau de référence,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signature minimale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exigée, la taille maximale d’une offre.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délai minimal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la publication de l’avis et la date limite, le quorum proposé, le délai de vérification des parts.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mise électronique : défauts et bor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L’espace candidat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du NIF (sur pièces ; la voie DGI n’est pas encore raccordée), la confirmation par SMS (désactivée sans passerelle).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limites d’inscription, le nettoyage des comptes,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conservation des 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les offres à purger.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space candid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entreprises exclues par l’ARMP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répertoire des exclusions : NIF, raison sociale, décision, période.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entreprise exclue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dès son inscription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peut pas déposer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entreprises exclues par l’A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Ajouter une exclusion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exclusion ne se supprime jamais : elle se corrige ou se clôt par sa date de fin, avec un journal.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jouter une excl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 en ligne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la fiche du marché, la PRMP choisit la remise électronique : la fiche gagne alors les rubriques de la plateforme et de la séance, et exige une commission d’appel d’offres.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cadrage :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 les offres sont-elles remises ?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— papier, ou électronique.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 aussi : la garantie de soumission exigée, qui sera lue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adrage :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bloc de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L’adresse de la plateforme,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ouverture des dépôts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l’heure de référence, la signature exigée.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formats et tailles acceptés, le remplacement et le retrait autorisés, la prorogation en cas d’indisponibilité, l’assistance.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loc de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 d’ouverture, dans la fiche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jour et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heure de l’ouverture des 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la modalité (présentiel, en ligne, mixte), le délai après la date limite.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publication du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sur la plateforme.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 d’ouverture, dans la fich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Désignée par la PRMP (ou saisie par l’UGPM), par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des agents de l’entité, au plus un expert de l’objet, un président.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reçoit un compte et une invitation par courriel.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mmission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contrôles propres à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commission, le responsable, le dépositaire, la cérémonie avant la publication,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délai minimal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la publication et la date limite.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Tant qu’un contrôle bloque, la fiche ne se valide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ontrôles propres à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détenteur crée sa clé sur son poste ; le responsable clôt la cérémonie, et les clés publiques sont servies aux candidats. (Le détail fait l’objet d’une présentation à part.)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Quorum, date de la cérémonie, dépositaire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membres viennent de la commission ; le responsable fixe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la date de la cérémonie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(avec son adresse).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63099" y="3060700"/>
            <a:ext cx="946549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Quorum, date de la cérémonie, déposit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97" y="3136900"/>
            <a:ext cx="931310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attend ses clés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 parts = les membres + la part de secours ; chaque détenteur est « Clé à publier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2936" y="3060700"/>
            <a:ext cx="104458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attend ses cl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34" y="3136900"/>
            <a:ext cx="102934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choisit sa phrase secrète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paire de clés naît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navigateur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clé privée est enveloppée par sa phrase, qui ne quitte jamais le poste.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86307" y="3060700"/>
            <a:ext cx="701908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Il choisit sa phrase secrè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2505" y="3136900"/>
            <a:ext cx="686668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clé est publiée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sa clé, à comparer avec la liste des détenteurs ; une copie de sauvegarde hors ligne.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38286" y="3060700"/>
            <a:ext cx="63151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 clé est publi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4484" y="3136900"/>
            <a:ext cx="61627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 procédures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espace : les procédures dont il garde la part de secours, et ce qui l’attend.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es procéd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clé de secours et son pli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phrase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générée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montrée une seule fois,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lui seul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il imprime le pli et le conserve.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Phrase masquée sur la capture.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79793" y="1473200"/>
            <a:ext cx="7010225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 clé de secours et son p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5991" y="1549400"/>
            <a:ext cx="6857829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clés sont publiées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tableau des détenteurs : l’état de chaque part et son empreinte.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2936" y="3060700"/>
            <a:ext cx="104458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clés sont publi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34" y="3136900"/>
            <a:ext cx="102934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est close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clés publiques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sont servies aux candidats ; avant le premier dépôt, la cérémonie peut encore être rouverte.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50418" y="3060700"/>
            <a:ext cx="889085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est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616" y="3136900"/>
            <a:ext cx="87384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L’avis spécifique, imprimé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le PV favorable du DAO, l’avis s’imprime depuis la fiche ; la procédure paraît alors aux candidats.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086795"/>
            <a:ext cx="10540736" cy="303390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vis spécifique, imprim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162995"/>
            <a:ext cx="10388340" cy="28815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S’inscrire, remplir et déposer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entreprise crée son compte, déclare son entreprise, retire le dossier, remplit son offre en ligne et la dépose scellée ; jusqu’à la date limite, elle peut la remplacer ou la retirer.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des entreprises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entrée publique propre aux entreprises.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es ent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ouvertes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compte : référence, objet, lots, date limite et heure de référence.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ouv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compte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Nom, adresse électronique, téléphone, mot de passe.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comp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avec le code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à six chiffres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reçu par courriel, confirme le compte (la confirmation par SMS attend une passerelle).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onfirmer avec le cod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Déclarer son 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Raison sociale,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NIF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STAT, RCS, adresse, représentant : une fois pour toutes ; NIF, STAT et RCS sont uniques.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clarer son 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de l’entreprise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 fiscale, statuts, pouvoir : vérifiés à leurs premiers octets (PDF, JPEG, PNG).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de l’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de l’entreprise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rapproche la carte fiscale du NIF déclaré, puis décide. La décision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bloque jamais un dépôt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la commission la lit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vérification de l’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une fois connecté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du DAO, et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une offre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quand les dépôts sont ouverts.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une fois connec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document retiré est inscrit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PRMP.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REMPLIE EN LIGNE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son offre, plus seulement la joindre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que la fiche du DAO porte un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besoin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(articles des fournitures, DQE des travaux), le dépôt présente des formulaires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pré-remplis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depuis la fiche.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 depuis la fiche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Articles, unités, quantités (minimum et maximum à commande), caractéristiques exigées, séries du DQE, matériel, personnel et seuils de qualification.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 sur le poste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Montants par ligne, sous-totaux, TVA, totaux ; prix en lettres aux travaux ; le K1 et le sous-détail. Les montants de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acte d’engagement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 découlent.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Contrôlé, jamais refusé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 un prix manquant empêche de déposer. Le reste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au candidat, puis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la commission en séance : elle seule décide.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Scellé avec l’offre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formulaires sont chiffrés avec les pièces : personne ne les lit avant l’ouverture des plis, pas même le serveur.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 à l’ouverture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refait les totaux depuis le bordereau scellé et les quantités de la fiche, et compare avec l’acte d’engagement.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remplacées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remplie en ligne n’est plus à joindre ; un justificatif reste possible. Les plannings restent toujours des pièces.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des prix et le calendrier de livraison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articles du lot choisi, pré-remplis ; le candidat saisit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prix unitaire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de livraison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Marché à commande : les montants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des quantités ; TVA et TTC calculés.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77712" y="3060700"/>
            <a:ext cx="8236272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ordereau des prix et le calendrier de livra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910" y="3136900"/>
            <a:ext cx="8083875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conformité technique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article :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proposés.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caractéristique exigée : ce qui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et si c’est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92834"/>
            <a:ext cx="7162621" cy="437083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nformit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69034"/>
            <a:ext cx="7010225" cy="4218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avertissements, avant de déposer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caractéristique déclarée non conforme, une date au-delà du délai du dossier : le candidat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il peut déposer quand même.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mêmes points seront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signalés à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7819" y="3060700"/>
            <a:ext cx="957605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, avant de dépo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17" y="3136900"/>
            <a:ext cx="942366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L’acte d’engagement, calculé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montants hors taxes et toutes taxes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se saisissent plus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ce sont ceux du bordereau.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commande, le montant au maximum des quantités ; le minimum est lu en plus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63836"/>
            <a:ext cx="10540736" cy="267982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te d’engagement, calcu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0036"/>
            <a:ext cx="10388340" cy="2527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DQE, et les prix en lettres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prix du DQE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série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les quantités de la fiche ; le prix s’écrit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lettres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sous chaque désignation, comme au cadre du bordereau.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Aux travaux,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sont les lettres qui font foi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le serveur les relit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7889" y="3060700"/>
            <a:ext cx="693591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, et les prix en let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4088" y="3136900"/>
            <a:ext cx="6783520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sous-totaux et le montant arrêté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Sous-total par série, total HT, TVA, TTC, et le montant arrêté en toutes lettres.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86798"/>
            <a:ext cx="10540736" cy="163390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sous-totaux et le montant arrê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62998"/>
            <a:ext cx="10388340" cy="14815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coefficient K1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neuf frais de l’annexe 2 de l’acte d’engagement, en pourcentage ; le siège à Madagascar ou à l’étranger.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K1 = (1 + A1) × (1 + A2) / (1 − A3 × (1 + TVA)), arrondi au centième.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617218"/>
            <a:ext cx="7162621" cy="432206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oefficient K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93418"/>
            <a:ext cx="7010225" cy="41696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sous-détail d’un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prix que la fiche soumet au sous-détail : les déboursés secs (personnel, matériel, matériaux, outillage), le rendement.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prix calculé D × K1 / R est comparé au prix du bordereau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au-delà de 1 %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c’est signalé.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87025" y="3060700"/>
            <a:ext cx="881764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us-détail d’un p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223" y="3136900"/>
            <a:ext cx="866525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capacités financières et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Chiffre d’affaires des derniers exercices 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moyenne des meilleures années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liquidité contre le seuil (ici 10 % du TTC de l’offre).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marchés de référence de la période, cumulés.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0498" y="3060700"/>
            <a:ext cx="65906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apacités financières et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6696" y="3136900"/>
            <a:ext cx="64383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personnel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par personne exigée, avec le rappel des exigences (diplôme, expérience).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CV et diplômes restent des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justificatifs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9144" y="3060700"/>
            <a:ext cx="1027340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ersonn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342" y="3136900"/>
            <a:ext cx="1012101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matériel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face de chaque matériel exigé : le nombre proposé, et combien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propre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704594"/>
            <a:ext cx="7162621" cy="414731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atéri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780794"/>
            <a:ext cx="7010225" cy="3994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 des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 incohérent, chiffre d’affaires, liquidité, expérience, matériel en propre : chaque écart est dit, chiffres à l’appui.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73809"/>
            <a:ext cx="10540736" cy="205988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 des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50009"/>
            <a:ext cx="10388340" cy="190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remplies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bordereau, la conformité, le calendrier :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Remplie en ligne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». Un justificatif peut encore être joint.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autres pièces se joignent comme avant.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65565" y="3060700"/>
            <a:ext cx="7660565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remplies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763" y="3136900"/>
            <a:ext cx="7508169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sans formulaires : la garantie et les pièces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procédure sans besoin (prestations intellectuelles) : les montants de l’acte se saisissent, les pièces se joignent.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tous les cas, la garantie : son code,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émetteur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ici volontairement inférieure au minimum de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sans formulaires : la garantie et les piè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L’accusé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L’heure, le numéro d’arrivée,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 ; scellée pour n détenteurs, k suffisent.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sé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Remplacer son offre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 : une nouvelle offre scellée remplace l’ancienne, qui ne sera pas ouverte.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mplacer son off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remplacée et la nouvelle ; l’accusé de chacune.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 son offre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retrait se confirme ; l’offre retirée ne sera pas ouverte. L’entreprise peut déposer de nouveau avant la date limite.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tirer son off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dépôts, avant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limite, la PRMP ne connaît que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d’offres.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dépôts, avant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a retiré quel document, et quand.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Ouvrir en séance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limite, à l’heure prévue : le quorum se réunit, toutes les offres s’ouvrent ensemble, la séance les lit et signe le PV.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avant l’heure d’ouverture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date limite est passée, mais pas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heure d’ouverture des 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le serveur refuse, en le disant.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Pas avant l’heure d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L’ouverture et les présences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ouvre, coche les membres présents, ajoute les autres présents.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ouverture et les prés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Apporter ses parts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phrase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qui déchiffre sa part de chaque offre ; seules ces parts partent.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58066"/>
            <a:ext cx="10540736" cy="209136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porter ses p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34266"/>
            <a:ext cx="10388340" cy="19389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manque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 1 / 2 : le second membre est empêché. Les offres restent fermées.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016125"/>
            <a:ext cx="10540736" cy="117525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 membre man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92325"/>
            <a:ext cx="10388340" cy="102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Demander la part de secours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demande la part de secours, avec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motif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 sera porté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emander la part de sec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demande est faite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dépositaire est prévenu par courriel ; l’écran dit « En attente du dépositaire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demande est fa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demande lui parvient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La séance demande votre part » : il l’apporte depuis son espace, en salle ou à distance.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demande lui parvi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apporte la part de secours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phrase de son pli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elle ne le quitte jamais.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Il apporte la part de sec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part de secours est apportée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est atteint : les offres s’ouvrent.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rt de secours est appor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offres s’ouvrent ensemble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offre : empreinte vérifiée, déchiffrée, comparée aux pièces attendues ; les offres remplacées et retirées restent fermées.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offres s’ouvrent ensem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Soumissionnaire, NIF et sa vérification, montants, délai, validité, rabais,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garantie (montant, émetteur)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pièces manquantes.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garantie inférieure au minimum de la fiche, rapprochements entre déposants, exclusion.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96308" y="3060700"/>
            <a:ext cx="739907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2507" y="3136900"/>
            <a:ext cx="724668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en ligne : fournitures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totaux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 le serveur depuis le bordereau scellé, au minimum et au maximum.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non-conformité déclarée, livraison hors délai. Aucune « acte d’engagement divergent » : les montants concordent.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(bordereau, conformité), imprimables par la commission.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13413" y="3060700"/>
            <a:ext cx="7964870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en ligne : fourni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611" y="3136900"/>
            <a:ext cx="7812473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en ligne :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volontairement en défaut : chiffre d’affaires, liquidité, références, personnel, matériel, sous-détail.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alerte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 automatique ; l’offre conforme de la même séance n’en a aucune.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(DQE) et les capacités remplis, en PDF.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484722"/>
            <a:ext cx="7162621" cy="458705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en ligne :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60922"/>
            <a:ext cx="7010225" cy="443465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lecture, projetée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grand, pour la salle.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, proje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pièces, pour la commission seule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membres de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ouvrent les pièces des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043964" y="3060700"/>
            <a:ext cx="610376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, pour la commission se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0162" y="3136900"/>
            <a:ext cx="595137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d’ouverture, à signer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produit le PV ; il attend la signature de chaque membre présent.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d’ouverture, à sig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le PV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Relire le PV (PDF), cocher, signer : la signature est horodatée, journalisée, imprimée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807139"/>
            <a:ext cx="10540736" cy="159322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igner le PV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83339"/>
            <a:ext cx="10388340" cy="1440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Constater un empêchement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présent ne peut pas signer :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constate, avec un motif imprimé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692424"/>
            <a:ext cx="10540736" cy="182265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onstater un empêch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768624"/>
            <a:ext cx="10388340" cy="16702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 et publié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dernière signature, la séance est close ;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extrait du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(sans les alertes) est publié sur la procédure.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est signé et publi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PV, sur la procédure publique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candidats lisent l’extrait du PV d’ouverture.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, sur la procédure publ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complet, après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Entreprise, NIF, lot, heure de dépôt, état, empreinte de chaque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complet, après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offres, après la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L’état de chaque offre après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, après la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79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SI…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incidents prévus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cas a sa réponse dans l’application ; aucune ne donne à une personne seule le pouvoir d’ouvrir les offres.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phrase oubliée avant la séance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détenteur déclare sa part perdue et génère une nouvelle clé ; les offres déjà déposées restent couvertes par le quorum et la part de secours.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absent en séance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demande la part de secours, avec un motif ; le dépositaire l’apporte depuis son espace.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signataire empêché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constate l’empêchement, motif au PV ; le PV est signé par les autres présents.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impossible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Si, part de secours comprise, le quorum ne peut plus être atteint : la séance constate l’illisibilité, un PV de constat est produit, la procédure est relancée.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1905000"/>
            <a:ext cx="10159746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n’ouvre une offre seul, ni avant l’heure.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780" y="2857500"/>
            <a:ext cx="9207270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Chiffrée sur le poste du candidat, l’offre ne s’ouvre qu’en séance, au quorum de la commission — et, si un membre manque, avec la part de secours du dépositaire.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780" y="4191000"/>
            <a:ext cx="8889778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Commission nationale des marchés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PRS 2.0 — La soumission électronique des offres</dc:title>
  <dc:subject>PptxGenJS Presentation</dc:subject>
  <dc:creator>PRS 2.0</dc:creator>
  <cp:lastModifiedBy>PRS 2.0</cp:lastModifiedBy>
  <cp:revision>1</cp:revision>
  <dcterms:created xsi:type="dcterms:W3CDTF">2026-10-05T18:26:47Z</dcterms:created>
  <dcterms:modified xsi:type="dcterms:W3CDTF">2026-10-05T18:26:47Z</dcterms:modified>
</cp:coreProperties>
</file>