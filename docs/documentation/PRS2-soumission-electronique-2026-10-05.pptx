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procédure de fournitures en remise électronique, suivie de bout en bout : réglages de l’Administrateur, fiche et avis par la PRMP, commission et cérémonie des clés, candidats (inscription, entreprise, retrait, offre remplie en ligne — bordereau, DQE, conformité, capacités —, dépôt, remplacement, retrait d’offre), puis la séance d’ouverture avec l’emploi de la part de secours, la lecture, le PV signé en ligne et publié.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Entrée ajoutée le 6 octobre 2026 : on venait jusque-là à la fiche par la page du dossier.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la démonstration, le délai minimal de 30 jours a été abaissé le temps de la validation, puis rétabli.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Règle SE_PIECES_LISTEES, livrée le 6 octobre 2026. Les fiches déjà validées ne sont pas reprises.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Procédure de recette 47 (travaux, frais de 100 000 Ar), 6 octobre 2026. Le compte de l’ARMP n’était pas encore renseigné par l’Administrateur.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Procédure de recette 45 : fournitures à commande en trois lots (besoin du dossier 2463). Capture du formulaire avec la procédure présentée comme ouverte : rien n’a été déposé à cette occasion.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Procédure de recette 46 : route (pièces, matériel, personnel et seuils repris d’un DAO réel du MTP).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Procédure de recette 45, séance du 5 octobre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Procédure de recette 46, séance du 5 octobre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Procédure de recette 48, séance du 6 octobre 2026 : l’entreprise 1 a payé, l’entreprise 2 a déposé sans reçu.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396" cy="6858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80" y="812800"/>
            <a:ext cx="10159746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COMMISSION NATIONALE DES MARCHÉS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780" y="1206500"/>
            <a:ext cx="10477238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soumission électronique des offres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12780" y="2476500"/>
            <a:ext cx="920727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réglage de la plateforme au procès-verbal d’ouverture publié : chaque étape, chaque acteur, chaque écran.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12780" y="5080000"/>
            <a:ext cx="9842254" cy="88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Captures de l’application réelle, sur des procédures de démonstration et de recette (fournitures et travaux, remise électronique) déroulées les 5 et 6 octobre 2026.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Noms de personnes remplacés par leur rôle ; phrases secrètes masquées.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952500"/>
            <a:ext cx="5079873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PRINCIPE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1270000"/>
            <a:ext cx="10413740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offre est chiffrée sur le poste du candidat. Elle ne s’ouvre qu’en séance, quand la commission réunit le quorum des parts de la clé.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780" y="3683000"/>
            <a:ext cx="38099" cy="1524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5176" y="3683000"/>
            <a:ext cx="3238419" cy="355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clé partagée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5176" y="4064000"/>
            <a:ext cx="3238419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part par membre de la commission d’appel d’offres, et une part de secours gardée par un dépositaire.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06790" y="3683000"/>
            <a:ext cx="38099" cy="1524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9186" y="3683000"/>
            <a:ext cx="3238419" cy="355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quorum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59186" y="4064000"/>
            <a:ext cx="3238419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faut réunir un nombre minimal de parts ; une seule ne suffit jamais.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00800" y="3683000"/>
            <a:ext cx="38099" cy="1524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3196" y="3683000"/>
            <a:ext cx="3238419" cy="355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Personne avant l’heure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53196" y="4064000"/>
            <a:ext cx="3238419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 le serveur, ni un administrateur, ni un membre seul ne peuvent lire une offre avant la séance.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ACTEURS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rôles, chacun dans son espace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Personne ne cumule : la PRMP ne siège pas, le responsable ne détient aucune part, le dépositaire ne lit jamais les offres.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3403515" cy="38100"/>
          </a:xfrm>
          <a:prstGeom prst="rect">
            <a:avLst/>
          </a:prstGeom>
          <a:solidFill>
            <a:srgbClr val="6A7787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L’Administrateur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Règle la plateforme (signature, tailles, délais), les comptes candidats, les exclusions de l’ARMP ; vérifie les entreprises ; désigne le responsable.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409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4090" y="1905000"/>
            <a:ext cx="3403515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11" name="Text 9"/>
          <p:cNvSpPr/>
          <p:nvPr/>
        </p:nvSpPr>
        <p:spPr>
          <a:xfrm>
            <a:off x="454648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648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Choisit la remise électronique dans la fiche du DAO, désigne la commission d’appel d’offres, imprime l’avis, suit les dépôts.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75401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75401" y="1905000"/>
            <a:ext cx="3403515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5" name="Text 13"/>
          <p:cNvSpPr/>
          <p:nvPr/>
        </p:nvSpPr>
        <p:spPr>
          <a:xfrm>
            <a:off x="8127797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7797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contrôleur de la CNM : quorum, cérémonie, dépositaire ; il conduit la séance et produit le PV. Aucune part.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278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780" y="3987800"/>
            <a:ext cx="3403515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96517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commission (CAO)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517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membre génère sa clé, l’apporte en séance, lit les pièces des offres et signe le PV.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9409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94090" y="3987800"/>
            <a:ext cx="3403515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23" name="Text 21"/>
          <p:cNvSpPr/>
          <p:nvPr/>
        </p:nvSpPr>
        <p:spPr>
          <a:xfrm>
            <a:off x="454648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dépositaire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4648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Génère la part de secours sur son poste, garde le pli de sa phrase, l’apporte si la séance la demande.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975401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75401" y="3987800"/>
            <a:ext cx="3403515" cy="38100"/>
          </a:xfrm>
          <a:prstGeom prst="rect">
            <a:avLst/>
          </a:prstGeom>
          <a:solidFill>
            <a:srgbClr val="8A5A9E"/>
          </a:solidFill>
          <a:ln/>
        </p:spPr>
      </p:sp>
      <p:sp>
        <p:nvSpPr>
          <p:cNvPr id="27" name="Text 25"/>
          <p:cNvSpPr/>
          <p:nvPr/>
        </p:nvSpPr>
        <p:spPr>
          <a:xfrm>
            <a:off x="8127797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candidat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127797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S’inscrit, déclare son entreprise, retire le dossier, dépose une offre scellée, la remplace ou la retire.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DÉROULÉ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Sept temps, de la plateforme au PV publié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780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1677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01677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Régler la plateforme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01677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04302" y="23812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343999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2896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32896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Préparer le DAO en ligne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32896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735521" y="23812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75217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64115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64115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cérémonie des clés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64115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CAO, dépositaire, responsable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66740" y="23812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406436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95334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95334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Publier l’avis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95334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7959" y="23812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937655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26553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26553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Remplir et déposer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26553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329177" y="23812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468874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57772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57772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Ouvrir en séance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557772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Responsable, CAO, dépositaire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60396" y="23812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000093" y="1587500"/>
            <a:ext cx="1378823" cy="1587500"/>
          </a:xfrm>
          <a:prstGeom prst="roundRect">
            <a:avLst>
              <a:gd name="adj" fmla="val 3979"/>
            </a:avLst>
          </a:prstGeom>
          <a:solidFill>
            <a:srgbClr val="12324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88991" y="1676400"/>
            <a:ext cx="1201027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088991" y="1905000"/>
            <a:ext cx="1201027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Signer et publier le PV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088991" y="2603500"/>
            <a:ext cx="1201027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CAO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2780" y="3492500"/>
            <a:ext cx="104137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temps a son intercalaire ; chaque diapositive qui suit montre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écran réel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la procédure de démonstration.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Régler la plateforme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L’Administrateur fixe les règles de la remise électronique et de l’espace candidat, et tient le répertoire des entreprises exclues par l’ARMP.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Remise électronique : défauts et bornes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L’adresse de la plateforme, le fuseau de référence,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signature minimale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exigée, la taille maximale d’une offre.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délai minimal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entre la publication de l’avis et la date limite, le quorum proposé, le délai de vérification des parts.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mise électronique : défauts et bor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L’espace candidat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vérification du NIF (sur pièces ; la voie DGI n’est pas encore raccordée), la confirmation par SMS (désactivée sans passerelle).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limites d’inscription, le nettoyage des comptes,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durée de conservation des offres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les offres à purger.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espace candid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entreprises exclues par l’ARMP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répertoire des exclusions : NIF, raison sociale, décision, période.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entreprise exclue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signalée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dès son inscription et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 peut pas déposer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entreprises exclues par l’AR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Ajouter une exclusion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exclusion ne se supprime jamais : elle se corrige ou se clôt par sa date de fin, avec un journal.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Ajouter une exclu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Préparer le DAO en ligne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la fiche du marché, la PRMP choisit la remise électronique : la fiche gagne alors les rubriques de la plateforme et de la séance, et exige une commission d’appel d’offres.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L’entrée « Appels d’offres 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 menu de la PRMP et de l’UGPM, dans « Mon travail » : les fiches DAO et tout ce qui en part.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Commission, dépôts, retraits, reçus des frais, séance : des boutons de la fiche.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673910" y="1473200"/>
            <a:ext cx="2221991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entrée « Appels d’offres 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0108" y="1549400"/>
            <a:ext cx="2069595" cy="44577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lignes du plan qui portent un appel d’offres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ligne éligible :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Préparer l’appel d’offres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», ou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Reprendre la fiche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si elle existe déjà.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lignes du plan qui portent un appel d’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cadrage : la remise électronique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Comment les offres sont-elles remises ?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— papier, ou électronique.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Ici aussi : la garantie de soumission exigée, qui sera lue en séance.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cadrage : la remise électro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bloc de la remise électronique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L’adresse de la plateforme,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ouverture des dépôts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l’heure de référence, la signature exigée.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formats et tailles acceptés, le remplacement et le retrait autorisés, la prorogation en cas d’indisponibilité, l’assistance.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bloc de la remise électro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séance d’ouverture, dans la fiche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jour et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heure de l’ouverture des plis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la modalité (présentiel, en ligne, mixte), le délai après la date limite.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publication du PV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sur la plateforme.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séance d’ouverture, dans la fich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commission d’appel d’offres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Désignée par la PRMP (ou saisie par l’UGPM), par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décision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des agents de l’entité, au plus un expert de l’objet, un président.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membre reçoit un compte et une invitation par courriel.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ommission d’appel d’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contrôles propres à la remise électronique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commission, le responsable, le dépositaire, la cérémonie avant la publication, et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délai minimal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entre la publication et la date limite.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Tant qu’un contrôle bloque, la fiche ne se valide pas.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contrôles propres à la remise électro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ligne, les pièces de l’offre se listent une à une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remise électronique, un texte libre ne suffit plus : le candidat joint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fichier par pièce de la liste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(bloc B14).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Sans liste, la fiche ne se valide pas ; « corriger » mène au bloc.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En ligne, les pièces de l’offre se listent une à u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Partir du texte du DAO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Tant que la liste est vide, chaque rubrique propose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Proposer la liste à partir du texte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52861" y="3060700"/>
            <a:ext cx="8485973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Partir du texte du DA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9059" y="3136900"/>
            <a:ext cx="8333577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texte découpé, à relire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pièce par ligne ou par « ; » ; la PRMP relit, ajoute, corrige, puis enregistre.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Rien ne part au serveur avant « Enregistrer les pièces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694929" y="1473200"/>
            <a:ext cx="6179953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texte découpé, à rel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1127" y="1549400"/>
            <a:ext cx="6027557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DQE, en entier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Série, n° de prix, désignation, libellé au bordereau, unité, quantité,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plafond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sous-détail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tout est visible.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L’intitulé d’une série se saisit dans son intertitre, une fois pour ses articles.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410496"/>
            <a:ext cx="10540736" cy="238650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QE, en ent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86696"/>
            <a:ext cx="10388340" cy="22341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cérémonie des clés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détenteur crée sa clé sur son poste ; le responsable clôt la cérémonie, et les clés publiques sont servies aux candidats. (Le détail fait l’objet d’une présentation à part.)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Quorum, date de la cérémonie, dépositaire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membres viennent de la commission ; le responsable fixe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quorum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la date de la cérémonie et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dépositaire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(avec son adresse).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63099" y="3060700"/>
            <a:ext cx="9465497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Quorum, date de la cérémonie, déposita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9297" y="3136900"/>
            <a:ext cx="9313101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cérémonie attend ses clés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 parts = les membres + la part de secours ; chaque détenteur est « Clé à publier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72936" y="3060700"/>
            <a:ext cx="10445823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érémonie attend ses clé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134" y="3136900"/>
            <a:ext cx="10293427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choisit sa phrase secrète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paire de clés naît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son navigateur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la clé privée est enveloppée par sa phrase, qui ne quitte jamais le poste.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586307" y="3060700"/>
            <a:ext cx="7019081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Il choisit sa phrase secrè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2505" y="3136900"/>
            <a:ext cx="6866685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 clé est publiée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empreinte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sa clé, à comparer avec la liste des détenteurs ; une copie de sauvegarde hors ligne.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938286" y="3060700"/>
            <a:ext cx="6315123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a clé est publi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4484" y="3136900"/>
            <a:ext cx="6162727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DÉPOSITAIRE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 procédures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son espace : les procédures dont il garde la part de secours, et ce qui l’attend.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es procéd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DÉPOSITAIRE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 clé de secours et son pli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phrase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générée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montrée une seule fois,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lui seul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il imprime le pli et le conserve.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Phrase masquée sur la capture.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79793" y="1473200"/>
            <a:ext cx="7010225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a clé de secours et son p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55991" y="1549400"/>
            <a:ext cx="6857829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Toutes les clés sont publiées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tableau des détenteurs : l’état de chaque part et son empreinte.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72936" y="3060700"/>
            <a:ext cx="10445823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Toutes les clés sont publi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134" y="3136900"/>
            <a:ext cx="10293427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cérémonie est close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clés publiques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sont servies aux candidats ; avant le premier dépôt, la cérémonie peut encore être rouverte.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50418" y="3060700"/>
            <a:ext cx="889085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érémonie est clo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6616" y="3136900"/>
            <a:ext cx="873846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L’avis spécifique, imprimé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le PV favorable du DAO, l’avis s’imprime depuis la fiche ; la procédure paraît alors aux candidats.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086795"/>
            <a:ext cx="10540736" cy="3033909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vis spécifique, imprim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162995"/>
            <a:ext cx="10388340" cy="288150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S’inscrire, remplir et déposer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entreprise crée son compte, déclare son entreprise, retire le dossier, remplit son offre en ligne et la dépose scellée ; jusqu’à la date limite, elle peut la remplacer ou la retirer.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page des entreprises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entrée publique propre aux entreprises.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age des entrepri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procédures ouvertes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Sans compte : référence, objet, lots, date limite et heure de référence.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rocédures ouver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34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Créer un compte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Nom, adresse électronique, téléphone, mot de passe.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réer un comp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35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Confirmer avec le code reçu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à six chiffres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reçu par courriel, confirme le compte (la confirmation par SMS attend une passerelle).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onfirmer avec le code reç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36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Déclarer son entreprise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Raison sociale,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NIF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STAT, RCS, adresse, représentant : une fois pour toutes ; NIF, STAT et RCS sont uniques.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Déclarer son entrep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37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de l’entreprise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Carte fiscale, statuts, pouvoir : vérifiés à leurs premiers octets (PDF, JPEG, PNG).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 de l’entrep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38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vérification de l’entreprise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rapproche la carte fiscale du NIF déclaré, puis décide. La décision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 bloque jamais un dépôt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la commission la lit à l’ouverture.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vérification de l’entrep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39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procédure, une fois connecté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documents du DAO, et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Déposer une offre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quand les dépôts sont ouverts.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rocédure, une fois connect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40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retrait du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document retiré est inscrit au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la PRMP.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Ici, une procédure lancée avant le 6 octobre : retrait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Depuis, un dossier payant ne se retire qu’après validation du reçu (ci-après).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trait du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41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PAYANT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reçu des frais, validé avant le retrait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frais de dossier (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B04-DS-05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 se versent au compte de l’ARMP, hors de la plateforme. Le reçu est déposé en ligne et validé par la PRMP : alors seulement le dossier se retire.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5194170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candidat dépose son reçu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Montant, référence et date du versement, banque, fichier ; un reçu par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entreprise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(NIF), pour un ou plusieurs lots.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4745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84745" y="1905000"/>
            <a:ext cx="5194170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6337142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ou l’UGPM décide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37142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Notifiée à chaque dépôt ; valide, ou refuse avec un motif. Un montant insuffisant est signalé. Une décision ne se reprend pas.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780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2780" y="39878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5" name="Text 13"/>
          <p:cNvSpPr/>
          <p:nvPr/>
        </p:nvSpPr>
        <p:spPr>
          <a:xfrm>
            <a:off x="965176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retrait s’ouvre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5176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Dès la validation : le registre des retraits porte le reçu qui a ouvert chaque retrait. Après un refus, un nouveau reçu.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4745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84745" y="3987800"/>
            <a:ext cx="5194170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9" name="Text 17"/>
          <p:cNvSpPr/>
          <p:nvPr/>
        </p:nvSpPr>
        <p:spPr>
          <a:xfrm>
            <a:off x="6337142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l’offre et en séance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37142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reçu validé n’est plus à joindre. En séance, la ligne « Frais de dossier » ; sans reçu validé,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jamais un rejet.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42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dossier payant : le retrait attend le reçu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frais du dossier ; les boutons « Retirer » restent inactifs, la raison est dite.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917869" y="1473200"/>
            <a:ext cx="5734072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Un dossier payant : le retrait attend le reç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4067" y="1549400"/>
            <a:ext cx="5581676" cy="44577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43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Déposer le reçu du versement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Montant, référence, date, banque, et le reçu (PDF ou image).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898" y="3060700"/>
            <a:ext cx="1028989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Déposer le reçu du vers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096" y="3136900"/>
            <a:ext cx="10137503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44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reçu attend la décision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Gardé pour l’entreprise ; « Voir mon reçu » le rouvre.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798213"/>
            <a:ext cx="10540736" cy="1611073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çu attend la déci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74413"/>
            <a:ext cx="10388340" cy="14586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45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reçus des frais de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reçus en attente d’abord ; le montant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insuffisant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signalé ; « Voir le reçu », « Valider », « Refuser… ».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Comparer au relevé de l’ARMP avant de décider : la décision ne se reprend pas.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033395" y="3060700"/>
            <a:ext cx="8124904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reçus des frais de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9594" y="3136900"/>
            <a:ext cx="7972508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46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Refuser, avec un motif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motif part par courriel à l’entreprise, qui peut déposer un nouveau reçu.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83368" y="3060700"/>
            <a:ext cx="7824958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fuser, avec u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9567" y="3136900"/>
            <a:ext cx="767256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47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 validé : le dossier se retire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boutons « Retirer » s’ouvrent.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798213"/>
            <a:ext cx="10540736" cy="1611073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çu validé : le dossier se ret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74413"/>
            <a:ext cx="10388340" cy="14586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48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 refusé : le motif, et un nouveau dépôt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L’historique reste : l’ancien reçu et son motif ne s’effacent pas.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380179"/>
            <a:ext cx="10540736" cy="244714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çu refusé : le motif, et un nouveau dépô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56379"/>
            <a:ext cx="10388340" cy="22947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49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des retraits, avec le reçu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retrait porte le reçu qui l’a ouvert.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des retraits, avec le reç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50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L’OFFRE REMPLIE EN LIGNE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Remplir son offre, plus seulement la joindre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Dès que la fiche du DAO porte un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besoin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(articles des fournitures, DQE des travaux), le dépôt présente des formulaires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pré-remplis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depuis la fiche.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3403515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Pré-rempli depuis la fiche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Articles, unités, quantités (minimum et maximum à commande), caractéristiques exigées, séries du DQE, matériel, personnel et seuils de qualification.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409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4090" y="1905000"/>
            <a:ext cx="3403515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454648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Calculé sur le poste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648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Montants par ligne, sous-totaux, TVA, totaux ; prix en lettres aux travaux ; le K1 et le sous-détail. Les montants de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acte d’engagement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 découlent.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75401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75401" y="1905000"/>
            <a:ext cx="3403515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5" name="Text 13"/>
          <p:cNvSpPr/>
          <p:nvPr/>
        </p:nvSpPr>
        <p:spPr>
          <a:xfrm>
            <a:off x="8127797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Contrôlé, jamais refusé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7797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Seul un prix manquant empêche de déposer. Le reste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averti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au candidat, puis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signalé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à la commission en séance : elle seule décide.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278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780" y="3987800"/>
            <a:ext cx="3403515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9" name="Text 17"/>
          <p:cNvSpPr/>
          <p:nvPr/>
        </p:nvSpPr>
        <p:spPr>
          <a:xfrm>
            <a:off x="96517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Scellé avec l’offre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517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formulaires sont chiffrés avec les pièces : personne ne les lit avant l’ouverture des plis, pas même le serveur.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9409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94090" y="3987800"/>
            <a:ext cx="3403515" cy="38100"/>
          </a:xfrm>
          <a:prstGeom prst="rect">
            <a:avLst/>
          </a:prstGeom>
          <a:solidFill>
            <a:srgbClr val="6A7787"/>
          </a:solidFill>
          <a:ln/>
        </p:spPr>
      </p:sp>
      <p:sp>
        <p:nvSpPr>
          <p:cNvPr id="23" name="Text 21"/>
          <p:cNvSpPr/>
          <p:nvPr/>
        </p:nvSpPr>
        <p:spPr>
          <a:xfrm>
            <a:off x="454648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Recalculé à l’ouverture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4648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serveur refait les totaux depuis le bordereau scellé et les quantités de la fiche, et compare avec l’acte d’engagement.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975401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75401" y="3987800"/>
            <a:ext cx="3403515" cy="38100"/>
          </a:xfrm>
          <a:prstGeom prst="rect">
            <a:avLst/>
          </a:prstGeom>
          <a:solidFill>
            <a:srgbClr val="8A5A9E"/>
          </a:solidFill>
          <a:ln/>
        </p:spPr>
      </p:sp>
      <p:sp>
        <p:nvSpPr>
          <p:cNvPr id="27" name="Text 25"/>
          <p:cNvSpPr/>
          <p:nvPr/>
        </p:nvSpPr>
        <p:spPr>
          <a:xfrm>
            <a:off x="8127797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remplacées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127797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pièce remplie en ligne n’est plus à joindre ; un justificatif reste possible. Les plannings restent toujours des pièces.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51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bordereau des prix et le calendrier de livraison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articles du lot choisi, pré-remplis ; le candidat saisit son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prix unitaire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sa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 de livraison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Marché à commande : les montants au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minimum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au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maximum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des quantités ; TVA et TTC calculés.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977712" y="3060700"/>
            <a:ext cx="8236272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bordereau des prix et le calendrier de livrais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3910" y="3136900"/>
            <a:ext cx="8083875" cy="29337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52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conformité technique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chaque article :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marque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modèle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proposés.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chaque caractéristique exigée : ce qui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proposé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et si c’est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92834"/>
            <a:ext cx="7162621" cy="437083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onformité tech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669034"/>
            <a:ext cx="7010225" cy="42184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53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avertissements, avant de déposer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caractéristique déclarée non conforme, une date au-delà du délai du dossier : le candidat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averti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il peut déposer quand même.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mêmes points seront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signalés à la commission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à l’ouverture.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07819" y="3060700"/>
            <a:ext cx="9576057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avertissements, avant de dépo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017" y="3136900"/>
            <a:ext cx="9423661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54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L’acte d’engagement, calculé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montants hors taxes et toutes taxes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 se saisissent plus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ce sont ceux du bordereau.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commande, le montant au maximum des quantités ; le minimum est lu en plus en séance.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263836"/>
            <a:ext cx="10540736" cy="267982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cte d’engagement, calcul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340036"/>
            <a:ext cx="10388340" cy="25274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55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DQE, et les prix en lettres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prix du DQE par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série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avec les quantités de la fiche ; le prix s’écrit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lettres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sous chaque désignation, comme au cadre du bordereau.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Aux travaux,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sont les lettres qui font foi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le serveur les relit à l’ouverture.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27889" y="3060700"/>
            <a:ext cx="6935916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QE, et les prix en lett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4088" y="3136900"/>
            <a:ext cx="6783520" cy="29337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56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sous-totaux et le montant arrêté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Sous-total par série, total HT, TVA, TTC, et le montant arrêté en toutes lettres.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786798"/>
            <a:ext cx="10540736" cy="1633905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sous-totaux et le montant arrêt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62998"/>
            <a:ext cx="10388340" cy="14815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57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coefficient K1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neuf frais de l’annexe 2 de l’acte d’engagement, en pourcentage ; le siège à Madagascar ou à l’étranger.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K1 = (1 + A1) × (1 + A2) / (1 − A3 × (1 + TVA)), arrondi au centième.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617218"/>
            <a:ext cx="7162621" cy="4322064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coefficient K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693418"/>
            <a:ext cx="7010225" cy="41696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58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sous-détail d’un prix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chaque prix que la fiche soumet au sous-détail : les déboursés secs (personnel, matériel, matériaux, outillage), le rendement.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prix calculé D × K1 / R est comparé au prix du bordereau :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au-delà de 1 %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c’est signalé.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87025" y="3060700"/>
            <a:ext cx="8817646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sous-détail d’un pr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3223" y="3136900"/>
            <a:ext cx="8665250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59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capacités financières et techniques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Chiffre d’affaires des derniers exercices et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moyenne des meilleures années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la liquidité contre le seuil (ici 10 % du TTC de l’offre).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marchés de référence de la période, cumulés.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00498" y="3060700"/>
            <a:ext cx="659069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capacités financières et techn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6696" y="3136900"/>
            <a:ext cx="6438303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60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personnel proposé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ligne par personne exigée, avec le rappel des exigences (diplôme, expérience).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CV et diplômes restent des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justificatifs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à joindre.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9144" y="3060700"/>
            <a:ext cx="10273408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ersonnel propos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342" y="3136900"/>
            <a:ext cx="1012101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61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matériel proposé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face de chaque matériel exigé : le nombre proposé, et combien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propre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704594"/>
            <a:ext cx="7162621" cy="414731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matériel propos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780794"/>
            <a:ext cx="7010225" cy="3994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62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avertissements des travaux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Sous-détail incohérent, chiffre d’affaires, liquidité, expérience, matériel en propre : chaque écart est dit, chiffres à l’appui.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573809"/>
            <a:ext cx="10540736" cy="205988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avertissements des trava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650009"/>
            <a:ext cx="10388340" cy="190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63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saisie jamais perdue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fermée ou rechargée par erreur : la saisie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reprise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Elle était gardée sur ce poste seulement, jamais envoyée.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ce compte et cette procédure ; effacée au dépôt, ou à la demande. Les fichiers, eux, se joignent de nouveau.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4148058"/>
            <a:ext cx="10540736" cy="911384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Une saisie jamais perd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4224258"/>
            <a:ext cx="10388340" cy="7589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64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remplies en ligne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bordereau, la conformité, le calendrier :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Remplie en ligne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». Un justificatif peut encore être joint.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autres pièces se joignent comme avant.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65565" y="3060700"/>
            <a:ext cx="7660565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 remplies en 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1763" y="3136900"/>
            <a:ext cx="7508169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65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reçu des frais, déjà fourni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reçu validé avant le retrait fait preuve : la pièce n’est plus à joindre.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992436"/>
            <a:ext cx="10540736" cy="1222629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çu des frais, déjà four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4068636"/>
            <a:ext cx="10388340" cy="10702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66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dépôt sans formulaires : la garantie et les pièces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procédure sans besoin (prestations intellectuelles) : les montants de l’acte se saisissent, les pièces se joignent.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tous les cas, la garantie : son code, son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montant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son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émetteur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ici volontairement inférieure au minimum de la fiche.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épôt sans formulaires : la garantie et les piè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67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L’accusé de dépôt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L’heure, le numéro d’arrivée,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empreinte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l’offre ; scellée pour n détenteurs, k suffisent.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ccusé de dépô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68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Remplacer son offre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Avant la date limite : une nouvelle offre scellée remplace l’ancienne, qui ne sera pas ouverte.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mplacer son off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69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 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L’offre remplacée et la nouvelle ; l’accusé de chacune.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Mes 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70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Retirer son offre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retrait se confirme ; l’offre retirée ne sera pas ouverte. L’entreprise peut déposer de nouveau avant la date limite.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tirer son off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71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des dépôts, avant l’échéance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Avant la date limite, la PRMP ne connaît que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nombre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d’offres.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des dépôts, avant l’éch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72</a:t>
            </a:r>
            <a:endParaRPr lang="en-US" sz="1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des retraits du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 a retiré quel document, et quand.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des retraits du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73</a:t>
            </a:r>
            <a:endParaRPr lang="en-US" sz="1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Ouvrir en séance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la date limite, à l’heure prévue : le quorum se réunit, toutes les offres s’ouvrent ensemble, la séance les lit et signe le PV.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74</a:t>
            </a:r>
            <a:endParaRPr lang="en-US" sz="1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avant l’heure d’ouverture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date limite est passée, mais pas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heure d’ouverture des plis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le serveur refuse, en le disant.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Pas avant l’heure d’ouver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75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L’ouverture et les présences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ouvre, coche les membres présents, ajoute les autres présents.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ouverture et les présen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76</a:t>
            </a:r>
            <a:endParaRPr lang="en-US" sz="1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Apporter ses parts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 phrase déverrouille sa clé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son poste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qui déchiffre sa part de chaque offre ; seules ces parts partent.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558066"/>
            <a:ext cx="10540736" cy="209136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Apporter ses pa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634266"/>
            <a:ext cx="10388340" cy="19389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77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membre manque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Quorum 1 / 2 : le second membre est empêché. Les offres restent fermées.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4016125"/>
            <a:ext cx="10540736" cy="117525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Un membre man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4092325"/>
            <a:ext cx="10388340" cy="10228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78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Demander la part de secours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demande la part de secours, avec un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motif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qui sera porté au PV.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Demander la part de seco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79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demande est faite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dépositaire est prévenu par courriel ; l’écran dit « En attente du dépositaire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demande est fa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80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DÉPOSITAIRE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demande lui parvient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La séance demande votre part » : il l’apporte depuis son espace, en salle ou à distance.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demande lui parvi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81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DÉPOSITAIRE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apporte la part de secours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phrase de son pli déverrouille sa clé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son poste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elle ne le quitte jamais.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Il apporte la part de seco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82</a:t>
            </a:r>
            <a:endParaRPr lang="en-US" sz="12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DÉPOSITAIRE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part de secours est apportée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quorum est atteint : les offres s’ouvrent.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art de secours est apport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83</a:t>
            </a:r>
            <a:endParaRPr lang="en-US" sz="1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Toutes les offres s’ouvrent ensemble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offre : empreinte vérifiée, déchiffrée, comparée aux pièces attendues ; les offres remplacées et retirées restent fermées.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Toutes les offres s’ouvrent ensem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84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 des 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Soumissionnaire, NIF et sa vérification, montants, délai, validité, rabais,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garantie (montant, émetteur)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pièces manquantes.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garantie inférieure au minimum de la fiche, rapprochements entre déposants, exclusion.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96308" y="3060700"/>
            <a:ext cx="7399078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 des 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2507" y="3136900"/>
            <a:ext cx="724668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85</a:t>
            </a:r>
            <a:endParaRPr lang="en-US" sz="12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 d’une offre remplie en ligne : fournitures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totaux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recalculés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 le serveur depuis le bordereau scellé, au minimum et au maximum.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non-conformité déclarée, livraison hors délai. Aucune « acte d’engagement divergent » : les montants concordent.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documents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remplis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(bordereau, conformité), imprimables par la commission.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13413" y="3060700"/>
            <a:ext cx="7964870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 d’une offre remplie en ligne : fournit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9611" y="3136900"/>
            <a:ext cx="7812473" cy="29337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86</a:t>
            </a:r>
            <a:endParaRPr lang="en-US" sz="12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 d’une offre remplie en ligne : travaux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offre volontairement en défaut : chiffre d’affaires, liquidité, références, personnel, matériel, sous-détail.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alerte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jamais un rejet automatique ; l’offre conforme de la même séance n’en a aucune.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bordereau (DQE) et les capacités remplis, en PDF.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484722"/>
            <a:ext cx="7162621" cy="4587055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 d’une offre remplie en ligne : trava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60922"/>
            <a:ext cx="7010225" cy="443465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87</a:t>
            </a:r>
            <a:endParaRPr lang="en-US" sz="12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frais de dossier, lus en séance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chaque offre, la ligne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Frais de dossier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: réglés, référence, date de validation.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offre d’une entreprise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sans reçu validé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lève l’alerte « Frais de dossier non réglés » — une alerte, jamais un rejet.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52182" y="3060700"/>
            <a:ext cx="7887331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frais de dossier, lus en s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380" y="3136900"/>
            <a:ext cx="7734935" cy="29337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88</a:t>
            </a:r>
            <a:endParaRPr lang="en-US" sz="1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lecture, projetée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grand, pour la salle.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, projet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89</a:t>
            </a:r>
            <a:endParaRPr lang="en-US" sz="12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pièces, pour la commission seule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Seuls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membres de la commission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ouvrent les pièces des offres.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043964" y="3060700"/>
            <a:ext cx="6103768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, pour la commission seu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0162" y="3136900"/>
            <a:ext cx="595137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90</a:t>
            </a:r>
            <a:endParaRPr lang="en-US" sz="12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d’ouverture, à signer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produit le PV ; il attend la signature de chaque membre présent.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V d’ouverture, à sign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91</a:t>
            </a:r>
            <a:endParaRPr lang="en-US" sz="12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PRÉSIDENT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Signer le PV en ligne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Relire le PV (PDF), cocher, signer : la signature est horodatée, journalisée, imprimée au PV.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807139"/>
            <a:ext cx="10540736" cy="159322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igner le PV en 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83339"/>
            <a:ext cx="10388340" cy="144082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92</a:t>
            </a:r>
            <a:endParaRPr lang="en-US" sz="12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PRÉSIDENT DE LA CAO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Constater un empêchement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membre présent ne peut pas signer :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président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le constate, avec un motif imprimé au PV.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692424"/>
            <a:ext cx="10540736" cy="182265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onstater un empêch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768624"/>
            <a:ext cx="10388340" cy="16702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93</a:t>
            </a:r>
            <a:endParaRPr lang="en-US" sz="12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est signé et publié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la dernière signature, la séance est close ;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extrait du PV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(sans les alertes) est publié sur la procédure.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V est signé et publi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94</a:t>
            </a:r>
            <a:endParaRPr lang="en-US" sz="1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PV, sur la procédure publique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candidats lisent l’extrait du PV d’ouverture.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V, sur la procédure publ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95</a:t>
            </a:r>
            <a:endParaRPr lang="en-US" sz="12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complet, après l’échéance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Entreprise, NIF, lot, heure de dépôt, état, empreinte de chaque offre.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complet, après l’éch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96</a:t>
            </a:r>
            <a:endParaRPr lang="en-US" sz="12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 offres, après la séance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L’état de chaque offre après l’ouverture.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Mes offres, après la s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97</a:t>
            </a:r>
            <a:endParaRPr lang="en-US" sz="12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 SI…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incidents prévus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cas a sa réponse dans l’application ; aucune ne donne à une personne seule le pouvoir d’ouvrir les offres.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phrase oubliée avant la séance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détenteur déclare sa part perdue et génère une nouvelle clé ; les offres déjà déposées restent couvertes par le quorum et la part de secours.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4745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84745" y="19050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1" name="Text 9"/>
          <p:cNvSpPr/>
          <p:nvPr/>
        </p:nvSpPr>
        <p:spPr>
          <a:xfrm>
            <a:off x="6337142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membre absent en séance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37142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demande la part de secours, avec un motif ; le dépositaire l’apporte depuis son espace.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780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2780" y="39878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5" name="Text 13"/>
          <p:cNvSpPr/>
          <p:nvPr/>
        </p:nvSpPr>
        <p:spPr>
          <a:xfrm>
            <a:off x="965176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signataire empêché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5176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président constate l’empêchement, motif au PV ; le PV est signé par les autres présents.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4745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84745" y="39878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9" name="Text 17"/>
          <p:cNvSpPr/>
          <p:nvPr/>
        </p:nvSpPr>
        <p:spPr>
          <a:xfrm>
            <a:off x="6337142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quorum impossible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37142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Si, part de secours comprise, le quorum ne peut plus être atteint : la séance constate l’illisibilité, un PV de constat est produit, la procédure est relancée.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La soumission électronique des offres · 98</a:t>
            </a:r>
            <a:endParaRPr lang="en-US" sz="12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396" cy="6858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80" y="1905000"/>
            <a:ext cx="10159746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Personne n’ouvre une offre seul, ni avant l’heure.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2780" y="2857500"/>
            <a:ext cx="9207270" cy="101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Chiffrée sur le poste du candidat, l’offre ne s’ouvre qu’en séance, au quorum de la commission — et, si un membre manque, avec la part de secours du dépositaire.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780" y="4191000"/>
            <a:ext cx="8889778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Commission nationale des marchés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Commission nationale des marchés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PRS 2.0 — La soumission électronique des offres</dc:title>
  <dc:subject>PptxGenJS Presentation</dc:subject>
  <dc:creator>PRS 2.0</dc:creator>
  <cp:lastModifiedBy>PRS 2.0</cp:lastModifiedBy>
  <cp:revision>1</cp:revision>
  <dcterms:created xsi:type="dcterms:W3CDTF">2026-10-06T07:01:37Z</dcterms:created>
  <dcterms:modified xsi:type="dcterms:W3CDTF">2026-10-06T07:01:37Z</dcterms:modified>
</cp:coreProperties>
</file>