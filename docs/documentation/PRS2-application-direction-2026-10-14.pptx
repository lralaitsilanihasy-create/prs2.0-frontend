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slideMasters/slideMaster252.xml" ContentType="application/vnd.openxmlformats-officedocument.presentationml.slideMaster+xml"/>
  <Override PartName="/ppt/slides/slide252.xml" ContentType="application/vnd.openxmlformats-officedocument.presentationml.slide+xml"/>
  <Override PartName="/ppt/slideMasters/slideMaster253.xml" ContentType="application/vnd.openxmlformats-officedocument.presentationml.slideMaster+xml"/>
  <Override PartName="/ppt/slides/slide253.xml" ContentType="application/vnd.openxmlformats-officedocument.presentationml.slide+xml"/>
  <Override PartName="/ppt/slideMasters/slideMaster254.xml" ContentType="application/vnd.openxmlformats-officedocument.presentationml.slideMaster+xml"/>
  <Override PartName="/ppt/slides/slide254.xml" ContentType="application/vnd.openxmlformats-officedocument.presentationml.slide+xml"/>
  <Override PartName="/ppt/slideMasters/slideMaster255.xml" ContentType="application/vnd.openxmlformats-officedocument.presentationml.slideMaster+xml"/>
  <Override PartName="/ppt/slides/slide255.xml" ContentType="application/vnd.openxmlformats-officedocument.presentationml.slide+xml"/>
  <Override PartName="/ppt/slideMasters/slideMaster256.xml" ContentType="application/vnd.openxmlformats-officedocument.presentationml.slideMaster+xml"/>
  <Override PartName="/ppt/slides/slide256.xml" ContentType="application/vnd.openxmlformats-officedocument.presentationml.slide+xml"/>
  <Override PartName="/ppt/slideMasters/slideMaster257.xml" ContentType="application/vnd.openxmlformats-officedocument.presentationml.slideMaster+xml"/>
  <Override PartName="/ppt/slides/slide257.xml" ContentType="application/vnd.openxmlformats-officedocument.presentationml.slide+xml"/>
  <Override PartName="/ppt/slideMasters/slideMaster258.xml" ContentType="application/vnd.openxmlformats-officedocument.presentationml.slideMaster+xml"/>
  <Override PartName="/ppt/slides/slide258.xml" ContentType="application/vnd.openxmlformats-officedocument.presentationml.slide+xml"/>
  <Override PartName="/ppt/slideMasters/slideMaster259.xml" ContentType="application/vnd.openxmlformats-officedocument.presentationml.slideMaster+xml"/>
  <Override PartName="/ppt/slides/slide259.xml" ContentType="application/vnd.openxmlformats-officedocument.presentationml.slide+xml"/>
  <Override PartName="/ppt/slideMasters/slideMaster260.xml" ContentType="application/vnd.openxmlformats-officedocument.presentationml.slideMaster+xml"/>
  <Override PartName="/ppt/slides/slide260.xml" ContentType="application/vnd.openxmlformats-officedocument.presentationml.slide+xml"/>
  <Override PartName="/ppt/slideMasters/slideMaster261.xml" ContentType="application/vnd.openxmlformats-officedocument.presentationml.slideMaster+xml"/>
  <Override PartName="/ppt/slides/slide261.xml" ContentType="application/vnd.openxmlformats-officedocument.presentationml.slide+xml"/>
  <Override PartName="/ppt/slideMasters/slideMaster262.xml" ContentType="application/vnd.openxmlformats-officedocument.presentationml.slideMaster+xml"/>
  <Override PartName="/ppt/slides/slide262.xml" ContentType="application/vnd.openxmlformats-officedocument.presentationml.slide+xml"/>
  <Override PartName="/ppt/slideMasters/slideMaster263.xml" ContentType="application/vnd.openxmlformats-officedocument.presentationml.slideMaster+xml"/>
  <Override PartName="/ppt/slides/slide263.xml" ContentType="application/vnd.openxmlformats-officedocument.presentationml.slide+xml"/>
  <Override PartName="/ppt/slideMasters/slideMaster264.xml" ContentType="application/vnd.openxmlformats-officedocument.presentationml.slideMaster+xml"/>
  <Override PartName="/ppt/slides/slide264.xml" ContentType="application/vnd.openxmlformats-officedocument.presentationml.slide+xml"/>
  <Override PartName="/ppt/slideMasters/slideMaster265.xml" ContentType="application/vnd.openxmlformats-officedocument.presentationml.slideMaster+xml"/>
  <Override PartName="/ppt/slides/slide265.xml" ContentType="application/vnd.openxmlformats-officedocument.presentationml.slide+xml"/>
  <Override PartName="/ppt/slideMasters/slideMaster266.xml" ContentType="application/vnd.openxmlformats-officedocument.presentationml.slideMaster+xml"/>
  <Override PartName="/ppt/slides/slide266.xml" ContentType="application/vnd.openxmlformats-officedocument.presentationml.slide+xml"/>
  <Override PartName="/ppt/slideMasters/slideMaster267.xml" ContentType="application/vnd.openxmlformats-officedocument.presentationml.slideMaster+xml"/>
  <Override PartName="/ppt/slides/slide267.xml" ContentType="application/vnd.openxmlformats-officedocument.presentationml.slide+xml"/>
  <Override PartName="/ppt/slideMasters/slideMaster268.xml" ContentType="application/vnd.openxmlformats-officedocument.presentationml.slideMaster+xml"/>
  <Override PartName="/ppt/slides/slide268.xml" ContentType="application/vnd.openxmlformats-officedocument.presentationml.slide+xml"/>
  <Override PartName="/ppt/slideMasters/slideMaster269.xml" ContentType="application/vnd.openxmlformats-officedocument.presentationml.slideMaster+xml"/>
  <Override PartName="/ppt/slides/slide269.xml" ContentType="application/vnd.openxmlformats-officedocument.presentationml.slide+xml"/>
  <Override PartName="/ppt/slideMasters/slideMaster270.xml" ContentType="application/vnd.openxmlformats-officedocument.presentationml.slideMaster+xml"/>
  <Override PartName="/ppt/slides/slide270.xml" ContentType="application/vnd.openxmlformats-officedocument.presentationml.slide+xml"/>
  <Override PartName="/ppt/slideMasters/slideMaster271.xml" ContentType="application/vnd.openxmlformats-officedocument.presentationml.slideMaster+xml"/>
  <Override PartName="/ppt/slides/slide271.xml" ContentType="application/vnd.openxmlformats-officedocument.presentationml.slide+xml"/>
  <Override PartName="/ppt/slideMasters/slideMaster272.xml" ContentType="application/vnd.openxmlformats-officedocument.presentationml.slideMaster+xml"/>
  <Override PartName="/ppt/slides/slide272.xml" ContentType="application/vnd.openxmlformats-officedocument.presentationml.slide+xml"/>
  <Override PartName="/ppt/slideMasters/slideMaster273.xml" ContentType="application/vnd.openxmlformats-officedocument.presentationml.slideMaster+xml"/>
  <Override PartName="/ppt/slides/slide273.xml" ContentType="application/vnd.openxmlformats-officedocument.presentationml.slide+xml"/>
  <Override PartName="/ppt/slideMasters/slideMaster274.xml" ContentType="application/vnd.openxmlformats-officedocument.presentationml.slideMaster+xml"/>
  <Override PartName="/ppt/slides/slide274.xml" ContentType="application/vnd.openxmlformats-officedocument.presentationml.slide+xml"/>
  <Override PartName="/ppt/slideMasters/slideMaster275.xml" ContentType="application/vnd.openxmlformats-officedocument.presentationml.slideMaster+xml"/>
  <Override PartName="/ppt/slides/slide275.xml" ContentType="application/vnd.openxmlformats-officedocument.presentationml.slide+xml"/>
  <Override PartName="/ppt/slideMasters/slideMaster276.xml" ContentType="application/vnd.openxmlformats-officedocument.presentationml.slideMaster+xml"/>
  <Override PartName="/ppt/slides/slide276.xml" ContentType="application/vnd.openxmlformats-officedocument.presentationml.slide+xml"/>
  <Override PartName="/ppt/slideMasters/slideMaster277.xml" ContentType="application/vnd.openxmlformats-officedocument.presentationml.slideMaster+xml"/>
  <Override PartName="/ppt/slides/slide277.xml" ContentType="application/vnd.openxmlformats-officedocument.presentationml.slide+xml"/>
  <Override PartName="/ppt/slideMasters/slideMaster278.xml" ContentType="application/vnd.openxmlformats-officedocument.presentationml.slideMaster+xml"/>
  <Override PartName="/ppt/slides/slide278.xml" ContentType="application/vnd.openxmlformats-officedocument.presentationml.slide+xml"/>
  <Override PartName="/ppt/slideMasters/slideMaster279.xml" ContentType="application/vnd.openxmlformats-officedocument.presentationml.slideMaster+xml"/>
  <Override PartName="/ppt/slides/slide279.xml" ContentType="application/vnd.openxmlformats-officedocument.presentationml.slide+xml"/>
  <Override PartName="/ppt/slideMasters/slideMaster280.xml" ContentType="application/vnd.openxmlformats-officedocument.presentationml.slideMaster+xml"/>
  <Override PartName="/ppt/slides/slide280.xml" ContentType="application/vnd.openxmlformats-officedocument.presentationml.slide+xml"/>
  <Override PartName="/ppt/slideMasters/slideMaster281.xml" ContentType="application/vnd.openxmlformats-officedocument.presentationml.slideMaster+xml"/>
  <Override PartName="/ppt/slides/slide281.xml" ContentType="application/vnd.openxmlformats-officedocument.presentationml.slide+xml"/>
  <Override PartName="/ppt/slideMasters/slideMaster282.xml" ContentType="application/vnd.openxmlformats-officedocument.presentationml.slideMaster+xml"/>
  <Override PartName="/ppt/slides/slide282.xml" ContentType="application/vnd.openxmlformats-officedocument.presentationml.slide+xml"/>
  <Override PartName="/ppt/slideMasters/slideMaster283.xml" ContentType="application/vnd.openxmlformats-officedocument.presentationml.slideMaster+xml"/>
  <Override PartName="/ppt/slides/slide283.xml" ContentType="application/vnd.openxmlformats-officedocument.presentationml.slide+xml"/>
  <Override PartName="/ppt/slideMasters/slideMaster284.xml" ContentType="application/vnd.openxmlformats-officedocument.presentationml.slideMaster+xml"/>
  <Override PartName="/ppt/slides/slide284.xml" ContentType="application/vnd.openxmlformats-officedocument.presentationml.slide+xml"/>
  <Override PartName="/ppt/slideMasters/slideMaster285.xml" ContentType="application/vnd.openxmlformats-officedocument.presentationml.slideMaster+xml"/>
  <Override PartName="/ppt/slides/slide285.xml" ContentType="application/vnd.openxmlformats-officedocument.presentationml.slide+xml"/>
  <Override PartName="/ppt/slideMasters/slideMaster286.xml" ContentType="application/vnd.openxmlformats-officedocument.presentationml.slideMaster+xml"/>
  <Override PartName="/ppt/slides/slide286.xml" ContentType="application/vnd.openxmlformats-officedocument.presentationml.slide+xml"/>
  <Override PartName="/ppt/slideMasters/slideMaster287.xml" ContentType="application/vnd.openxmlformats-officedocument.presentationml.slideMaster+xml"/>
  <Override PartName="/ppt/slides/slide287.xml" ContentType="application/vnd.openxmlformats-officedocument.presentationml.slide+xml"/>
  <Override PartName="/ppt/slideMasters/slideMaster288.xml" ContentType="application/vnd.openxmlformats-officedocument.presentationml.slideMaster+xml"/>
  <Override PartName="/ppt/slides/slide288.xml" ContentType="application/vnd.openxmlformats-officedocument.presentationml.slide+xml"/>
  <Override PartName="/ppt/slideMasters/slideMaster289.xml" ContentType="application/vnd.openxmlformats-officedocument.presentationml.slideMaster+xml"/>
  <Override PartName="/ppt/slides/slide289.xml" ContentType="application/vnd.openxmlformats-officedocument.presentationml.slide+xml"/>
  <Override PartName="/ppt/slideMasters/slideMaster290.xml" ContentType="application/vnd.openxmlformats-officedocument.presentationml.slideMaster+xml"/>
  <Override PartName="/ppt/slides/slide290.xml" ContentType="application/vnd.openxmlformats-officedocument.presentationml.slide+xml"/>
  <Override PartName="/ppt/slideMasters/slideMaster291.xml" ContentType="application/vnd.openxmlformats-officedocument.presentationml.slideMaster+xml"/>
  <Override PartName="/ppt/slides/slide291.xml" ContentType="application/vnd.openxmlformats-officedocument.presentationml.slide+xml"/>
  <Override PartName="/ppt/slideMasters/slideMaster292.xml" ContentType="application/vnd.openxmlformats-officedocument.presentationml.slideMaster+xml"/>
  <Override PartName="/ppt/slides/slide292.xml" ContentType="application/vnd.openxmlformats-officedocument.presentationml.slide+xml"/>
  <Override PartName="/ppt/slideMasters/slideMaster293.xml" ContentType="application/vnd.openxmlformats-officedocument.presentationml.slideMaster+xml"/>
  <Override PartName="/ppt/slides/slide293.xml" ContentType="application/vnd.openxmlformats-officedocument.presentationml.slide+xml"/>
  <Override PartName="/ppt/slideMasters/slideMaster294.xml" ContentType="application/vnd.openxmlformats-officedocument.presentationml.slideMaster+xml"/>
  <Override PartName="/ppt/slides/slide294.xml" ContentType="application/vnd.openxmlformats-officedocument.presentationml.slide+xml"/>
  <Override PartName="/ppt/slideMasters/slideMaster295.xml" ContentType="application/vnd.openxmlformats-officedocument.presentationml.slideMaster+xml"/>
  <Override PartName="/ppt/slides/slide295.xml" ContentType="application/vnd.openxmlformats-officedocument.presentationml.slide+xml"/>
  <Override PartName="/ppt/slideMasters/slideMaster296.xml" ContentType="application/vnd.openxmlformats-officedocument.presentationml.slideMaster+xml"/>
  <Override PartName="/ppt/slides/slide296.xml" ContentType="application/vnd.openxmlformats-officedocument.presentationml.slide+xml"/>
  <Override PartName="/ppt/slideMasters/slideMaster297.xml" ContentType="application/vnd.openxmlformats-officedocument.presentationml.slideMaster+xml"/>
  <Override PartName="/ppt/slides/slide297.xml" ContentType="application/vnd.openxmlformats-officedocument.presentationml.slide+xml"/>
  <Override PartName="/ppt/slideMasters/slideMaster298.xml" ContentType="application/vnd.openxmlformats-officedocument.presentationml.slideMaster+xml"/>
  <Override PartName="/ppt/slides/slide298.xml" ContentType="application/vnd.openxmlformats-officedocument.presentationml.slide+xml"/>
  <Override PartName="/ppt/slideMasters/slideMaster299.xml" ContentType="application/vnd.openxmlformats-officedocument.presentationml.slideMaster+xml"/>
  <Override PartName="/ppt/slides/slide299.xml" ContentType="application/vnd.openxmlformats-officedocument.presentationml.slide+xml"/>
  <Override PartName="/ppt/slideMasters/slideMaster300.xml" ContentType="application/vnd.openxmlformats-officedocument.presentationml.slideMaster+xml"/>
  <Override PartName="/ppt/slides/slide300.xml" ContentType="application/vnd.openxmlformats-officedocument.presentationml.slide+xml"/>
  <Override PartName="/ppt/slideMasters/slideMaster301.xml" ContentType="application/vnd.openxmlformats-officedocument.presentationml.slideMaster+xml"/>
  <Override PartName="/ppt/slides/slide301.xml" ContentType="application/vnd.openxmlformats-officedocument.presentationml.slide+xml"/>
  <Override PartName="/ppt/slideMasters/slideMaster302.xml" ContentType="application/vnd.openxmlformats-officedocument.presentationml.slideMaster+xml"/>
  <Override PartName="/ppt/slides/slide302.xml" ContentType="application/vnd.openxmlformats-officedocument.presentationml.slide+xml"/>
  <Override PartName="/ppt/slideMasters/slideMaster303.xml" ContentType="application/vnd.openxmlformats-officedocument.presentationml.slideMaster+xml"/>
  <Override PartName="/ppt/slides/slide303.xml" ContentType="application/vnd.openxmlformats-officedocument.presentationml.slide+xml"/>
  <Override PartName="/ppt/slideMasters/slideMaster304.xml" ContentType="application/vnd.openxmlformats-officedocument.presentationml.slideMaster+xml"/>
  <Override PartName="/ppt/slides/slide304.xml" ContentType="application/vnd.openxmlformats-officedocument.presentationml.slide+xml"/>
  <Override PartName="/ppt/slideMasters/slideMaster305.xml" ContentType="application/vnd.openxmlformats-officedocument.presentationml.slideMaster+xml"/>
  <Override PartName="/ppt/slides/slide305.xml" ContentType="application/vnd.openxmlformats-officedocument.presentationml.slide+xml"/>
  <Override PartName="/ppt/slideMasters/slideMaster306.xml" ContentType="application/vnd.openxmlformats-officedocument.presentationml.slideMaster+xml"/>
  <Override PartName="/ppt/slides/slide306.xml" ContentType="application/vnd.openxmlformats-officedocument.presentationml.slide+xml"/>
  <Override PartName="/ppt/slideMasters/slideMaster307.xml" ContentType="application/vnd.openxmlformats-officedocument.presentationml.slideMaster+xml"/>
  <Override PartName="/ppt/slides/slide307.xml" ContentType="application/vnd.openxmlformats-officedocument.presentationml.slide+xml"/>
  <Override PartName="/ppt/slideMasters/slideMaster308.xml" ContentType="application/vnd.openxmlformats-officedocument.presentationml.slideMaster+xml"/>
  <Override PartName="/ppt/slides/slide308.xml" ContentType="application/vnd.openxmlformats-officedocument.presentationml.slide+xml"/>
  <Override PartName="/ppt/slideMasters/slideMaster309.xml" ContentType="application/vnd.openxmlformats-officedocument.presentationml.slideMaster+xml"/>
  <Override PartName="/ppt/slides/slide309.xml" ContentType="application/vnd.openxmlformats-officedocument.presentationml.slide+xml"/>
  <Override PartName="/ppt/slideMasters/slideMaster310.xml" ContentType="application/vnd.openxmlformats-officedocument.presentationml.slideMaster+xml"/>
  <Override PartName="/ppt/slides/slide310.xml" ContentType="application/vnd.openxmlformats-officedocument.presentationml.slide+xml"/>
  <Override PartName="/ppt/slideMasters/slideMaster311.xml" ContentType="application/vnd.openxmlformats-officedocument.presentationml.slideMaster+xml"/>
  <Override PartName="/ppt/slides/slide311.xml" ContentType="application/vnd.openxmlformats-officedocument.presentationml.slide+xml"/>
  <Override PartName="/ppt/slideMasters/slideMaster312.xml" ContentType="application/vnd.openxmlformats-officedocument.presentationml.slideMaster+xml"/>
  <Override PartName="/ppt/slides/slide312.xml" ContentType="application/vnd.openxmlformats-officedocument.presentationml.slide+xml"/>
  <Override PartName="/ppt/slideMasters/slideMaster313.xml" ContentType="application/vnd.openxmlformats-officedocument.presentationml.slideMaster+xml"/>
  <Override PartName="/ppt/slides/slide313.xml" ContentType="application/vnd.openxmlformats-officedocument.presentationml.slide+xml"/>
  <Override PartName="/ppt/slideMasters/slideMaster314.xml" ContentType="application/vnd.openxmlformats-officedocument.presentationml.slideMaster+xml"/>
  <Override PartName="/ppt/slides/slide314.xml" ContentType="application/vnd.openxmlformats-officedocument.presentationml.slide+xml"/>
  <Override PartName="/ppt/slideMasters/slideMaster315.xml" ContentType="application/vnd.openxmlformats-officedocument.presentationml.slideMaster+xml"/>
  <Override PartName="/ppt/slides/slide315.xml" ContentType="application/vnd.openxmlformats-officedocument.presentationml.slide+xml"/>
  <Override PartName="/ppt/slideMasters/slideMaster316.xml" ContentType="application/vnd.openxmlformats-officedocument.presentationml.slideMaster+xml"/>
  <Override PartName="/ppt/slides/slide316.xml" ContentType="application/vnd.openxmlformats-officedocument.presentationml.slide+xml"/>
  <Override PartName="/ppt/slideMasters/slideMaster317.xml" ContentType="application/vnd.openxmlformats-officedocument.presentationml.slideMaster+xml"/>
  <Override PartName="/ppt/slides/slide317.xml" ContentType="application/vnd.openxmlformats-officedocument.presentationml.slide+xml"/>
  <Override PartName="/ppt/slideMasters/slideMaster318.xml" ContentType="application/vnd.openxmlformats-officedocument.presentationml.slideMaster+xml"/>
  <Override PartName="/ppt/slides/slide318.xml" ContentType="application/vnd.openxmlformats-officedocument.presentationml.slide+xml"/>
  <Override PartName="/ppt/slideMasters/slideMaster319.xml" ContentType="application/vnd.openxmlformats-officedocument.presentationml.slideMaster+xml"/>
  <Override PartName="/ppt/slides/slide319.xml" ContentType="application/vnd.openxmlformats-officedocument.presentationml.slide+xml"/>
  <Override PartName="/ppt/slideMasters/slideMaster320.xml" ContentType="application/vnd.openxmlformats-officedocument.presentationml.slideMaster+xml"/>
  <Override PartName="/ppt/slides/slide320.xml" ContentType="application/vnd.openxmlformats-officedocument.presentationml.slide+xml"/>
  <Override PartName="/ppt/slideMasters/slideMaster321.xml" ContentType="application/vnd.openxmlformats-officedocument.presentationml.slideMaster+xml"/>
  <Override PartName="/ppt/slides/slide321.xml" ContentType="application/vnd.openxmlformats-officedocument.presentationml.slide+xml"/>
  <Override PartName="/ppt/slideMasters/slideMaster322.xml" ContentType="application/vnd.openxmlformats-officedocument.presentationml.slideMaster+xml"/>
  <Override PartName="/ppt/slides/slide322.xml" ContentType="application/vnd.openxmlformats-officedocument.presentationml.slide+xml"/>
  <Override PartName="/ppt/slideMasters/slideMaster323.xml" ContentType="application/vnd.openxmlformats-officedocument.presentationml.slideMaster+xml"/>
  <Override PartName="/ppt/slides/slide323.xml" ContentType="application/vnd.openxmlformats-officedocument.presentationml.slide+xml"/>
  <Override PartName="/ppt/slideMasters/slideMaster324.xml" ContentType="application/vnd.openxmlformats-officedocument.presentationml.slideMaster+xml"/>
  <Override PartName="/ppt/slides/slide324.xml" ContentType="application/vnd.openxmlformats-officedocument.presentationml.slide+xml"/>
  <Override PartName="/ppt/slideMasters/slideMaster325.xml" ContentType="application/vnd.openxmlformats-officedocument.presentationml.slideMaster+xml"/>
  <Override PartName="/ppt/slides/slide325.xml" ContentType="application/vnd.openxmlformats-officedocument.presentationml.slide+xml"/>
  <Override PartName="/ppt/slideMasters/slideMaster326.xml" ContentType="application/vnd.openxmlformats-officedocument.presentationml.slideMaster+xml"/>
  <Override PartName="/ppt/slides/slide326.xml" ContentType="application/vnd.openxmlformats-officedocument.presentationml.slide+xml"/>
  <Override PartName="/ppt/slideMasters/slideMaster327.xml" ContentType="application/vnd.openxmlformats-officedocument.presentationml.slideMaster+xml"/>
  <Override PartName="/ppt/slides/slide327.xml" ContentType="application/vnd.openxmlformats-officedocument.presentationml.slide+xml"/>
  <Override PartName="/ppt/slideMasters/slideMaster328.xml" ContentType="application/vnd.openxmlformats-officedocument.presentationml.slideMaster+xml"/>
  <Override PartName="/ppt/slides/slide328.xml" ContentType="application/vnd.openxmlformats-officedocument.presentationml.slide+xml"/>
  <Override PartName="/ppt/slideMasters/slideMaster329.xml" ContentType="application/vnd.openxmlformats-officedocument.presentationml.slideMaster+xml"/>
  <Override PartName="/ppt/slides/slide329.xml" ContentType="application/vnd.openxmlformats-officedocument.presentationml.slide+xml"/>
  <Override PartName="/ppt/slideMasters/slideMaster330.xml" ContentType="application/vnd.openxmlformats-officedocument.presentationml.slideMaster+xml"/>
  <Override PartName="/ppt/slides/slide330.xml" ContentType="application/vnd.openxmlformats-officedocument.presentationml.slide+xml"/>
  <Override PartName="/ppt/slideMasters/slideMaster331.xml" ContentType="application/vnd.openxmlformats-officedocument.presentationml.slideMaster+xml"/>
  <Override PartName="/ppt/slides/slide331.xml" ContentType="application/vnd.openxmlformats-officedocument.presentationml.slide+xml"/>
  <Override PartName="/ppt/slideMasters/slideMaster332.xml" ContentType="application/vnd.openxmlformats-officedocument.presentationml.slideMaster+xml"/>
  <Override PartName="/ppt/slides/slide332.xml" ContentType="application/vnd.openxmlformats-officedocument.presentationml.slide+xml"/>
  <Override PartName="/ppt/slideMasters/slideMaster333.xml" ContentType="application/vnd.openxmlformats-officedocument.presentationml.slideMaster+xml"/>
  <Override PartName="/ppt/slides/slide3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Lst>
  <p:notesMasterIdLst>
    <p:notesMasterId r:id="rId3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notesMaster" Target="notesMasters/notesMaster1.xml"/><Relationship Id="rId336" Type="http://schemas.openxmlformats.org/officeDocument/2006/relationships/presProps" Target="presProps.xml"/><Relationship Id="rId337" Type="http://schemas.openxmlformats.org/officeDocument/2006/relationships/viewProps" Target="viewProps.xml"/><Relationship Id="rId338" Type="http://schemas.openxmlformats.org/officeDocument/2006/relationships/theme" Target="theme/theme1.xml"/><Relationship Id="rId3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_rels/notesSlide2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6.xml"/>
		</Relationships>
</file>

<file path=ppt/notesSlides/_rels/notesSlide2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7.xml"/>
		</Relationships>
</file>

<file path=ppt/notesSlides/_rels/notesSlide2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8.xml"/>
		</Relationships>
</file>

<file path=ppt/notesSlides/_rels/notesSlide2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9.xml"/>
		</Relationships>
</file>

<file path=ppt/notesSlides/_rels/notesSlide2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0.xml"/>
		</Relationships>
</file>

<file path=ppt/notesSlides/_rels/notesSlide2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1.xml"/>
		</Relationships>
</file>

<file path=ppt/notesSlides/_rels/notesSlide2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2.xml"/>
		</Relationships>
</file>

<file path=ppt/notesSlides/_rels/notesSlide2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3.xml"/>
		</Relationships>
</file>

<file path=ppt/notesSlides/_rels/notesSlide2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4.xml"/>
		</Relationships>
</file>

<file path=ppt/notesSlides/_rels/notesSlide2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5.xml"/>
		</Relationships>
</file>

<file path=ppt/notesSlides/_rels/notesSlide2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6.xml"/>
		</Relationships>
</file>

<file path=ppt/notesSlides/_rels/notesSlide2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7.xml"/>
		</Relationships>
</file>

<file path=ppt/notesSlides/_rels/notesSlide2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8.xml"/>
		</Relationships>
</file>

<file path=ppt/notesSlides/_rels/notesSlide2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9.xml"/>
		</Relationships>
</file>

<file path=ppt/notesSlides/_rels/notesSlide2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0.xml"/>
		</Relationships>
</file>

<file path=ppt/notesSlides/_rels/notesSlide2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1.xml"/>
		</Relationships>
</file>

<file path=ppt/notesSlides/_rels/notesSlide2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2.xml"/>
		</Relationships>
</file>

<file path=ppt/notesSlides/_rels/notesSlide2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3.xml"/>
		</Relationships>
</file>

<file path=ppt/notesSlides/_rels/notesSlide2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4.xml"/>
		</Relationships>
</file>

<file path=ppt/notesSlides/_rels/notesSlide2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5.xml"/>
		</Relationships>
</file>

<file path=ppt/notesSlides/_rels/notesSlide2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6.xml"/>
		</Relationships>
</file>

<file path=ppt/notesSlides/_rels/notesSlide2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7.xml"/>
		</Relationships>
</file>

<file path=ppt/notesSlides/_rels/notesSlide2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8.xml"/>
		</Relationships>
</file>

<file path=ppt/notesSlides/_rels/notesSlide2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9.xml"/>
		</Relationships>
</file>

<file path=ppt/notesSlides/_rels/notesSlide2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0.xml"/>
		</Relationships>
</file>

<file path=ppt/notesSlides/_rels/notesSlide2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1.xml"/>
		</Relationships>
</file>

<file path=ppt/notesSlides/_rels/notesSlide2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2.xml"/>
		</Relationships>
</file>

<file path=ppt/notesSlides/_rels/notesSlide2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3.xml"/>
		</Relationships>
</file>

<file path=ppt/notesSlides/_rels/notesSlide2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4.xml"/>
		</Relationships>
</file>

<file path=ppt/notesSlides/_rels/notesSlide2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5.xml"/>
		</Relationships>
</file>

<file path=ppt/notesSlides/_rels/notesSlide2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6.xml"/>
		</Relationships>
</file>

<file path=ppt/notesSlides/_rels/notesSlide2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7.xml"/>
		</Relationships>
</file>

<file path=ppt/notesSlides/_rels/notesSlide2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8.xml"/>
		</Relationships>
</file>

<file path=ppt/notesSlides/_rels/notesSlide2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9.xml"/>
		</Relationships>
</file>

<file path=ppt/notesSlides/_rels/notesSlide2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0.xml"/>
		</Relationships>
</file>

<file path=ppt/notesSlides/_rels/notesSlide2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1.xml"/>
		</Relationships>
</file>

<file path=ppt/notesSlides/_rels/notesSlide2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2.xml"/>
		</Relationships>
</file>

<file path=ppt/notesSlides/_rels/notesSlide2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3.xml"/>
		</Relationships>
</file>

<file path=ppt/notesSlides/_rels/notesSlide2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4.xml"/>
		</Relationships>
</file>

<file path=ppt/notesSlides/_rels/notesSlide2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5.xml"/>
		</Relationships>
</file>

<file path=ppt/notesSlides/_rels/notesSlide2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6.xml"/>
		</Relationships>
</file>

<file path=ppt/notesSlides/_rels/notesSlide2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7.xml"/>
		</Relationships>
</file>

<file path=ppt/notesSlides/_rels/notesSlide2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8.xml"/>
		</Relationships>
</file>

<file path=ppt/notesSlides/_rels/notesSlide2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9.xml"/>
		</Relationships>
</file>

<file path=ppt/notesSlides/_rels/notesSlide3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0.xml"/>
		</Relationships>
</file>

<file path=ppt/notesSlides/_rels/notesSlide3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1.xml"/>
		</Relationships>
</file>

<file path=ppt/notesSlides/_rels/notesSlide3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2.xml"/>
		</Relationships>
</file>

<file path=ppt/notesSlides/_rels/notesSlide3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3.xml"/>
		</Relationships>
</file>

<file path=ppt/notesSlides/_rels/notesSlide3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4.xml"/>
		</Relationships>
</file>

<file path=ppt/notesSlides/_rels/notesSlide3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5.xml"/>
		</Relationships>
</file>

<file path=ppt/notesSlides/_rels/notesSlide3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6.xml"/>
		</Relationships>
</file>

<file path=ppt/notesSlides/_rels/notesSlide3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7.xml"/>
		</Relationships>
</file>

<file path=ppt/notesSlides/_rels/notesSlide3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8.xml"/>
		</Relationships>
</file>

<file path=ppt/notesSlides/_rels/notesSlide3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9.xml"/>
		</Relationships>
</file>

<file path=ppt/notesSlides/_rels/notesSlide3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0.xml"/>
		</Relationships>
</file>

<file path=ppt/notesSlides/_rels/notesSlide3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1.xml"/>
		</Relationships>
</file>

<file path=ppt/notesSlides/_rels/notesSlide3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2.xml"/>
		</Relationships>
</file>

<file path=ppt/notesSlides/_rels/notesSlide3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3.xml"/>
		</Relationships>
</file>

<file path=ppt/notesSlides/_rels/notesSlide3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4.xml"/>
		</Relationships>
</file>

<file path=ppt/notesSlides/_rels/notesSlide3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5.xml"/>
		</Relationships>
</file>

<file path=ppt/notesSlides/_rels/notesSlide3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6.xml"/>
		</Relationships>
</file>

<file path=ppt/notesSlides/_rels/notesSlide3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7.xml"/>
		</Relationships>
</file>

<file path=ppt/notesSlides/_rels/notesSlide3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8.xml"/>
		</Relationships>
</file>

<file path=ppt/notesSlides/_rels/notesSlide3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9.xml"/>
		</Relationships>
</file>

<file path=ppt/notesSlides/_rels/notesSlide3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0.xml"/>
		</Relationships>
</file>

<file path=ppt/notesSlides/_rels/notesSlide3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1.xml"/>
		</Relationships>
</file>

<file path=ppt/notesSlides/_rels/notesSlide3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2.xml"/>
		</Relationships>
</file>

<file path=ppt/notesSlides/_rels/notesSlide3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3.xml"/>
		</Relationships>
</file>

<file path=ppt/notesSlides/_rels/notesSlide3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4.xml"/>
		</Relationships>
</file>

<file path=ppt/notesSlides/_rels/notesSlide3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5.xml"/>
		</Relationships>
</file>

<file path=ppt/notesSlides/_rels/notesSlide3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6.xml"/>
		</Relationships>
</file>

<file path=ppt/notesSlides/_rels/notesSlide3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7.xml"/>
		</Relationships>
</file>

<file path=ppt/notesSlides/_rels/notesSlide3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8.xml"/>
		</Relationships>
</file>

<file path=ppt/notesSlides/_rels/notesSlide3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9.xml"/>
		</Relationships>
</file>

<file path=ppt/notesSlides/_rels/notesSlide3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0.xml"/>
		</Relationships>
</file>

<file path=ppt/notesSlides/_rels/notesSlide3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1.xml"/>
		</Relationships>
</file>

<file path=ppt/notesSlides/_rels/notesSlide3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2.xml"/>
		</Relationships>
</file>

<file path=ppt/notesSlides/_rels/notesSlide3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jp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jp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jp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jp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jp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jp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jp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jp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jp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jp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jp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jp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jp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jp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jp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jp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jp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jp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jp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jp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jp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jp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jp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jp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jp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jp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jp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jp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jp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jp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jp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jp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jp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jp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jp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jp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jp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jp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jp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jp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jp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jp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jp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jp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jp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image-154-1.jp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155-1.jp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image-156-1.jp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image-157-1.jp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image-158-1.jp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image-159-1.jpg"/><Relationship Id="rId2" Type="http://schemas.openxmlformats.org/officeDocument/2006/relationships/slideLayout" Target="../slideLayouts/slideLayout1.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image-160-1.jpg"/><Relationship Id="rId2" Type="http://schemas.openxmlformats.org/officeDocument/2006/relationships/slideLayout" Target="../slideLayouts/slideLayout1.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image-161-1.jpg"/><Relationship Id="rId2" Type="http://schemas.openxmlformats.org/officeDocument/2006/relationships/slideLayout" Target="../slideLayouts/slideLayout1.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image-163-1.jpg"/><Relationship Id="rId2" Type="http://schemas.openxmlformats.org/officeDocument/2006/relationships/slideLayout" Target="../slideLayouts/slideLayout1.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image" Target="../media/image-164-1.jpg"/><Relationship Id="rId2" Type="http://schemas.openxmlformats.org/officeDocument/2006/relationships/slideLayout" Target="../slideLayouts/slideLayout1.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image" Target="../media/image-165-1.jpg"/><Relationship Id="rId2" Type="http://schemas.openxmlformats.org/officeDocument/2006/relationships/slideLayout" Target="../slideLayouts/slideLayout1.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image" Target="../media/image-166-1.jpg"/><Relationship Id="rId2" Type="http://schemas.openxmlformats.org/officeDocument/2006/relationships/slideLayout" Target="../slideLayouts/slideLayout1.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image" Target="../media/image-167-1.jpg"/><Relationship Id="rId2" Type="http://schemas.openxmlformats.org/officeDocument/2006/relationships/slideLayout" Target="../slideLayouts/slideLayout1.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image" Target="../media/image-168-1.jpg"/><Relationship Id="rId2" Type="http://schemas.openxmlformats.org/officeDocument/2006/relationships/slideLayout" Target="../slideLayouts/slideLayout1.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image-169-1.jpg"/><Relationship Id="rId2" Type="http://schemas.openxmlformats.org/officeDocument/2006/relationships/slideLayout" Target="../slideLayouts/slideLayout1.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image-170-1.jpg"/><Relationship Id="rId2" Type="http://schemas.openxmlformats.org/officeDocument/2006/relationships/slideLayout" Target="../slideLayouts/slideLayout1.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image" Target="../media/image-171-1.jpg"/><Relationship Id="rId2" Type="http://schemas.openxmlformats.org/officeDocument/2006/relationships/slideLayout" Target="../slideLayouts/slideLayout1.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image-172-1.jpg"/><Relationship Id="rId2" Type="http://schemas.openxmlformats.org/officeDocument/2006/relationships/slideLayout" Target="../slideLayouts/slideLayout1.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image" Target="../media/image-173-1.jpg"/><Relationship Id="rId2" Type="http://schemas.openxmlformats.org/officeDocument/2006/relationships/slideLayout" Target="../slideLayouts/slideLayout1.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image-174-1.jpg"/><Relationship Id="rId2" Type="http://schemas.openxmlformats.org/officeDocument/2006/relationships/slideLayout" Target="../slideLayouts/slideLayout1.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image" Target="../media/image-176-1.jpg"/><Relationship Id="rId2" Type="http://schemas.openxmlformats.org/officeDocument/2006/relationships/slideLayout" Target="../slideLayouts/slideLayout1.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image" Target="../media/image-177-1.jpg"/><Relationship Id="rId2" Type="http://schemas.openxmlformats.org/officeDocument/2006/relationships/slideLayout" Target="../slideLayouts/slideLayout1.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image" Target="../media/image-178-1.jpg"/><Relationship Id="rId2" Type="http://schemas.openxmlformats.org/officeDocument/2006/relationships/slideLayout" Target="../slideLayouts/slideLayout1.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image" Target="../media/image-179-1.jpg"/><Relationship Id="rId2" Type="http://schemas.openxmlformats.org/officeDocument/2006/relationships/slideLayout" Target="../slideLayouts/slideLayout1.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image-180-1.jpg"/><Relationship Id="rId2" Type="http://schemas.openxmlformats.org/officeDocument/2006/relationships/slideLayout" Target="../slideLayouts/slideLayout1.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image" Target="../media/image-181-1.jpg"/><Relationship Id="rId2" Type="http://schemas.openxmlformats.org/officeDocument/2006/relationships/slideLayout" Target="../slideLayouts/slideLayout1.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image" Target="../media/image-182-1.jpg"/><Relationship Id="rId2" Type="http://schemas.openxmlformats.org/officeDocument/2006/relationships/slideLayout" Target="../slideLayouts/slideLayout1.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image-184-1.jpg"/><Relationship Id="rId2" Type="http://schemas.openxmlformats.org/officeDocument/2006/relationships/slideLayout" Target="../slideLayouts/slideLayout1.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image" Target="../media/image-185-1.jpg"/><Relationship Id="rId2" Type="http://schemas.openxmlformats.org/officeDocument/2006/relationships/slideLayout" Target="../slideLayouts/slideLayout1.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image" Target="../media/image-186-1.jpg"/><Relationship Id="rId2" Type="http://schemas.openxmlformats.org/officeDocument/2006/relationships/slideLayout" Target="../slideLayouts/slideLayout1.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image" Target="../media/image-191-1.jpg"/><Relationship Id="rId2" Type="http://schemas.openxmlformats.org/officeDocument/2006/relationships/slideLayout" Target="../slideLayouts/slideLayout1.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image" Target="../media/image-192-1.jpg"/><Relationship Id="rId2" Type="http://schemas.openxmlformats.org/officeDocument/2006/relationships/slideLayout" Target="../slideLayouts/slideLayout1.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image" Target="../media/image-193-1.jpg"/><Relationship Id="rId2" Type="http://schemas.openxmlformats.org/officeDocument/2006/relationships/slideLayout" Target="../slideLayouts/slideLayout1.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image" Target="../media/image-195-1.jpg"/><Relationship Id="rId2" Type="http://schemas.openxmlformats.org/officeDocument/2006/relationships/slideLayout" Target="../slideLayouts/slideLayout1.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image" Target="../media/image-196-1.jpg"/><Relationship Id="rId2" Type="http://schemas.openxmlformats.org/officeDocument/2006/relationships/slideLayout" Target="../slideLayouts/slideLayout1.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image" Target="../media/image-197-1.jpg"/><Relationship Id="rId2" Type="http://schemas.openxmlformats.org/officeDocument/2006/relationships/slideLayout" Target="../slideLayouts/slideLayout1.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image" Target="../media/image-198-1.jpg"/><Relationship Id="rId2" Type="http://schemas.openxmlformats.org/officeDocument/2006/relationships/slideLayout" Target="../slideLayouts/slideLayout1.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image" Target="../media/image-200-1.jpg"/><Relationship Id="rId2" Type="http://schemas.openxmlformats.org/officeDocument/2006/relationships/slideLayout" Target="../slideLayouts/slideLayout1.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image" Target="../media/image-201-1.jpg"/><Relationship Id="rId2" Type="http://schemas.openxmlformats.org/officeDocument/2006/relationships/slideLayout" Target="../slideLayouts/slideLayout1.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image" Target="../media/image-202-1.jpg"/><Relationship Id="rId2" Type="http://schemas.openxmlformats.org/officeDocument/2006/relationships/slideLayout" Target="../slideLayouts/slideLayout1.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image" Target="../media/image-203-1.jpg"/><Relationship Id="rId2" Type="http://schemas.openxmlformats.org/officeDocument/2006/relationships/slideLayout" Target="../slideLayouts/slideLayout1.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image" Target="../media/image-204-1.jpg"/><Relationship Id="rId2" Type="http://schemas.openxmlformats.org/officeDocument/2006/relationships/slideLayout" Target="../slideLayouts/slideLayout1.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image" Target="../media/image-205-1.jpg"/><Relationship Id="rId2" Type="http://schemas.openxmlformats.org/officeDocument/2006/relationships/slideLayout" Target="../slideLayouts/slideLayout1.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image" Target="../media/image-207-1.jpg"/><Relationship Id="rId2" Type="http://schemas.openxmlformats.org/officeDocument/2006/relationships/slideLayout" Target="../slideLayouts/slideLayout1.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image" Target="../media/image-208-1.jpg"/><Relationship Id="rId2" Type="http://schemas.openxmlformats.org/officeDocument/2006/relationships/slideLayout" Target="../slideLayouts/slideLayout1.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image" Target="../media/image-209-1.jpg"/><Relationship Id="rId2" Type="http://schemas.openxmlformats.org/officeDocument/2006/relationships/slideLayout" Target="../slideLayouts/slideLayout1.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image" Target="../media/image-210-1.jpg"/><Relationship Id="rId2" Type="http://schemas.openxmlformats.org/officeDocument/2006/relationships/slideLayout" Target="../slideLayouts/slideLayout1.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image" Target="../media/image-211-1.jpg"/><Relationship Id="rId2" Type="http://schemas.openxmlformats.org/officeDocument/2006/relationships/slideLayout" Target="../slideLayouts/slideLayout1.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image" Target="../media/image-216-1.jpg"/><Relationship Id="rId2" Type="http://schemas.openxmlformats.org/officeDocument/2006/relationships/slideLayout" Target="../slideLayouts/slideLayout1.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image" Target="../media/image-217-1.jpg"/><Relationship Id="rId2" Type="http://schemas.openxmlformats.org/officeDocument/2006/relationships/slideLayout" Target="../slideLayouts/slideLayout1.xml"/><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image" Target="../media/image-218-1.jpg"/><Relationship Id="rId2" Type="http://schemas.openxmlformats.org/officeDocument/2006/relationships/slideLayout" Target="../slideLayouts/slideLayout1.xml"/><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image" Target="../media/image-219-1.jpg"/><Relationship Id="rId2" Type="http://schemas.openxmlformats.org/officeDocument/2006/relationships/slideLayout" Target="../slideLayouts/slideLayout1.xml"/><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image" Target="../media/image-221-1.jpg"/><Relationship Id="rId2" Type="http://schemas.openxmlformats.org/officeDocument/2006/relationships/slideLayout" Target="../slideLayouts/slideLayout1.xml"/><Relationship Id="rId3"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image" Target="../media/image-222-1.jpg"/><Relationship Id="rId2" Type="http://schemas.openxmlformats.org/officeDocument/2006/relationships/slideLayout" Target="../slideLayouts/slideLayout1.xml"/><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image" Target="../media/image-223-1.jpg"/><Relationship Id="rId2" Type="http://schemas.openxmlformats.org/officeDocument/2006/relationships/slideLayout" Target="../slideLayouts/slideLayout1.xml"/><Relationship Id="rId3"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image" Target="../media/image-225-1.jpg"/><Relationship Id="rId2" Type="http://schemas.openxmlformats.org/officeDocument/2006/relationships/slideLayout" Target="../slideLayouts/slideLayout1.xml"/><Relationship Id="rId3"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image" Target="../media/image-226-1.jpg"/><Relationship Id="rId2" Type="http://schemas.openxmlformats.org/officeDocument/2006/relationships/slideLayout" Target="../slideLayouts/slideLayout1.xml"/><Relationship Id="rId3"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image" Target="../media/image-228-1.jpg"/><Relationship Id="rId2" Type="http://schemas.openxmlformats.org/officeDocument/2006/relationships/slideLayout" Target="../slideLayouts/slideLayout1.xml"/><Relationship Id="rId3"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image" Target="../media/image-229-1.jpg"/><Relationship Id="rId2" Type="http://schemas.openxmlformats.org/officeDocument/2006/relationships/slideLayout" Target="../slideLayouts/slideLayout1.xml"/><Relationship Id="rId3"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image" Target="../media/image-231-1.jpg"/><Relationship Id="rId2" Type="http://schemas.openxmlformats.org/officeDocument/2006/relationships/slideLayout" Target="../slideLayouts/slideLayout1.xml"/><Relationship Id="rId3"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image" Target="../media/image-233-1.jpg"/><Relationship Id="rId2" Type="http://schemas.openxmlformats.org/officeDocument/2006/relationships/slideLayout" Target="../slideLayouts/slideLayout1.xml"/><Relationship Id="rId3"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image" Target="../media/image-234-1.jpg"/><Relationship Id="rId2" Type="http://schemas.openxmlformats.org/officeDocument/2006/relationships/slideLayout" Target="../slideLayouts/slideLayout1.xml"/><Relationship Id="rId3"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image" Target="../media/image-235-1.jpg"/><Relationship Id="rId2" Type="http://schemas.openxmlformats.org/officeDocument/2006/relationships/slideLayout" Target="../slideLayouts/slideLayout1.xml"/><Relationship Id="rId3"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image" Target="../media/image-236-1.jpg"/><Relationship Id="rId2" Type="http://schemas.openxmlformats.org/officeDocument/2006/relationships/slideLayout" Target="../slideLayouts/slideLayout1.xml"/><Relationship Id="rId3"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image" Target="../media/image-238-1.jpg"/><Relationship Id="rId2" Type="http://schemas.openxmlformats.org/officeDocument/2006/relationships/slideLayout" Target="../slideLayouts/slideLayout1.xml"/><Relationship Id="rId3"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image" Target="../media/image-239-1.jpg"/><Relationship Id="rId2" Type="http://schemas.openxmlformats.org/officeDocument/2006/relationships/slideLayout" Target="../slideLayouts/slideLayout1.xml"/><Relationship Id="rId3"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image" Target="../media/image-240-1.jpg"/><Relationship Id="rId2" Type="http://schemas.openxmlformats.org/officeDocument/2006/relationships/slideLayout" Target="../slideLayouts/slideLayout1.xml"/><Relationship Id="rId3"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image" Target="../media/image-241-1.jpg"/><Relationship Id="rId2" Type="http://schemas.openxmlformats.org/officeDocument/2006/relationships/slideLayout" Target="../slideLayouts/slideLayout1.xml"/><Relationship Id="rId3"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image" Target="../media/image-242-1.jpg"/><Relationship Id="rId2" Type="http://schemas.openxmlformats.org/officeDocument/2006/relationships/slideLayout" Target="../slideLayouts/slideLayout1.xml"/><Relationship Id="rId3"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image" Target="../media/image-243-1.jpg"/><Relationship Id="rId2" Type="http://schemas.openxmlformats.org/officeDocument/2006/relationships/slideLayout" Target="../slideLayouts/slideLayout1.xml"/><Relationship Id="rId3"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image" Target="../media/image-248-1.jpg"/><Relationship Id="rId2" Type="http://schemas.openxmlformats.org/officeDocument/2006/relationships/slideLayout" Target="../slideLayouts/slideLayout1.xml"/><Relationship Id="rId3"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image" Target="../media/image-249-1.jpg"/><Relationship Id="rId2" Type="http://schemas.openxmlformats.org/officeDocument/2006/relationships/slideLayout" Target="../slideLayouts/slideLayout1.xml"/><Relationship Id="rId3"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image" Target="../media/image-250-1.jpg"/><Relationship Id="rId2" Type="http://schemas.openxmlformats.org/officeDocument/2006/relationships/slideLayout" Target="../slideLayouts/slideLayout1.xml"/><Relationship Id="rId3"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image" Target="../media/image-252-1.jpg"/><Relationship Id="rId2" Type="http://schemas.openxmlformats.org/officeDocument/2006/relationships/slideLayout" Target="../slideLayouts/slideLayout1.xml"/><Relationship Id="rId3"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image" Target="../media/image-253-1.jpg"/><Relationship Id="rId2" Type="http://schemas.openxmlformats.org/officeDocument/2006/relationships/slideLayout" Target="../slideLayouts/slideLayout1.xml"/><Relationship Id="rId3"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image" Target="../media/image-254-1.jpg"/><Relationship Id="rId2" Type="http://schemas.openxmlformats.org/officeDocument/2006/relationships/slideLayout" Target="../slideLayouts/slideLayout1.xml"/><Relationship Id="rId3"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image" Target="../media/image-255-1.jpg"/><Relationship Id="rId2" Type="http://schemas.openxmlformats.org/officeDocument/2006/relationships/slideLayout" Target="../slideLayouts/slideLayout1.xml"/><Relationship Id="rId3"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image" Target="../media/image-256-1.jpg"/><Relationship Id="rId2" Type="http://schemas.openxmlformats.org/officeDocument/2006/relationships/slideLayout" Target="../slideLayouts/slideLayout1.xml"/><Relationship Id="rId3"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image" Target="../media/image-257-1.jpg"/><Relationship Id="rId2" Type="http://schemas.openxmlformats.org/officeDocument/2006/relationships/slideLayout" Target="../slideLayouts/slideLayout1.xml"/><Relationship Id="rId3"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image" Target="../media/image-259-1.jpg"/><Relationship Id="rId2" Type="http://schemas.openxmlformats.org/officeDocument/2006/relationships/slideLayout" Target="../slideLayouts/slideLayout1.xml"/><Relationship Id="rId3"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image" Target="../media/image-260-1.jpg"/><Relationship Id="rId2" Type="http://schemas.openxmlformats.org/officeDocument/2006/relationships/slideLayout" Target="../slideLayouts/slideLayout1.xml"/><Relationship Id="rId3"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image" Target="../media/image-261-1.jpg"/><Relationship Id="rId2" Type="http://schemas.openxmlformats.org/officeDocument/2006/relationships/slideLayout" Target="../slideLayouts/slideLayout1.xml"/><Relationship Id="rId3"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image" Target="../media/image-263-1.jpg"/><Relationship Id="rId2" Type="http://schemas.openxmlformats.org/officeDocument/2006/relationships/slideLayout" Target="../slideLayouts/slideLayout1.xml"/><Relationship Id="rId3"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image" Target="../media/image-264-1.jpg"/><Relationship Id="rId2" Type="http://schemas.openxmlformats.org/officeDocument/2006/relationships/slideLayout" Target="../slideLayouts/slideLayout1.xml"/><Relationship Id="rId3"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image" Target="../media/image-265-1.jpg"/><Relationship Id="rId2" Type="http://schemas.openxmlformats.org/officeDocument/2006/relationships/slideLayout" Target="../slideLayouts/slideLayout1.xml"/><Relationship Id="rId3"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image" Target="../media/image-266-1.jpg"/><Relationship Id="rId2" Type="http://schemas.openxmlformats.org/officeDocument/2006/relationships/slideLayout" Target="../slideLayouts/slideLayout1.xml"/><Relationship Id="rId3"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image" Target="../media/image-267-1.jpg"/><Relationship Id="rId2" Type="http://schemas.openxmlformats.org/officeDocument/2006/relationships/slideLayout" Target="../slideLayouts/slideLayout1.xml"/><Relationship Id="rId3"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image" Target="../media/image-268-1.jpg"/><Relationship Id="rId2" Type="http://schemas.openxmlformats.org/officeDocument/2006/relationships/slideLayout" Target="../slideLayouts/slideLayout1.xml"/><Relationship Id="rId3"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image" Target="../media/image-270-1.jpg"/><Relationship Id="rId2" Type="http://schemas.openxmlformats.org/officeDocument/2006/relationships/slideLayout" Target="../slideLayouts/slideLayout1.xml"/><Relationship Id="rId3"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image" Target="../media/image-271-1.jpg"/><Relationship Id="rId2" Type="http://schemas.openxmlformats.org/officeDocument/2006/relationships/slideLayout" Target="../slideLayouts/slideLayout1.xml"/><Relationship Id="rId3"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image" Target="../media/image-272-1.jpg"/><Relationship Id="rId2" Type="http://schemas.openxmlformats.org/officeDocument/2006/relationships/slideLayout" Target="../slideLayouts/slideLayout1.xml"/><Relationship Id="rId3"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image" Target="../media/image-273-1.jpg"/><Relationship Id="rId2" Type="http://schemas.openxmlformats.org/officeDocument/2006/relationships/slideLayout" Target="../slideLayouts/slideLayout1.xml"/><Relationship Id="rId3"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image" Target="../media/image-278-1.jpg"/><Relationship Id="rId2" Type="http://schemas.openxmlformats.org/officeDocument/2006/relationships/slideLayout" Target="../slideLayouts/slideLayout1.xml"/><Relationship Id="rId3"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image" Target="../media/image-279-1.jpg"/><Relationship Id="rId2" Type="http://schemas.openxmlformats.org/officeDocument/2006/relationships/slideLayout" Target="../slideLayouts/slideLayout1.xml"/><Relationship Id="rId3"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image" Target="../media/image-280-1.jpg"/><Relationship Id="rId2" Type="http://schemas.openxmlformats.org/officeDocument/2006/relationships/slideLayout" Target="../slideLayouts/slideLayout1.xml"/><Relationship Id="rId3"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image" Target="../media/image-282-1.jpg"/><Relationship Id="rId2" Type="http://schemas.openxmlformats.org/officeDocument/2006/relationships/slideLayout" Target="../slideLayouts/slideLayout1.xml"/><Relationship Id="rId3"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image" Target="../media/image-283-1.jpg"/><Relationship Id="rId2" Type="http://schemas.openxmlformats.org/officeDocument/2006/relationships/slideLayout" Target="../slideLayouts/slideLayout1.xml"/><Relationship Id="rId3"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image" Target="../media/image-288-1.jpg"/><Relationship Id="rId2" Type="http://schemas.openxmlformats.org/officeDocument/2006/relationships/slideLayout" Target="../slideLayouts/slideLayout1.xml"/><Relationship Id="rId3"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image" Target="../media/image-289-1.jpg"/><Relationship Id="rId2" Type="http://schemas.openxmlformats.org/officeDocument/2006/relationships/slideLayout" Target="../slideLayouts/slideLayout1.xml"/><Relationship Id="rId3"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image" Target="../media/image-290-1.jpg"/><Relationship Id="rId2" Type="http://schemas.openxmlformats.org/officeDocument/2006/relationships/slideLayout" Target="../slideLayouts/slideLayout1.xml"/><Relationship Id="rId3"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image" Target="../media/image-291-1.jpg"/><Relationship Id="rId2" Type="http://schemas.openxmlformats.org/officeDocument/2006/relationships/slideLayout" Target="../slideLayouts/slideLayout1.xml"/><Relationship Id="rId3"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image" Target="../media/image-292-1.jpg"/><Relationship Id="rId2" Type="http://schemas.openxmlformats.org/officeDocument/2006/relationships/slideLayout" Target="../slideLayouts/slideLayout1.xml"/><Relationship Id="rId3"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image" Target="../media/image-293-1.jpg"/><Relationship Id="rId2" Type="http://schemas.openxmlformats.org/officeDocument/2006/relationships/slideLayout" Target="../slideLayouts/slideLayout1.xml"/><Relationship Id="rId3"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image" Target="../media/image-295-1.jpg"/><Relationship Id="rId2" Type="http://schemas.openxmlformats.org/officeDocument/2006/relationships/slideLayout" Target="../slideLayouts/slideLayout1.xml"/><Relationship Id="rId3"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image" Target="../media/image-296-1.jpg"/><Relationship Id="rId2" Type="http://schemas.openxmlformats.org/officeDocument/2006/relationships/slideLayout" Target="../slideLayouts/slideLayout1.xml"/><Relationship Id="rId3"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image" Target="../media/image-297-1.jpg"/><Relationship Id="rId2" Type="http://schemas.openxmlformats.org/officeDocument/2006/relationships/slideLayout" Target="../slideLayouts/slideLayout1.xml"/><Relationship Id="rId3"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image" Target="../media/image-298-1.jpg"/><Relationship Id="rId2" Type="http://schemas.openxmlformats.org/officeDocument/2006/relationships/slideLayout" Target="../slideLayouts/slideLayout1.xml"/><Relationship Id="rId3"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image" Target="../media/image-299-1.jpg"/><Relationship Id="rId2" Type="http://schemas.openxmlformats.org/officeDocument/2006/relationships/slideLayout" Target="../slideLayouts/slideLayout1.xml"/><Relationship Id="rId3"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image" Target="../media/image-300-1.jpg"/><Relationship Id="rId2" Type="http://schemas.openxmlformats.org/officeDocument/2006/relationships/slideLayout" Target="../slideLayouts/slideLayout1.xml"/><Relationship Id="rId3"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image" Target="../media/image-302-1.jpg"/><Relationship Id="rId2" Type="http://schemas.openxmlformats.org/officeDocument/2006/relationships/slideLayout" Target="../slideLayouts/slideLayout1.xml"/><Relationship Id="rId3"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image" Target="../media/image-303-1.jpg"/><Relationship Id="rId2" Type="http://schemas.openxmlformats.org/officeDocument/2006/relationships/slideLayout" Target="../slideLayouts/slideLayout1.xml"/><Relationship Id="rId3"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image" Target="../media/image-304-1.jpg"/><Relationship Id="rId2" Type="http://schemas.openxmlformats.org/officeDocument/2006/relationships/slideLayout" Target="../slideLayouts/slideLayout1.xml"/><Relationship Id="rId3"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image" Target="../media/image-305-1.jpg"/><Relationship Id="rId2" Type="http://schemas.openxmlformats.org/officeDocument/2006/relationships/slideLayout" Target="../slideLayouts/slideLayout1.xml"/><Relationship Id="rId3"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image" Target="../media/image-307-1.jpg"/><Relationship Id="rId2" Type="http://schemas.openxmlformats.org/officeDocument/2006/relationships/slideLayout" Target="../slideLayouts/slideLayout1.xml"/><Relationship Id="rId3"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image" Target="../media/image-308-1.jpg"/><Relationship Id="rId2" Type="http://schemas.openxmlformats.org/officeDocument/2006/relationships/slideLayout" Target="../slideLayouts/slideLayout1.xml"/><Relationship Id="rId3"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image" Target="../media/image-309-1.jpg"/><Relationship Id="rId2" Type="http://schemas.openxmlformats.org/officeDocument/2006/relationships/slideLayout" Target="../slideLayouts/slideLayout1.xml"/><Relationship Id="rId3"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image" Target="../media/image-310-1.jpg"/><Relationship Id="rId2" Type="http://schemas.openxmlformats.org/officeDocument/2006/relationships/slideLayout" Target="../slideLayouts/slideLayout1.xml"/><Relationship Id="rId3"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image" Target="../media/image-311-1.jpg"/><Relationship Id="rId2" Type="http://schemas.openxmlformats.org/officeDocument/2006/relationships/slideLayout" Target="../slideLayouts/slideLayout1.xml"/><Relationship Id="rId3"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image" Target="../media/image-313-1.jpg"/><Relationship Id="rId2" Type="http://schemas.openxmlformats.org/officeDocument/2006/relationships/slideLayout" Target="../slideLayouts/slideLayout1.xml"/><Relationship Id="rId3"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image" Target="../media/image-314-1.jpg"/><Relationship Id="rId2" Type="http://schemas.openxmlformats.org/officeDocument/2006/relationships/slideLayout" Target="../slideLayouts/slideLayout1.xml"/><Relationship Id="rId3"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image" Target="../media/image-315-1.jpg"/><Relationship Id="rId2" Type="http://schemas.openxmlformats.org/officeDocument/2006/relationships/slideLayout" Target="../slideLayouts/slideLayout1.xml"/><Relationship Id="rId3" Type="http://schemas.openxmlformats.org/officeDocument/2006/relationships/notesSlide" Target="../notesSlides/notesSlide31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image" Target="../media/image-317-1.jpg"/><Relationship Id="rId2" Type="http://schemas.openxmlformats.org/officeDocument/2006/relationships/slideLayout" Target="../slideLayouts/slideLayout1.xml"/><Relationship Id="rId3"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image" Target="../media/image-318-1.jpg"/><Relationship Id="rId2" Type="http://schemas.openxmlformats.org/officeDocument/2006/relationships/slideLayout" Target="../slideLayouts/slideLayout1.xml"/><Relationship Id="rId3"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image" Target="../media/image-319-1.jpg"/><Relationship Id="rId2" Type="http://schemas.openxmlformats.org/officeDocument/2006/relationships/slideLayout" Target="../slideLayouts/slideLayout1.xml"/><Relationship Id="rId3" Type="http://schemas.openxmlformats.org/officeDocument/2006/relationships/notesSlide" Target="../notesSlides/notesSlide319.xml"/></Relationships>
</file>

<file path=ppt/slides/_rels/slide320.xml.rels><?xml version="1.0" encoding="UTF-8" standalone="yes"?>
<Relationships xmlns="http://schemas.openxmlformats.org/package/2006/relationships"><Relationship Id="rId1" Type="http://schemas.openxmlformats.org/officeDocument/2006/relationships/image" Target="../media/image-320-1.jpg"/><Relationship Id="rId2" Type="http://schemas.openxmlformats.org/officeDocument/2006/relationships/slideLayout" Target="../slideLayouts/slideLayout1.xml"/><Relationship Id="rId3"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image" Target="../media/image-325-1.jpg"/><Relationship Id="rId2" Type="http://schemas.openxmlformats.org/officeDocument/2006/relationships/slideLayout" Target="../slideLayouts/slideLayout1.xml"/><Relationship Id="rId3"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image" Target="../media/image-326-1.jpg"/><Relationship Id="rId2" Type="http://schemas.openxmlformats.org/officeDocument/2006/relationships/slideLayout" Target="../slideLayouts/slideLayout1.xml"/><Relationship Id="rId3"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image" Target="../media/image-327-1.jpg"/><Relationship Id="rId2" Type="http://schemas.openxmlformats.org/officeDocument/2006/relationships/slideLayout" Target="../slideLayouts/slideLayout1.xml"/><Relationship Id="rId3" Type="http://schemas.openxmlformats.org/officeDocument/2006/relationships/notesSlide" Target="../notesSlides/notesSlide32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image" Target="../media/image-329-1.jpg"/><Relationship Id="rId2" Type="http://schemas.openxmlformats.org/officeDocument/2006/relationships/slideLayout" Target="../slideLayouts/slideLayout1.xml"/><Relationship Id="rId3"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image" Target="../media/image-331-1.jpg"/><Relationship Id="rId2" Type="http://schemas.openxmlformats.org/officeDocument/2006/relationships/slideLayout" Target="../slideLayouts/slideLayout1.xml"/><Relationship Id="rId3" Type="http://schemas.openxmlformats.org/officeDocument/2006/relationships/notesSlide" Target="../notesSlides/notesSlide331.xml"/></Relationships>
</file>

<file path=ppt/slides/_rels/slide332.xml.rels><?xml version="1.0" encoding="UTF-8" standalone="yes"?>
<Relationships xmlns="http://schemas.openxmlformats.org/package/2006/relationships"><Relationship Id="rId1" Type="http://schemas.openxmlformats.org/officeDocument/2006/relationships/image" Target="../media/image-332-1.jpg"/><Relationship Id="rId2" Type="http://schemas.openxmlformats.org/officeDocument/2006/relationships/slideLayout" Target="../slideLayouts/slideLayout1.xml"/><Relationship Id="rId3" Type="http://schemas.openxmlformats.org/officeDocument/2006/relationships/notesSlide" Target="../notesSlides/notesSlide33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a:t>
            </a:r>
            <a:endParaRPr lang="en-US" sz="1400" dirty="0"/>
          </a:p>
        </p:txBody>
      </p:sp>
      <p:sp>
        <p:nvSpPr>
          <p:cNvPr id="4" name="Text 2"/>
          <p:cNvSpPr/>
          <p:nvPr/>
        </p:nvSpPr>
        <p:spPr>
          <a:xfrm>
            <a:off x="812780" y="1206500"/>
            <a:ext cx="10477238" cy="1270000"/>
          </a:xfrm>
          <a:prstGeom prst="rect">
            <a:avLst/>
          </a:prstGeom>
          <a:noFill/>
          <a:ln/>
        </p:spPr>
        <p:txBody>
          <a:bodyPr wrap="square" rtlCol="0" anchor="t">
            <a:normAutofit/>
          </a:bodyPr>
          <a:lstStyle/>
          <a:p>
            <a:pPr indent="0" marL="0">
              <a:buNone/>
            </a:pPr>
            <a:r>
              <a:rPr lang="en-US" sz="4400" b="1" dirty="0">
                <a:solidFill>
                  <a:srgbClr val="FCFCFA"/>
                </a:solidFill>
                <a:latin typeface="Segoe UI" pitchFamily="34" charset="0"/>
                <a:ea typeface="Segoe UI" pitchFamily="34" charset="-122"/>
                <a:cs typeface="Segoe UI" pitchFamily="34" charset="-120"/>
              </a:rPr>
              <a:t>PRS 2.0 — L’application de bout en bout</a:t>
            </a:r>
            <a:endParaRPr lang="en-US" sz="4400" dirty="0"/>
          </a:p>
        </p:txBody>
      </p:sp>
      <p:sp>
        <p:nvSpPr>
          <p:cNvPr id="5" name="Text 3"/>
          <p:cNvSpPr/>
          <p:nvPr/>
        </p:nvSpPr>
        <p:spPr>
          <a:xfrm>
            <a:off x="812780" y="2730500"/>
            <a:ext cx="9524762" cy="1079500"/>
          </a:xfrm>
          <a:prstGeom prst="rect">
            <a:avLst/>
          </a:prstGeom>
          <a:noFill/>
          <a:ln/>
        </p:spPr>
        <p:txBody>
          <a:bodyPr wrap="square" rtlCol="0" anchor="t"/>
          <a:lstStyle/>
          <a:p>
            <a:pPr indent="0" marL="0">
              <a:buNone/>
            </a:pPr>
            <a:r>
              <a:rPr lang="en-US" sz="2200" dirty="0">
                <a:solidFill>
                  <a:srgbClr val="C9D6E2"/>
                </a:solidFill>
                <a:latin typeface="Segoe UI" pitchFamily="34" charset="0"/>
                <a:ea typeface="Segoe UI" pitchFamily="34" charset="-122"/>
                <a:cs typeface="Segoe UI" pitchFamily="34" charset="-120"/>
              </a:rPr>
              <a:t>Du plan de passation au marché notifié : chaque étape, chaque écran, qui y agit, et ce que l’application garantit à la Commission nationale des marchés.</a:t>
            </a:r>
            <a:endParaRPr lang="en-US" sz="2200" dirty="0"/>
          </a:p>
        </p:txBody>
      </p:sp>
      <p:sp>
        <p:nvSpPr>
          <p:cNvPr id="6" name="Text 4"/>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Pour la direction de la Commission nationale des marchés et du Ministère de l’Économie et des Finances</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POUR LA DIRECTION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PRS 2.0 change pour la Commission</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Six changements de fond, que chaque partie détaille écran par écran.</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seul circuit, entièrement en ligne</a:t>
            </a:r>
            <a:endParaRPr lang="en-US" sz="1500" dirty="0"/>
          </a:p>
        </p:txBody>
      </p:sp>
      <p:sp>
        <p:nvSpPr>
          <p:cNvPr id="8" name="Text 6"/>
          <p:cNvSpPr/>
          <p:nvPr/>
        </p:nvSpPr>
        <p:spPr>
          <a:xfrm>
            <a:off x="952476" y="22098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Du plan de passation au marché signé, chaque dossier suit le même circuit tracé : </a:t>
            </a:r>
            <a:pPr indent="0" marL="0">
              <a:buNone/>
            </a:pPr>
            <a:r>
              <a:rPr lang="en-US" sz="1200" b="1" dirty="0">
                <a:solidFill>
                  <a:srgbClr val="1B2A3A"/>
                </a:solidFill>
                <a:latin typeface="Segoe UI" pitchFamily="34" charset="0"/>
                <a:ea typeface="Segoe UI" pitchFamily="34" charset="-122"/>
                <a:cs typeface="Segoe UI" pitchFamily="34" charset="-120"/>
              </a:rPr>
              <a:t>réception, dispatch, examen, PV, visa, signature, vérification</a:t>
            </a:r>
            <a:pPr indent="0" marL="0">
              <a:buNone/>
            </a:pPr>
            <a:r>
              <a:rPr lang="en-US" sz="1200" dirty="0">
                <a:solidFill>
                  <a:srgbClr val="465568"/>
                </a:solidFill>
                <a:latin typeface="Segoe UI" pitchFamily="34" charset="0"/>
                <a:ea typeface="Segoe UI" pitchFamily="34" charset="-122"/>
                <a:cs typeface="Segoe UI" pitchFamily="34" charset="-120"/>
              </a:rPr>
              <a:t>. Plus de dossier papier qui circule.</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 contrôle porte sur les données</a:t>
            </a:r>
            <a:endParaRPr lang="en-US" sz="1500" dirty="0"/>
          </a:p>
        </p:txBody>
      </p:sp>
      <p:sp>
        <p:nvSpPr>
          <p:cNvPr id="12" name="Text 10"/>
          <p:cNvSpPr/>
          <p:nvPr/>
        </p:nvSpPr>
        <p:spPr>
          <a:xfrm>
            <a:off x="4525320" y="22098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informations saisies une fois dans l’application — plan, fiche du DAO, offres, évaluation — sont </a:t>
            </a:r>
            <a:pPr indent="0" marL="0">
              <a:buNone/>
            </a:pPr>
            <a:r>
              <a:rPr lang="en-US" sz="1200" b="1" dirty="0">
                <a:solidFill>
                  <a:srgbClr val="1B2A3A"/>
                </a:solidFill>
                <a:latin typeface="Segoe UI" pitchFamily="34" charset="0"/>
                <a:ea typeface="Segoe UI" pitchFamily="34" charset="-122"/>
                <a:cs typeface="Segoe UI" pitchFamily="34" charset="-120"/>
              </a:rPr>
              <a:t>figées à la soumission</a:t>
            </a:r>
            <a:pPr indent="0" marL="0">
              <a:buNone/>
            </a:pPr>
            <a:r>
              <a:rPr lang="en-US" sz="1200" dirty="0">
                <a:solidFill>
                  <a:srgbClr val="465568"/>
                </a:solidFill>
                <a:latin typeface="Segoe UI" pitchFamily="34" charset="0"/>
                <a:ea typeface="Segoe UI" pitchFamily="34" charset="-122"/>
                <a:cs typeface="Segoe UI" pitchFamily="34" charset="-120"/>
              </a:rPr>
              <a:t> et contrôlées telles quelles, à la place des copies scannées.</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délais légaux tenus par l’application</a:t>
            </a:r>
            <a:endParaRPr lang="en-US" sz="1500" dirty="0"/>
          </a:p>
        </p:txBody>
      </p:sp>
      <p:sp>
        <p:nvSpPr>
          <p:cNvPr id="16" name="Text 14"/>
          <p:cNvSpPr/>
          <p:nvPr/>
        </p:nvSpPr>
        <p:spPr>
          <a:xfrm>
            <a:off x="8098164" y="22098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Délai d’attente, publicité, pièces de l’attributaire, examen : l’application </a:t>
            </a:r>
            <a:pPr indent="0" marL="0">
              <a:buNone/>
            </a:pPr>
            <a:r>
              <a:rPr lang="en-US" sz="1200" b="1" dirty="0">
                <a:solidFill>
                  <a:srgbClr val="1B2A3A"/>
                </a:solidFill>
                <a:latin typeface="Segoe UI" pitchFamily="34" charset="0"/>
                <a:ea typeface="Segoe UI" pitchFamily="34" charset="-122"/>
                <a:cs typeface="Segoe UI" pitchFamily="34" charset="-120"/>
              </a:rPr>
              <a:t>compte les délais du code</a:t>
            </a:r>
            <a:pPr indent="0" marL="0">
              <a:buNone/>
            </a:pPr>
            <a:r>
              <a:rPr lang="en-US" sz="1200" dirty="0">
                <a:solidFill>
                  <a:srgbClr val="465568"/>
                </a:solidFill>
                <a:latin typeface="Segoe UI" pitchFamily="34" charset="0"/>
                <a:ea typeface="Segoe UI" pitchFamily="34" charset="-122"/>
                <a:cs typeface="Segoe UI" pitchFamily="34" charset="-120"/>
              </a:rPr>
              <a:t>, bloque le geste prématuré et signale le retard.</a:t>
            </a:r>
            <a:endParaRPr lang="en-US" sz="1200" dirty="0"/>
          </a:p>
        </p:txBody>
      </p:sp>
      <p:sp>
        <p:nvSpPr>
          <p:cNvPr id="17" name="Shape 15"/>
          <p:cNvSpPr/>
          <p:nvPr/>
        </p:nvSpPr>
        <p:spPr>
          <a:xfrm>
            <a:off x="812780" y="3962400"/>
            <a:ext cx="3420448" cy="2159000"/>
          </a:xfrm>
          <a:prstGeom prst="rect">
            <a:avLst/>
          </a:prstGeom>
          <a:solidFill>
            <a:srgbClr val="FCFCFA"/>
          </a:solidFill>
          <a:ln w="9525">
            <a:solidFill>
              <a:srgbClr val="D5DCE4"/>
            </a:solidFill>
            <a:prstDash val="solid"/>
          </a:ln>
        </p:spPr>
      </p:sp>
      <p:sp>
        <p:nvSpPr>
          <p:cNvPr id="18" name="Shape 16"/>
          <p:cNvSpPr/>
          <p:nvPr/>
        </p:nvSpPr>
        <p:spPr>
          <a:xfrm>
            <a:off x="812780" y="3962400"/>
            <a:ext cx="3420448" cy="38100"/>
          </a:xfrm>
          <a:prstGeom prst="rect">
            <a:avLst/>
          </a:prstGeom>
          <a:solidFill>
            <a:srgbClr val="12324A"/>
          </a:solidFill>
          <a:ln/>
        </p:spPr>
      </p:sp>
      <p:sp>
        <p:nvSpPr>
          <p:cNvPr id="19" name="Text 17"/>
          <p:cNvSpPr/>
          <p:nvPr/>
        </p:nvSpPr>
        <p:spPr>
          <a:xfrm>
            <a:off x="952476" y="40640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offres déposées en ligne, scellées</a:t>
            </a:r>
            <a:endParaRPr lang="en-US" sz="1500" dirty="0"/>
          </a:p>
        </p:txBody>
      </p:sp>
      <p:sp>
        <p:nvSpPr>
          <p:cNvPr id="20" name="Text 18"/>
          <p:cNvSpPr/>
          <p:nvPr/>
        </p:nvSpPr>
        <p:spPr>
          <a:xfrm>
            <a:off x="952476" y="45212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entreprises remplissent et déposent leur offre en ligne ; elle reste </a:t>
            </a:r>
            <a:pPr indent="0" marL="0">
              <a:buNone/>
            </a:pPr>
            <a:r>
              <a:rPr lang="en-US" sz="1200" b="1" dirty="0">
                <a:solidFill>
                  <a:srgbClr val="1B2A3A"/>
                </a:solidFill>
                <a:latin typeface="Segoe UI" pitchFamily="34" charset="0"/>
                <a:ea typeface="Segoe UI" pitchFamily="34" charset="-122"/>
                <a:cs typeface="Segoe UI" pitchFamily="34" charset="-120"/>
              </a:rPr>
              <a:t>illisible de tous</a:t>
            </a:r>
            <a:pPr indent="0" marL="0">
              <a:buNone/>
            </a:pPr>
            <a:r>
              <a:rPr lang="en-US" sz="1200" dirty="0">
                <a:solidFill>
                  <a:srgbClr val="465568"/>
                </a:solidFill>
                <a:latin typeface="Segoe UI" pitchFamily="34" charset="0"/>
                <a:ea typeface="Segoe UI" pitchFamily="34" charset="-122"/>
                <a:cs typeface="Segoe UI" pitchFamily="34" charset="-120"/>
              </a:rPr>
              <a:t> jusqu’à l’ouverture en séance, au quorum des membres de la commission.</a:t>
            </a:r>
            <a:endParaRPr lang="en-US" sz="1200" dirty="0"/>
          </a:p>
        </p:txBody>
      </p:sp>
      <p:sp>
        <p:nvSpPr>
          <p:cNvPr id="21" name="Shape 19"/>
          <p:cNvSpPr/>
          <p:nvPr/>
        </p:nvSpPr>
        <p:spPr>
          <a:xfrm>
            <a:off x="4385624" y="3962400"/>
            <a:ext cx="3420448" cy="2159000"/>
          </a:xfrm>
          <a:prstGeom prst="rect">
            <a:avLst/>
          </a:prstGeom>
          <a:solidFill>
            <a:srgbClr val="FCFCFA"/>
          </a:solidFill>
          <a:ln w="9525">
            <a:solidFill>
              <a:srgbClr val="D5DCE4"/>
            </a:solidFill>
            <a:prstDash val="solid"/>
          </a:ln>
        </p:spPr>
      </p:sp>
      <p:sp>
        <p:nvSpPr>
          <p:cNvPr id="22" name="Shape 20"/>
          <p:cNvSpPr/>
          <p:nvPr/>
        </p:nvSpPr>
        <p:spPr>
          <a:xfrm>
            <a:off x="4385624" y="3962400"/>
            <a:ext cx="3420448" cy="38100"/>
          </a:xfrm>
          <a:prstGeom prst="rect">
            <a:avLst/>
          </a:prstGeom>
          <a:solidFill>
            <a:srgbClr val="1B6FA8"/>
          </a:solidFill>
          <a:ln/>
        </p:spPr>
      </p:sp>
      <p:sp>
        <p:nvSpPr>
          <p:cNvPr id="23" name="Text 21"/>
          <p:cNvSpPr/>
          <p:nvPr/>
        </p:nvSpPr>
        <p:spPr>
          <a:xfrm>
            <a:off x="4525320" y="40640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traçabilité complète</a:t>
            </a:r>
            <a:endParaRPr lang="en-US" sz="1500" dirty="0"/>
          </a:p>
        </p:txBody>
      </p:sp>
      <p:sp>
        <p:nvSpPr>
          <p:cNvPr id="24" name="Text 22"/>
          <p:cNvSpPr/>
          <p:nvPr/>
        </p:nvSpPr>
        <p:spPr>
          <a:xfrm>
            <a:off x="4525320" y="43497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Chaque geste est horodaté et attribué à son auteur ; ce que la Commission contrôle est </a:t>
            </a:r>
            <a:pPr indent="0" marL="0">
              <a:buNone/>
            </a:pPr>
            <a:r>
              <a:rPr lang="en-US" sz="1200" b="1" dirty="0">
                <a:solidFill>
                  <a:srgbClr val="1B2A3A"/>
                </a:solidFill>
                <a:latin typeface="Segoe UI" pitchFamily="34" charset="0"/>
                <a:ea typeface="Segoe UI" pitchFamily="34" charset="-122"/>
                <a:cs typeface="Segoe UI" pitchFamily="34" charset="-120"/>
              </a:rPr>
              <a:t>figé à la soumission</a:t>
            </a:r>
            <a:pPr indent="0" marL="0">
              <a:buNone/>
            </a:pPr>
            <a:r>
              <a:rPr lang="en-US" sz="1200" dirty="0">
                <a:solidFill>
                  <a:srgbClr val="465568"/>
                </a:solidFill>
                <a:latin typeface="Segoe UI" pitchFamily="34" charset="0"/>
                <a:ea typeface="Segoe UI" pitchFamily="34" charset="-122"/>
                <a:cs typeface="Segoe UI" pitchFamily="34" charset="-120"/>
              </a:rPr>
              <a:t>, avec une empreinte qui atteste qu’il n’a pas été modifié depuis.</a:t>
            </a:r>
            <a:endParaRPr lang="en-US" sz="1200" dirty="0"/>
          </a:p>
        </p:txBody>
      </p:sp>
      <p:sp>
        <p:nvSpPr>
          <p:cNvPr id="25" name="Shape 23"/>
          <p:cNvSpPr/>
          <p:nvPr/>
        </p:nvSpPr>
        <p:spPr>
          <a:xfrm>
            <a:off x="7958468" y="3962400"/>
            <a:ext cx="3420448" cy="2159000"/>
          </a:xfrm>
          <a:prstGeom prst="rect">
            <a:avLst/>
          </a:prstGeom>
          <a:solidFill>
            <a:srgbClr val="FCFCFA"/>
          </a:solidFill>
          <a:ln w="9525">
            <a:solidFill>
              <a:srgbClr val="D5DCE4"/>
            </a:solidFill>
            <a:prstDash val="solid"/>
          </a:ln>
        </p:spPr>
      </p:sp>
      <p:sp>
        <p:nvSpPr>
          <p:cNvPr id="26" name="Shape 24"/>
          <p:cNvSpPr/>
          <p:nvPr/>
        </p:nvSpPr>
        <p:spPr>
          <a:xfrm>
            <a:off x="7958468" y="3962400"/>
            <a:ext cx="3420448" cy="38100"/>
          </a:xfrm>
          <a:prstGeom prst="rect">
            <a:avLst/>
          </a:prstGeom>
          <a:solidFill>
            <a:srgbClr val="2E8B57"/>
          </a:solidFill>
          <a:ln/>
        </p:spPr>
      </p:sp>
      <p:sp>
        <p:nvSpPr>
          <p:cNvPr id="27" name="Text 25"/>
          <p:cNvSpPr/>
          <p:nvPr/>
        </p:nvSpPr>
        <p:spPr>
          <a:xfrm>
            <a:off x="8098164" y="40640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règles paramétrées par l’Administrateur</a:t>
            </a:r>
            <a:endParaRPr lang="en-US" sz="1500" dirty="0"/>
          </a:p>
        </p:txBody>
      </p:sp>
      <p:sp>
        <p:nvSpPr>
          <p:cNvPr id="28" name="Text 26"/>
          <p:cNvSpPr/>
          <p:nvPr/>
        </p:nvSpPr>
        <p:spPr>
          <a:xfrm>
            <a:off x="8098164" y="45212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Seuils, délais, quorum, recours suspensifs, points de contrôle : les règles évoluent </a:t>
            </a:r>
            <a:pPr indent="0" marL="0">
              <a:buNone/>
            </a:pPr>
            <a:r>
              <a:rPr lang="en-US" sz="1200" b="1" dirty="0">
                <a:solidFill>
                  <a:srgbClr val="1B2A3A"/>
                </a:solidFill>
                <a:latin typeface="Segoe UI" pitchFamily="34" charset="0"/>
                <a:ea typeface="Segoe UI" pitchFamily="34" charset="-122"/>
                <a:cs typeface="Segoe UI" pitchFamily="34" charset="-120"/>
              </a:rPr>
              <a:t>sans redéveloppement</a:t>
            </a:r>
            <a:pPr indent="0" marL="0">
              <a:buNone/>
            </a:pPr>
            <a:r>
              <a:rPr lang="en-US" sz="1200" dirty="0">
                <a:solidFill>
                  <a:srgbClr val="465568"/>
                </a:solidFill>
                <a:latin typeface="Segoe UI" pitchFamily="34" charset="0"/>
                <a:ea typeface="Segoe UI" pitchFamily="34" charset="-122"/>
                <a:cs typeface="Segoe UI" pitchFamily="34" charset="-120"/>
              </a:rPr>
              <a:t>, et chaque changement est journalisé.</a:t>
            </a:r>
            <a:endParaRPr lang="en-US" sz="1200" dirty="0"/>
          </a:p>
        </p:txBody>
      </p:sp>
      <p:sp>
        <p:nvSpPr>
          <p:cNvPr id="29" name="Text 2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VUE D’ENSEMBLE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plan de passation au marché notifié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Un marché inscrit au plan traverse deux contrôles de la Commission : celui du plan, puis celui de son dossier de consultation — et, après l’évaluation des offres, celui du dossier de marché.</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02</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Planifier</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PRMP saisit et soumet son plan de passation.</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03</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Contrôler</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examine ; le PV est visé et signé.</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04 · 05</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Préparer</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fiche du DAO produit le dossier d’appel d’offres.</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06 · 07</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Consulter</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offres arrivent en ligne, scellées, puis s’ouvrent en séance.</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08</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Évaluer</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d’appel d’offres évalue et propose l’attributaire.</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09</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Attribuer</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 marché est contrôlé, signé, notifié et publié.</a:t>
            </a:r>
            <a:endParaRPr lang="en-US" sz="1150" dirty="0"/>
          </a:p>
        </p:txBody>
      </p:sp>
      <p:sp>
        <p:nvSpPr>
          <p:cNvPr id="34" name="Text 32"/>
          <p:cNvSpPr/>
          <p:nvPr/>
        </p:nvSpPr>
        <p:spPr>
          <a:xfrm>
            <a:off x="812780" y="3937000"/>
            <a:ext cx="10566136" cy="762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Autour de la chaîne : l’</a:t>
            </a:r>
            <a:pPr indent="0" marL="0">
              <a:buNone/>
            </a:pPr>
            <a:r>
              <a:rPr lang="en-US" sz="1300" b="1" dirty="0">
                <a:solidFill>
                  <a:srgbClr val="1B2A3A"/>
                </a:solidFill>
                <a:latin typeface="Segoe UI" pitchFamily="34" charset="0"/>
                <a:ea typeface="Segoe UI" pitchFamily="34" charset="-122"/>
                <a:cs typeface="Segoe UI" pitchFamily="34" charset="-120"/>
              </a:rPr>
              <a:t>entrée</a:t>
            </a:r>
            <a:pPr indent="0" marL="0">
              <a:buNone/>
            </a:pPr>
            <a:r>
              <a:rPr lang="en-US" sz="1300" dirty="0">
                <a:solidFill>
                  <a:srgbClr val="465568"/>
                </a:solidFill>
                <a:latin typeface="Segoe UI" pitchFamily="34" charset="0"/>
                <a:ea typeface="Segoe UI" pitchFamily="34" charset="-122"/>
                <a:cs typeface="Segoe UI" pitchFamily="34" charset="-120"/>
              </a:rPr>
              <a:t> dans l’application (01), l’</a:t>
            </a:r>
            <a:pPr indent="0" marL="0">
              <a:buNone/>
            </a:pPr>
            <a:r>
              <a:rPr lang="en-US" sz="1300" b="1" dirty="0">
                <a:solidFill>
                  <a:srgbClr val="1B2A3A"/>
                </a:solidFill>
                <a:latin typeface="Segoe UI" pitchFamily="34" charset="0"/>
                <a:ea typeface="Segoe UI" pitchFamily="34" charset="-122"/>
                <a:cs typeface="Segoe UI" pitchFamily="34" charset="-120"/>
              </a:rPr>
              <a:t>intérim</a:t>
            </a:r>
            <a:pPr indent="0" marL="0">
              <a:buNone/>
            </a:pPr>
            <a:r>
              <a:rPr lang="en-US" sz="1300" dirty="0">
                <a:solidFill>
                  <a:srgbClr val="465568"/>
                </a:solidFill>
                <a:latin typeface="Segoe UI" pitchFamily="34" charset="0"/>
                <a:ea typeface="Segoe UI" pitchFamily="34" charset="-122"/>
                <a:cs typeface="Segoe UI" pitchFamily="34" charset="-120"/>
              </a:rPr>
              <a:t> et les mandats (10), l’</a:t>
            </a:r>
            <a:pPr indent="0" marL="0">
              <a:buNone/>
            </a:pPr>
            <a:r>
              <a:rPr lang="en-US" sz="1300" b="1" dirty="0">
                <a:solidFill>
                  <a:srgbClr val="1B2A3A"/>
                </a:solidFill>
                <a:latin typeface="Segoe UI" pitchFamily="34" charset="0"/>
                <a:ea typeface="Segoe UI" pitchFamily="34" charset="-122"/>
                <a:cs typeface="Segoe UI" pitchFamily="34" charset="-120"/>
              </a:rPr>
              <a:t>administration</a:t>
            </a:r>
            <a:pPr indent="0" marL="0">
              <a:buNone/>
            </a:pPr>
            <a:r>
              <a:rPr lang="en-US" sz="1300" dirty="0">
                <a:solidFill>
                  <a:srgbClr val="465568"/>
                </a:solidFill>
                <a:latin typeface="Segoe UI" pitchFamily="34" charset="0"/>
                <a:ea typeface="Segoe UI" pitchFamily="34" charset="-122"/>
                <a:cs typeface="Segoe UI" pitchFamily="34" charset="-120"/>
              </a:rPr>
              <a:t> (11), le </a:t>
            </a:r>
            <a:pPr indent="0" marL="0">
              <a:buNone/>
            </a:pPr>
            <a:r>
              <a:rPr lang="en-US" sz="1300" b="1" dirty="0">
                <a:solidFill>
                  <a:srgbClr val="1B2A3A"/>
                </a:solidFill>
                <a:latin typeface="Segoe UI" pitchFamily="34" charset="0"/>
                <a:ea typeface="Segoe UI" pitchFamily="34" charset="-122"/>
                <a:cs typeface="Segoe UI" pitchFamily="34" charset="-120"/>
              </a:rPr>
              <a:t>pilotage</a:t>
            </a:r>
            <a:pPr indent="0" marL="0">
              <a:buNone/>
            </a:pPr>
            <a:r>
              <a:rPr lang="en-US" sz="1300" dirty="0">
                <a:solidFill>
                  <a:srgbClr val="465568"/>
                </a:solidFill>
                <a:latin typeface="Segoe UI" pitchFamily="34" charset="0"/>
                <a:ea typeface="Segoe UI" pitchFamily="34" charset="-122"/>
                <a:cs typeface="Segoe UI" pitchFamily="34" charset="-120"/>
              </a:rPr>
              <a:t> et la publication (12).</a:t>
            </a:r>
            <a:endParaRPr lang="en-US" sz="1300" dirty="0"/>
          </a:p>
        </p:txBody>
      </p:sp>
      <p:sp>
        <p:nvSpPr>
          <p:cNvPr id="35" name="Text 3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ACTEURS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Qui intervient, et dans quel espace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L’espace interne réunit la PRMP, son unité de gestion et les profils de la Commission ; les entreprises, la commission d’appel d’offres et le dépositaire de la clé de secours ont chacun un espace à part.</a:t>
            </a:r>
            <a:endParaRPr lang="en-US" sz="1300" dirty="0"/>
          </a:p>
        </p:txBody>
      </p:sp>
      <p:sp>
        <p:nvSpPr>
          <p:cNvPr id="5" name="Shape 3"/>
          <p:cNvSpPr/>
          <p:nvPr/>
        </p:nvSpPr>
        <p:spPr>
          <a:xfrm>
            <a:off x="812780" y="1651000"/>
            <a:ext cx="2527237" cy="2159000"/>
          </a:xfrm>
          <a:prstGeom prst="rect">
            <a:avLst/>
          </a:prstGeom>
          <a:solidFill>
            <a:srgbClr val="FCFCFA"/>
          </a:solidFill>
          <a:ln w="9525">
            <a:solidFill>
              <a:srgbClr val="D5DCE4"/>
            </a:solidFill>
            <a:prstDash val="solid"/>
          </a:ln>
        </p:spPr>
      </p:sp>
      <p:sp>
        <p:nvSpPr>
          <p:cNvPr id="6" name="Shape 4"/>
          <p:cNvSpPr/>
          <p:nvPr/>
        </p:nvSpPr>
        <p:spPr>
          <a:xfrm>
            <a:off x="812780" y="1651000"/>
            <a:ext cx="2527237" cy="38100"/>
          </a:xfrm>
          <a:prstGeom prst="rect">
            <a:avLst/>
          </a:prstGeom>
          <a:solidFill>
            <a:srgbClr val="1B6FA8"/>
          </a:solidFill>
          <a:ln/>
        </p:spPr>
      </p:sp>
      <p:sp>
        <p:nvSpPr>
          <p:cNvPr id="7" name="Text 5"/>
          <p:cNvSpPr/>
          <p:nvPr/>
        </p:nvSpPr>
        <p:spPr>
          <a:xfrm>
            <a:off x="952476" y="1752600"/>
            <a:ext cx="2247844"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PRMP et UGPM</a:t>
            </a:r>
            <a:endParaRPr lang="en-US" sz="1500" dirty="0"/>
          </a:p>
        </p:txBody>
      </p:sp>
      <p:sp>
        <p:nvSpPr>
          <p:cNvPr id="8" name="Text 6"/>
          <p:cNvSpPr/>
          <p:nvPr/>
        </p:nvSpPr>
        <p:spPr>
          <a:xfrm>
            <a:off x="952476" y="2038350"/>
            <a:ext cx="2247844"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personne responsable des marchés publics prépare, soumet, attribue et signe ; son unité de gestion prépare avec elle.</a:t>
            </a:r>
            <a:endParaRPr lang="en-US" sz="1200" dirty="0"/>
          </a:p>
        </p:txBody>
      </p:sp>
      <p:sp>
        <p:nvSpPr>
          <p:cNvPr id="9" name="Shape 7"/>
          <p:cNvSpPr/>
          <p:nvPr/>
        </p:nvSpPr>
        <p:spPr>
          <a:xfrm>
            <a:off x="3492413" y="1651000"/>
            <a:ext cx="2527237" cy="2159000"/>
          </a:xfrm>
          <a:prstGeom prst="rect">
            <a:avLst/>
          </a:prstGeom>
          <a:solidFill>
            <a:srgbClr val="FCFCFA"/>
          </a:solidFill>
          <a:ln w="9525">
            <a:solidFill>
              <a:srgbClr val="D5DCE4"/>
            </a:solidFill>
            <a:prstDash val="solid"/>
          </a:ln>
        </p:spPr>
      </p:sp>
      <p:sp>
        <p:nvSpPr>
          <p:cNvPr id="10" name="Shape 8"/>
          <p:cNvSpPr/>
          <p:nvPr/>
        </p:nvSpPr>
        <p:spPr>
          <a:xfrm>
            <a:off x="3492413" y="1651000"/>
            <a:ext cx="2527237" cy="38100"/>
          </a:xfrm>
          <a:prstGeom prst="rect">
            <a:avLst/>
          </a:prstGeom>
          <a:solidFill>
            <a:srgbClr val="2E8B57"/>
          </a:solidFill>
          <a:ln/>
        </p:spPr>
      </p:sp>
      <p:sp>
        <p:nvSpPr>
          <p:cNvPr id="11" name="Text 9"/>
          <p:cNvSpPr/>
          <p:nvPr/>
        </p:nvSpPr>
        <p:spPr>
          <a:xfrm>
            <a:off x="3632109" y="1752600"/>
            <a:ext cx="2247844"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Secrétaire</a:t>
            </a:r>
            <a:endParaRPr lang="en-US" sz="1500" dirty="0"/>
          </a:p>
        </p:txBody>
      </p:sp>
      <p:sp>
        <p:nvSpPr>
          <p:cNvPr id="12" name="Text 10"/>
          <p:cNvSpPr/>
          <p:nvPr/>
        </p:nvSpPr>
        <p:spPr>
          <a:xfrm>
            <a:off x="3632109" y="2038350"/>
            <a:ext cx="2247844"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Reçoit les dossiers et contrôle leur recevabilité pièce par pièce.</a:t>
            </a:r>
            <a:endParaRPr lang="en-US" sz="1200" dirty="0"/>
          </a:p>
        </p:txBody>
      </p:sp>
      <p:sp>
        <p:nvSpPr>
          <p:cNvPr id="13" name="Shape 11"/>
          <p:cNvSpPr/>
          <p:nvPr/>
        </p:nvSpPr>
        <p:spPr>
          <a:xfrm>
            <a:off x="6172046" y="1651000"/>
            <a:ext cx="2527237" cy="2159000"/>
          </a:xfrm>
          <a:prstGeom prst="rect">
            <a:avLst/>
          </a:prstGeom>
          <a:solidFill>
            <a:srgbClr val="FCFCFA"/>
          </a:solidFill>
          <a:ln w="9525">
            <a:solidFill>
              <a:srgbClr val="D5DCE4"/>
            </a:solidFill>
            <a:prstDash val="solid"/>
          </a:ln>
        </p:spPr>
      </p:sp>
      <p:sp>
        <p:nvSpPr>
          <p:cNvPr id="14" name="Shape 12"/>
          <p:cNvSpPr/>
          <p:nvPr/>
        </p:nvSpPr>
        <p:spPr>
          <a:xfrm>
            <a:off x="6172046" y="1651000"/>
            <a:ext cx="2527237" cy="38100"/>
          </a:xfrm>
          <a:prstGeom prst="rect">
            <a:avLst/>
          </a:prstGeom>
          <a:solidFill>
            <a:srgbClr val="E3AE2E"/>
          </a:solidFill>
          <a:ln/>
        </p:spPr>
      </p:sp>
      <p:sp>
        <p:nvSpPr>
          <p:cNvPr id="15" name="Text 13"/>
          <p:cNvSpPr/>
          <p:nvPr/>
        </p:nvSpPr>
        <p:spPr>
          <a:xfrm>
            <a:off x="6311742" y="1752600"/>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Président et Chef de commission</a:t>
            </a:r>
            <a:endParaRPr lang="en-US" sz="1500" dirty="0"/>
          </a:p>
        </p:txBody>
      </p:sp>
      <p:sp>
        <p:nvSpPr>
          <p:cNvPr id="16" name="Text 14"/>
          <p:cNvSpPr/>
          <p:nvPr/>
        </p:nvSpPr>
        <p:spPr>
          <a:xfrm>
            <a:off x="6311742" y="2209800"/>
            <a:ext cx="2247844"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Dispatchent les dossiers, visent les PV, désignent le co-signataire ; peuvent être suppléés par intérim.</a:t>
            </a:r>
            <a:endParaRPr lang="en-US" sz="1200" dirty="0"/>
          </a:p>
        </p:txBody>
      </p:sp>
      <p:sp>
        <p:nvSpPr>
          <p:cNvPr id="17" name="Shape 15"/>
          <p:cNvSpPr/>
          <p:nvPr/>
        </p:nvSpPr>
        <p:spPr>
          <a:xfrm>
            <a:off x="8851679" y="1651000"/>
            <a:ext cx="2527237" cy="2159000"/>
          </a:xfrm>
          <a:prstGeom prst="rect">
            <a:avLst/>
          </a:prstGeom>
          <a:solidFill>
            <a:srgbClr val="FCFCFA"/>
          </a:solidFill>
          <a:ln w="9525">
            <a:solidFill>
              <a:srgbClr val="D5DCE4"/>
            </a:solidFill>
            <a:prstDash val="solid"/>
          </a:ln>
        </p:spPr>
      </p:sp>
      <p:sp>
        <p:nvSpPr>
          <p:cNvPr id="18" name="Shape 16"/>
          <p:cNvSpPr/>
          <p:nvPr/>
        </p:nvSpPr>
        <p:spPr>
          <a:xfrm>
            <a:off x="8851679" y="1651000"/>
            <a:ext cx="2527237" cy="38100"/>
          </a:xfrm>
          <a:prstGeom prst="rect">
            <a:avLst/>
          </a:prstGeom>
          <a:solidFill>
            <a:srgbClr val="12324A"/>
          </a:solidFill>
          <a:ln/>
        </p:spPr>
      </p:sp>
      <p:sp>
        <p:nvSpPr>
          <p:cNvPr id="19" name="Text 17"/>
          <p:cNvSpPr/>
          <p:nvPr/>
        </p:nvSpPr>
        <p:spPr>
          <a:xfrm>
            <a:off x="8991375" y="1752600"/>
            <a:ext cx="2247844"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Membre</a:t>
            </a:r>
            <a:endParaRPr lang="en-US" sz="1500" dirty="0"/>
          </a:p>
        </p:txBody>
      </p:sp>
      <p:sp>
        <p:nvSpPr>
          <p:cNvPr id="20" name="Text 18"/>
          <p:cNvSpPr/>
          <p:nvPr/>
        </p:nvSpPr>
        <p:spPr>
          <a:xfrm>
            <a:off x="8991375" y="2038350"/>
            <a:ext cx="2247844"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Examine le dossier, émet l’avis et signe le PV.</a:t>
            </a:r>
            <a:endParaRPr lang="en-US" sz="1200" dirty="0"/>
          </a:p>
        </p:txBody>
      </p:sp>
      <p:sp>
        <p:nvSpPr>
          <p:cNvPr id="21" name="Shape 19"/>
          <p:cNvSpPr/>
          <p:nvPr/>
        </p:nvSpPr>
        <p:spPr>
          <a:xfrm>
            <a:off x="812780" y="3962400"/>
            <a:ext cx="2527237" cy="2159000"/>
          </a:xfrm>
          <a:prstGeom prst="rect">
            <a:avLst/>
          </a:prstGeom>
          <a:solidFill>
            <a:srgbClr val="FCFCFA"/>
          </a:solidFill>
          <a:ln w="9525">
            <a:solidFill>
              <a:srgbClr val="D5DCE4"/>
            </a:solidFill>
            <a:prstDash val="solid"/>
          </a:ln>
        </p:spPr>
      </p:sp>
      <p:sp>
        <p:nvSpPr>
          <p:cNvPr id="22" name="Shape 20"/>
          <p:cNvSpPr/>
          <p:nvPr/>
        </p:nvSpPr>
        <p:spPr>
          <a:xfrm>
            <a:off x="812780" y="3962400"/>
            <a:ext cx="2527237" cy="38100"/>
          </a:xfrm>
          <a:prstGeom prst="rect">
            <a:avLst/>
          </a:prstGeom>
          <a:solidFill>
            <a:srgbClr val="1B6FA8"/>
          </a:solidFill>
          <a:ln/>
        </p:spPr>
      </p:sp>
      <p:sp>
        <p:nvSpPr>
          <p:cNvPr id="23" name="Text 21"/>
          <p:cNvSpPr/>
          <p:nvPr/>
        </p:nvSpPr>
        <p:spPr>
          <a:xfrm>
            <a:off x="952476" y="4064000"/>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Vérificateur et Assistant</a:t>
            </a:r>
            <a:endParaRPr lang="en-US" sz="1500" dirty="0"/>
          </a:p>
        </p:txBody>
      </p:sp>
      <p:sp>
        <p:nvSpPr>
          <p:cNvPr id="24" name="Text 22"/>
          <p:cNvSpPr/>
          <p:nvPr/>
        </p:nvSpPr>
        <p:spPr>
          <a:xfrm>
            <a:off x="952476" y="4521200"/>
            <a:ext cx="2247844"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Vérifient la levée des observations, transmettent la décision ; l’Assistant archive.</a:t>
            </a:r>
            <a:endParaRPr lang="en-US" sz="1200" dirty="0"/>
          </a:p>
        </p:txBody>
      </p:sp>
      <p:sp>
        <p:nvSpPr>
          <p:cNvPr id="25" name="Shape 23"/>
          <p:cNvSpPr/>
          <p:nvPr/>
        </p:nvSpPr>
        <p:spPr>
          <a:xfrm>
            <a:off x="3492413" y="3962400"/>
            <a:ext cx="2527237" cy="2159000"/>
          </a:xfrm>
          <a:prstGeom prst="rect">
            <a:avLst/>
          </a:prstGeom>
          <a:solidFill>
            <a:srgbClr val="FCFCFA"/>
          </a:solidFill>
          <a:ln w="9525">
            <a:solidFill>
              <a:srgbClr val="D5DCE4"/>
            </a:solidFill>
            <a:prstDash val="solid"/>
          </a:ln>
        </p:spPr>
      </p:sp>
      <p:sp>
        <p:nvSpPr>
          <p:cNvPr id="26" name="Shape 24"/>
          <p:cNvSpPr/>
          <p:nvPr/>
        </p:nvSpPr>
        <p:spPr>
          <a:xfrm>
            <a:off x="3492413" y="3962400"/>
            <a:ext cx="2527237" cy="38100"/>
          </a:xfrm>
          <a:prstGeom prst="rect">
            <a:avLst/>
          </a:prstGeom>
          <a:solidFill>
            <a:srgbClr val="2E8B57"/>
          </a:solidFill>
          <a:ln/>
        </p:spPr>
      </p:sp>
      <p:sp>
        <p:nvSpPr>
          <p:cNvPr id="27" name="Text 25"/>
          <p:cNvSpPr/>
          <p:nvPr/>
        </p:nvSpPr>
        <p:spPr>
          <a:xfrm>
            <a:off x="3632109" y="4064000"/>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Chargé de publication et Administrateur</a:t>
            </a:r>
            <a:endParaRPr lang="en-US" sz="1500" dirty="0"/>
          </a:p>
        </p:txBody>
      </p:sp>
      <p:sp>
        <p:nvSpPr>
          <p:cNvPr id="28" name="Text 26"/>
          <p:cNvSpPr/>
          <p:nvPr/>
        </p:nvSpPr>
        <p:spPr>
          <a:xfrm>
            <a:off x="3632109" y="4521200"/>
            <a:ext cx="2247844"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Publie les décisions ; administre les comptes, les référentiels et les paramètres.</a:t>
            </a:r>
            <a:endParaRPr lang="en-US" sz="1200" dirty="0"/>
          </a:p>
        </p:txBody>
      </p:sp>
      <p:sp>
        <p:nvSpPr>
          <p:cNvPr id="29" name="Shape 27"/>
          <p:cNvSpPr/>
          <p:nvPr/>
        </p:nvSpPr>
        <p:spPr>
          <a:xfrm>
            <a:off x="6172046" y="3962400"/>
            <a:ext cx="2527237" cy="2159000"/>
          </a:xfrm>
          <a:prstGeom prst="rect">
            <a:avLst/>
          </a:prstGeom>
          <a:solidFill>
            <a:srgbClr val="FCFCFA"/>
          </a:solidFill>
          <a:ln w="9525">
            <a:solidFill>
              <a:srgbClr val="D5DCE4"/>
            </a:solidFill>
            <a:prstDash val="solid"/>
          </a:ln>
        </p:spPr>
      </p:sp>
      <p:sp>
        <p:nvSpPr>
          <p:cNvPr id="30" name="Shape 28"/>
          <p:cNvSpPr/>
          <p:nvPr/>
        </p:nvSpPr>
        <p:spPr>
          <a:xfrm>
            <a:off x="6172046" y="3962400"/>
            <a:ext cx="2527237" cy="38100"/>
          </a:xfrm>
          <a:prstGeom prst="rect">
            <a:avLst/>
          </a:prstGeom>
          <a:solidFill>
            <a:srgbClr val="E3AE2E"/>
          </a:solidFill>
          <a:ln/>
        </p:spPr>
      </p:sp>
      <p:sp>
        <p:nvSpPr>
          <p:cNvPr id="31" name="Text 29"/>
          <p:cNvSpPr/>
          <p:nvPr/>
        </p:nvSpPr>
        <p:spPr>
          <a:xfrm>
            <a:off x="6311742" y="4064000"/>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Commission d’appel d’offres</a:t>
            </a:r>
            <a:endParaRPr lang="en-US" sz="1500" dirty="0"/>
          </a:p>
        </p:txBody>
      </p:sp>
      <p:sp>
        <p:nvSpPr>
          <p:cNvPr id="32" name="Text 30"/>
          <p:cNvSpPr/>
          <p:nvPr/>
        </p:nvSpPr>
        <p:spPr>
          <a:xfrm>
            <a:off x="6311742" y="4521200"/>
            <a:ext cx="2247844"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Ses membres ouvrent les offres en séance, les évaluent et signent leurs rapports, dans leur propre espace.</a:t>
            </a:r>
            <a:endParaRPr lang="en-US" sz="1200" dirty="0"/>
          </a:p>
        </p:txBody>
      </p:sp>
      <p:sp>
        <p:nvSpPr>
          <p:cNvPr id="33" name="Shape 31"/>
          <p:cNvSpPr/>
          <p:nvPr/>
        </p:nvSpPr>
        <p:spPr>
          <a:xfrm>
            <a:off x="8851679" y="3962400"/>
            <a:ext cx="2527237" cy="2159000"/>
          </a:xfrm>
          <a:prstGeom prst="rect">
            <a:avLst/>
          </a:prstGeom>
          <a:solidFill>
            <a:srgbClr val="FCFCFA"/>
          </a:solidFill>
          <a:ln w="9525">
            <a:solidFill>
              <a:srgbClr val="D5DCE4"/>
            </a:solidFill>
            <a:prstDash val="solid"/>
          </a:ln>
        </p:spPr>
      </p:sp>
      <p:sp>
        <p:nvSpPr>
          <p:cNvPr id="34" name="Shape 32"/>
          <p:cNvSpPr/>
          <p:nvPr/>
        </p:nvSpPr>
        <p:spPr>
          <a:xfrm>
            <a:off x="8851679" y="3962400"/>
            <a:ext cx="2527237" cy="38100"/>
          </a:xfrm>
          <a:prstGeom prst="rect">
            <a:avLst/>
          </a:prstGeom>
          <a:solidFill>
            <a:srgbClr val="12324A"/>
          </a:solidFill>
          <a:ln/>
        </p:spPr>
      </p:sp>
      <p:sp>
        <p:nvSpPr>
          <p:cNvPr id="35" name="Text 33"/>
          <p:cNvSpPr/>
          <p:nvPr/>
        </p:nvSpPr>
        <p:spPr>
          <a:xfrm>
            <a:off x="8991375" y="4064000"/>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Entreprises et dépositaire</a:t>
            </a:r>
            <a:endParaRPr lang="en-US" sz="1500" dirty="0"/>
          </a:p>
        </p:txBody>
      </p:sp>
      <p:sp>
        <p:nvSpPr>
          <p:cNvPr id="36" name="Text 34"/>
          <p:cNvSpPr/>
          <p:nvPr/>
        </p:nvSpPr>
        <p:spPr>
          <a:xfrm>
            <a:off x="8991375" y="4521200"/>
            <a:ext cx="2247844"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entreprises retirent le dossier, déposent leur offre et suivent leur résultat ; le dépositaire garde la part de secours de la clé.</a:t>
            </a:r>
            <a:endParaRPr lang="en-US" sz="1200" dirty="0"/>
          </a:p>
        </p:txBody>
      </p:sp>
      <p:sp>
        <p:nvSpPr>
          <p:cNvPr id="37" name="Text 35"/>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SOMMAIRE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Douze parties, une seule chaîne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partie s’ouvre sur ce qu’elle change, montre son parcours puis chacun de ses écrans, et se conclut sur ce que l’application garantit.</a:t>
            </a:r>
            <a:endParaRPr lang="en-US" sz="1300" dirty="0"/>
          </a:p>
        </p:txBody>
      </p:sp>
      <p:sp>
        <p:nvSpPr>
          <p:cNvPr id="5" name="Shape 3"/>
          <p:cNvSpPr/>
          <p:nvPr/>
        </p:nvSpPr>
        <p:spPr>
          <a:xfrm>
            <a:off x="812780" y="1651000"/>
            <a:ext cx="2527237" cy="1443567"/>
          </a:xfrm>
          <a:prstGeom prst="rect">
            <a:avLst/>
          </a:prstGeom>
          <a:solidFill>
            <a:srgbClr val="FCFCFA"/>
          </a:solidFill>
          <a:ln w="9525">
            <a:solidFill>
              <a:srgbClr val="D5DCE4"/>
            </a:solidFill>
            <a:prstDash val="solid"/>
          </a:ln>
        </p:spPr>
      </p:sp>
      <p:sp>
        <p:nvSpPr>
          <p:cNvPr id="6" name="Shape 4"/>
          <p:cNvSpPr/>
          <p:nvPr/>
        </p:nvSpPr>
        <p:spPr>
          <a:xfrm>
            <a:off x="812780" y="1651000"/>
            <a:ext cx="2527237" cy="38100"/>
          </a:xfrm>
          <a:prstGeom prst="rect">
            <a:avLst/>
          </a:prstGeom>
          <a:solidFill>
            <a:srgbClr val="1B6FA8"/>
          </a:solidFill>
          <a:ln/>
        </p:spPr>
      </p:sp>
      <p:sp>
        <p:nvSpPr>
          <p:cNvPr id="7" name="Text 5"/>
          <p:cNvSpPr/>
          <p:nvPr/>
        </p:nvSpPr>
        <p:spPr>
          <a:xfrm>
            <a:off x="952476" y="1752600"/>
            <a:ext cx="2247844"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01 · Entrer</a:t>
            </a:r>
            <a:endParaRPr lang="en-US" sz="1500" dirty="0"/>
          </a:p>
        </p:txBody>
      </p:sp>
      <p:sp>
        <p:nvSpPr>
          <p:cNvPr id="8" name="Text 6"/>
          <p:cNvSpPr/>
          <p:nvPr/>
        </p:nvSpPr>
        <p:spPr>
          <a:xfrm>
            <a:off x="952476" y="2038350"/>
            <a:ext cx="2247844"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De la porte d’entrée au premier geste</a:t>
            </a:r>
            <a:endParaRPr lang="en-US" sz="1200" dirty="0"/>
          </a:p>
        </p:txBody>
      </p:sp>
      <p:sp>
        <p:nvSpPr>
          <p:cNvPr id="9" name="Shape 7"/>
          <p:cNvSpPr/>
          <p:nvPr/>
        </p:nvSpPr>
        <p:spPr>
          <a:xfrm>
            <a:off x="3492413" y="1651000"/>
            <a:ext cx="2527237" cy="1443567"/>
          </a:xfrm>
          <a:prstGeom prst="rect">
            <a:avLst/>
          </a:prstGeom>
          <a:solidFill>
            <a:srgbClr val="FCFCFA"/>
          </a:solidFill>
          <a:ln w="9525">
            <a:solidFill>
              <a:srgbClr val="D5DCE4"/>
            </a:solidFill>
            <a:prstDash val="solid"/>
          </a:ln>
        </p:spPr>
      </p:sp>
      <p:sp>
        <p:nvSpPr>
          <p:cNvPr id="10" name="Shape 8"/>
          <p:cNvSpPr/>
          <p:nvPr/>
        </p:nvSpPr>
        <p:spPr>
          <a:xfrm>
            <a:off x="3492413" y="1651000"/>
            <a:ext cx="2527237" cy="38100"/>
          </a:xfrm>
          <a:prstGeom prst="rect">
            <a:avLst/>
          </a:prstGeom>
          <a:solidFill>
            <a:srgbClr val="2E8B57"/>
          </a:solidFill>
          <a:ln/>
        </p:spPr>
      </p:sp>
      <p:sp>
        <p:nvSpPr>
          <p:cNvPr id="11" name="Text 9"/>
          <p:cNvSpPr/>
          <p:nvPr/>
        </p:nvSpPr>
        <p:spPr>
          <a:xfrm>
            <a:off x="3632109" y="1752600"/>
            <a:ext cx="2247844"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02 · Planifier</a:t>
            </a:r>
            <a:endParaRPr lang="en-US" sz="1500" dirty="0"/>
          </a:p>
        </p:txBody>
      </p:sp>
      <p:sp>
        <p:nvSpPr>
          <p:cNvPr id="12" name="Text 10"/>
          <p:cNvSpPr/>
          <p:nvPr/>
        </p:nvSpPr>
        <p:spPr>
          <a:xfrm>
            <a:off x="3632109" y="2038350"/>
            <a:ext cx="2247844"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Du plan saisi au plan contrôlé</a:t>
            </a:r>
            <a:endParaRPr lang="en-US" sz="1200" dirty="0"/>
          </a:p>
        </p:txBody>
      </p:sp>
      <p:sp>
        <p:nvSpPr>
          <p:cNvPr id="13" name="Shape 11"/>
          <p:cNvSpPr/>
          <p:nvPr/>
        </p:nvSpPr>
        <p:spPr>
          <a:xfrm>
            <a:off x="6172046" y="1651000"/>
            <a:ext cx="2527237" cy="1443567"/>
          </a:xfrm>
          <a:prstGeom prst="rect">
            <a:avLst/>
          </a:prstGeom>
          <a:solidFill>
            <a:srgbClr val="FCFCFA"/>
          </a:solidFill>
          <a:ln w="9525">
            <a:solidFill>
              <a:srgbClr val="D5DCE4"/>
            </a:solidFill>
            <a:prstDash val="solid"/>
          </a:ln>
        </p:spPr>
      </p:sp>
      <p:sp>
        <p:nvSpPr>
          <p:cNvPr id="14" name="Shape 12"/>
          <p:cNvSpPr/>
          <p:nvPr/>
        </p:nvSpPr>
        <p:spPr>
          <a:xfrm>
            <a:off x="6172046" y="1651000"/>
            <a:ext cx="2527237" cy="38100"/>
          </a:xfrm>
          <a:prstGeom prst="rect">
            <a:avLst/>
          </a:prstGeom>
          <a:solidFill>
            <a:srgbClr val="E3AE2E"/>
          </a:solidFill>
          <a:ln/>
        </p:spPr>
      </p:sp>
      <p:sp>
        <p:nvSpPr>
          <p:cNvPr id="15" name="Text 13"/>
          <p:cNvSpPr/>
          <p:nvPr/>
        </p:nvSpPr>
        <p:spPr>
          <a:xfrm>
            <a:off x="6311742" y="1752600"/>
            <a:ext cx="2247844"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03 · Contrôler</a:t>
            </a:r>
            <a:endParaRPr lang="en-US" sz="1500" dirty="0"/>
          </a:p>
        </p:txBody>
      </p:sp>
      <p:sp>
        <p:nvSpPr>
          <p:cNvPr id="16" name="Text 14"/>
          <p:cNvSpPr/>
          <p:nvPr/>
        </p:nvSpPr>
        <p:spPr>
          <a:xfrm>
            <a:off x="6311742" y="2038350"/>
            <a:ext cx="2247844"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circuit de contrôle d’un dossier</a:t>
            </a:r>
            <a:endParaRPr lang="en-US" sz="1200" dirty="0"/>
          </a:p>
        </p:txBody>
      </p:sp>
      <p:sp>
        <p:nvSpPr>
          <p:cNvPr id="17" name="Shape 15"/>
          <p:cNvSpPr/>
          <p:nvPr/>
        </p:nvSpPr>
        <p:spPr>
          <a:xfrm>
            <a:off x="8851679" y="1651000"/>
            <a:ext cx="2527237" cy="1443567"/>
          </a:xfrm>
          <a:prstGeom prst="rect">
            <a:avLst/>
          </a:prstGeom>
          <a:solidFill>
            <a:srgbClr val="FCFCFA"/>
          </a:solidFill>
          <a:ln w="9525">
            <a:solidFill>
              <a:srgbClr val="D5DCE4"/>
            </a:solidFill>
            <a:prstDash val="solid"/>
          </a:ln>
        </p:spPr>
      </p:sp>
      <p:sp>
        <p:nvSpPr>
          <p:cNvPr id="18" name="Shape 16"/>
          <p:cNvSpPr/>
          <p:nvPr/>
        </p:nvSpPr>
        <p:spPr>
          <a:xfrm>
            <a:off x="8851679" y="1651000"/>
            <a:ext cx="2527237" cy="38100"/>
          </a:xfrm>
          <a:prstGeom prst="rect">
            <a:avLst/>
          </a:prstGeom>
          <a:solidFill>
            <a:srgbClr val="12324A"/>
          </a:solidFill>
          <a:ln/>
        </p:spPr>
      </p:sp>
      <p:sp>
        <p:nvSpPr>
          <p:cNvPr id="19" name="Text 17"/>
          <p:cNvSpPr/>
          <p:nvPr/>
        </p:nvSpPr>
        <p:spPr>
          <a:xfrm>
            <a:off x="8991375" y="1752600"/>
            <a:ext cx="2247844"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04 · Préparer le DAO</a:t>
            </a:r>
            <a:endParaRPr lang="en-US" sz="1500" dirty="0"/>
          </a:p>
        </p:txBody>
      </p:sp>
      <p:sp>
        <p:nvSpPr>
          <p:cNvPr id="20" name="Text 18"/>
          <p:cNvSpPr/>
          <p:nvPr/>
        </p:nvSpPr>
        <p:spPr>
          <a:xfrm>
            <a:off x="8991375" y="2038350"/>
            <a:ext cx="2247844"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De la ligne du plan au DAO publié</a:t>
            </a:r>
            <a:endParaRPr lang="en-US" sz="1200" dirty="0"/>
          </a:p>
        </p:txBody>
      </p:sp>
      <p:sp>
        <p:nvSpPr>
          <p:cNvPr id="21" name="Shape 19"/>
          <p:cNvSpPr/>
          <p:nvPr/>
        </p:nvSpPr>
        <p:spPr>
          <a:xfrm>
            <a:off x="812780" y="3246967"/>
            <a:ext cx="2527237" cy="1443567"/>
          </a:xfrm>
          <a:prstGeom prst="rect">
            <a:avLst/>
          </a:prstGeom>
          <a:solidFill>
            <a:srgbClr val="FCFCFA"/>
          </a:solidFill>
          <a:ln w="9525">
            <a:solidFill>
              <a:srgbClr val="D5DCE4"/>
            </a:solidFill>
            <a:prstDash val="solid"/>
          </a:ln>
        </p:spPr>
      </p:sp>
      <p:sp>
        <p:nvSpPr>
          <p:cNvPr id="22" name="Shape 20"/>
          <p:cNvSpPr/>
          <p:nvPr/>
        </p:nvSpPr>
        <p:spPr>
          <a:xfrm>
            <a:off x="812780" y="3246967"/>
            <a:ext cx="2527237" cy="38100"/>
          </a:xfrm>
          <a:prstGeom prst="rect">
            <a:avLst/>
          </a:prstGeom>
          <a:solidFill>
            <a:srgbClr val="1B6FA8"/>
          </a:solidFill>
          <a:ln/>
        </p:spPr>
      </p:sp>
      <p:sp>
        <p:nvSpPr>
          <p:cNvPr id="23" name="Text 21"/>
          <p:cNvSpPr/>
          <p:nvPr/>
        </p:nvSpPr>
        <p:spPr>
          <a:xfrm>
            <a:off x="952476" y="3348567"/>
            <a:ext cx="2247844" cy="5905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05 · L’appel à manifestation d’intérêt</a:t>
            </a:r>
            <a:endParaRPr lang="en-US" sz="1500" dirty="0"/>
          </a:p>
        </p:txBody>
      </p:sp>
      <p:sp>
        <p:nvSpPr>
          <p:cNvPr id="24" name="Text 22"/>
          <p:cNvSpPr/>
          <p:nvPr/>
        </p:nvSpPr>
        <p:spPr>
          <a:xfrm>
            <a:off x="952476" y="3977217"/>
            <a:ext cx="2247844" cy="6498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De la ligne du plan à la liste restreinte</a:t>
            </a:r>
            <a:endParaRPr lang="en-US" sz="1200" dirty="0"/>
          </a:p>
        </p:txBody>
      </p:sp>
      <p:sp>
        <p:nvSpPr>
          <p:cNvPr id="25" name="Shape 23"/>
          <p:cNvSpPr/>
          <p:nvPr/>
        </p:nvSpPr>
        <p:spPr>
          <a:xfrm>
            <a:off x="3492413" y="3246967"/>
            <a:ext cx="2527237" cy="1443567"/>
          </a:xfrm>
          <a:prstGeom prst="rect">
            <a:avLst/>
          </a:prstGeom>
          <a:solidFill>
            <a:srgbClr val="FCFCFA"/>
          </a:solidFill>
          <a:ln w="9525">
            <a:solidFill>
              <a:srgbClr val="D5DCE4"/>
            </a:solidFill>
            <a:prstDash val="solid"/>
          </a:ln>
        </p:spPr>
      </p:sp>
      <p:sp>
        <p:nvSpPr>
          <p:cNvPr id="26" name="Shape 24"/>
          <p:cNvSpPr/>
          <p:nvPr/>
        </p:nvSpPr>
        <p:spPr>
          <a:xfrm>
            <a:off x="3492413" y="3246967"/>
            <a:ext cx="2527237" cy="38100"/>
          </a:xfrm>
          <a:prstGeom prst="rect">
            <a:avLst/>
          </a:prstGeom>
          <a:solidFill>
            <a:srgbClr val="2E8B57"/>
          </a:solidFill>
          <a:ln/>
        </p:spPr>
      </p:sp>
      <p:sp>
        <p:nvSpPr>
          <p:cNvPr id="27" name="Text 25"/>
          <p:cNvSpPr/>
          <p:nvPr/>
        </p:nvSpPr>
        <p:spPr>
          <a:xfrm>
            <a:off x="3632109" y="3348567"/>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06 · Recevoir les offres en ligne</a:t>
            </a:r>
            <a:endParaRPr lang="en-US" sz="1500" dirty="0"/>
          </a:p>
        </p:txBody>
      </p:sp>
      <p:sp>
        <p:nvSpPr>
          <p:cNvPr id="28" name="Text 26"/>
          <p:cNvSpPr/>
          <p:nvPr/>
        </p:nvSpPr>
        <p:spPr>
          <a:xfrm>
            <a:off x="3632109" y="3805767"/>
            <a:ext cx="2247844" cy="82126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De l’avis publié à l’offre scellée</a:t>
            </a:r>
            <a:endParaRPr lang="en-US" sz="1200" dirty="0"/>
          </a:p>
        </p:txBody>
      </p:sp>
      <p:sp>
        <p:nvSpPr>
          <p:cNvPr id="29" name="Shape 27"/>
          <p:cNvSpPr/>
          <p:nvPr/>
        </p:nvSpPr>
        <p:spPr>
          <a:xfrm>
            <a:off x="6172046" y="3246967"/>
            <a:ext cx="2527237" cy="1443567"/>
          </a:xfrm>
          <a:prstGeom prst="rect">
            <a:avLst/>
          </a:prstGeom>
          <a:solidFill>
            <a:srgbClr val="FCFCFA"/>
          </a:solidFill>
          <a:ln w="9525">
            <a:solidFill>
              <a:srgbClr val="D5DCE4"/>
            </a:solidFill>
            <a:prstDash val="solid"/>
          </a:ln>
        </p:spPr>
      </p:sp>
      <p:sp>
        <p:nvSpPr>
          <p:cNvPr id="30" name="Shape 28"/>
          <p:cNvSpPr/>
          <p:nvPr/>
        </p:nvSpPr>
        <p:spPr>
          <a:xfrm>
            <a:off x="6172046" y="3246967"/>
            <a:ext cx="2527237" cy="38100"/>
          </a:xfrm>
          <a:prstGeom prst="rect">
            <a:avLst/>
          </a:prstGeom>
          <a:solidFill>
            <a:srgbClr val="E3AE2E"/>
          </a:solidFill>
          <a:ln/>
        </p:spPr>
      </p:sp>
      <p:sp>
        <p:nvSpPr>
          <p:cNvPr id="31" name="Text 29"/>
          <p:cNvSpPr/>
          <p:nvPr/>
        </p:nvSpPr>
        <p:spPr>
          <a:xfrm>
            <a:off x="6311742" y="3348567"/>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07 · La séance d’ouverture</a:t>
            </a:r>
            <a:endParaRPr lang="en-US" sz="1500" dirty="0"/>
          </a:p>
        </p:txBody>
      </p:sp>
      <p:sp>
        <p:nvSpPr>
          <p:cNvPr id="32" name="Text 30"/>
          <p:cNvSpPr/>
          <p:nvPr/>
        </p:nvSpPr>
        <p:spPr>
          <a:xfrm>
            <a:off x="6311742" y="3805767"/>
            <a:ext cx="2247844" cy="82126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De la date limite au PV signé</a:t>
            </a:r>
            <a:endParaRPr lang="en-US" sz="1200" dirty="0"/>
          </a:p>
        </p:txBody>
      </p:sp>
      <p:sp>
        <p:nvSpPr>
          <p:cNvPr id="33" name="Shape 31"/>
          <p:cNvSpPr/>
          <p:nvPr/>
        </p:nvSpPr>
        <p:spPr>
          <a:xfrm>
            <a:off x="8851679" y="3246967"/>
            <a:ext cx="2527237" cy="1443567"/>
          </a:xfrm>
          <a:prstGeom prst="rect">
            <a:avLst/>
          </a:prstGeom>
          <a:solidFill>
            <a:srgbClr val="FCFCFA"/>
          </a:solidFill>
          <a:ln w="9525">
            <a:solidFill>
              <a:srgbClr val="D5DCE4"/>
            </a:solidFill>
            <a:prstDash val="solid"/>
          </a:ln>
        </p:spPr>
      </p:sp>
      <p:sp>
        <p:nvSpPr>
          <p:cNvPr id="34" name="Shape 32"/>
          <p:cNvSpPr/>
          <p:nvPr/>
        </p:nvSpPr>
        <p:spPr>
          <a:xfrm>
            <a:off x="8851679" y="3246967"/>
            <a:ext cx="2527237" cy="38100"/>
          </a:xfrm>
          <a:prstGeom prst="rect">
            <a:avLst/>
          </a:prstGeom>
          <a:solidFill>
            <a:srgbClr val="12324A"/>
          </a:solidFill>
          <a:ln/>
        </p:spPr>
      </p:sp>
      <p:sp>
        <p:nvSpPr>
          <p:cNvPr id="35" name="Text 33"/>
          <p:cNvSpPr/>
          <p:nvPr/>
        </p:nvSpPr>
        <p:spPr>
          <a:xfrm>
            <a:off x="8991375" y="3348567"/>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08 · Évaluer les offres</a:t>
            </a:r>
            <a:endParaRPr lang="en-US" sz="1500" dirty="0"/>
          </a:p>
        </p:txBody>
      </p:sp>
      <p:sp>
        <p:nvSpPr>
          <p:cNvPr id="36" name="Text 34"/>
          <p:cNvSpPr/>
          <p:nvPr/>
        </p:nvSpPr>
        <p:spPr>
          <a:xfrm>
            <a:off x="8991375" y="3805767"/>
            <a:ext cx="2247844" cy="82126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Du PV d’ouverture signé au rapport d’évaluation</a:t>
            </a:r>
            <a:endParaRPr lang="en-US" sz="1200" dirty="0"/>
          </a:p>
        </p:txBody>
      </p:sp>
      <p:sp>
        <p:nvSpPr>
          <p:cNvPr id="37" name="Shape 35"/>
          <p:cNvSpPr/>
          <p:nvPr/>
        </p:nvSpPr>
        <p:spPr>
          <a:xfrm>
            <a:off x="812780" y="4842933"/>
            <a:ext cx="2527237" cy="1443567"/>
          </a:xfrm>
          <a:prstGeom prst="rect">
            <a:avLst/>
          </a:prstGeom>
          <a:solidFill>
            <a:srgbClr val="FCFCFA"/>
          </a:solidFill>
          <a:ln w="9525">
            <a:solidFill>
              <a:srgbClr val="D5DCE4"/>
            </a:solidFill>
            <a:prstDash val="solid"/>
          </a:ln>
        </p:spPr>
      </p:sp>
      <p:sp>
        <p:nvSpPr>
          <p:cNvPr id="38" name="Shape 36"/>
          <p:cNvSpPr/>
          <p:nvPr/>
        </p:nvSpPr>
        <p:spPr>
          <a:xfrm>
            <a:off x="812780" y="4842933"/>
            <a:ext cx="2527237" cy="38100"/>
          </a:xfrm>
          <a:prstGeom prst="rect">
            <a:avLst/>
          </a:prstGeom>
          <a:solidFill>
            <a:srgbClr val="1B6FA8"/>
          </a:solidFill>
          <a:ln/>
        </p:spPr>
      </p:sp>
      <p:sp>
        <p:nvSpPr>
          <p:cNvPr id="39" name="Text 37"/>
          <p:cNvSpPr/>
          <p:nvPr/>
        </p:nvSpPr>
        <p:spPr>
          <a:xfrm>
            <a:off x="952476" y="4944533"/>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09 · Attribuer et notifier</a:t>
            </a:r>
            <a:endParaRPr lang="en-US" sz="1500" dirty="0"/>
          </a:p>
        </p:txBody>
      </p:sp>
      <p:sp>
        <p:nvSpPr>
          <p:cNvPr id="40" name="Text 38"/>
          <p:cNvSpPr/>
          <p:nvPr/>
        </p:nvSpPr>
        <p:spPr>
          <a:xfrm>
            <a:off x="952476" y="5401733"/>
            <a:ext cx="2247844" cy="82126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Du rapport signé au marché notifié</a:t>
            </a:r>
            <a:endParaRPr lang="en-US" sz="1200" dirty="0"/>
          </a:p>
        </p:txBody>
      </p:sp>
      <p:sp>
        <p:nvSpPr>
          <p:cNvPr id="41" name="Shape 39"/>
          <p:cNvSpPr/>
          <p:nvPr/>
        </p:nvSpPr>
        <p:spPr>
          <a:xfrm>
            <a:off x="3492413" y="4842933"/>
            <a:ext cx="2527237" cy="1443567"/>
          </a:xfrm>
          <a:prstGeom prst="rect">
            <a:avLst/>
          </a:prstGeom>
          <a:solidFill>
            <a:srgbClr val="FCFCFA"/>
          </a:solidFill>
          <a:ln w="9525">
            <a:solidFill>
              <a:srgbClr val="D5DCE4"/>
            </a:solidFill>
            <a:prstDash val="solid"/>
          </a:ln>
        </p:spPr>
      </p:sp>
      <p:sp>
        <p:nvSpPr>
          <p:cNvPr id="42" name="Shape 40"/>
          <p:cNvSpPr/>
          <p:nvPr/>
        </p:nvSpPr>
        <p:spPr>
          <a:xfrm>
            <a:off x="3492413" y="4842933"/>
            <a:ext cx="2527237" cy="38100"/>
          </a:xfrm>
          <a:prstGeom prst="rect">
            <a:avLst/>
          </a:prstGeom>
          <a:solidFill>
            <a:srgbClr val="2E8B57"/>
          </a:solidFill>
          <a:ln/>
        </p:spPr>
      </p:sp>
      <p:sp>
        <p:nvSpPr>
          <p:cNvPr id="43" name="Text 41"/>
          <p:cNvSpPr/>
          <p:nvPr/>
        </p:nvSpPr>
        <p:spPr>
          <a:xfrm>
            <a:off x="3632109" y="4944533"/>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10 · Intérim et mandats</a:t>
            </a:r>
            <a:endParaRPr lang="en-US" sz="1500" dirty="0"/>
          </a:p>
        </p:txBody>
      </p:sp>
      <p:sp>
        <p:nvSpPr>
          <p:cNvPr id="44" name="Text 42"/>
          <p:cNvSpPr/>
          <p:nvPr/>
        </p:nvSpPr>
        <p:spPr>
          <a:xfrm>
            <a:off x="3632109" y="5401733"/>
            <a:ext cx="2247844" cy="82126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De l’absence déclarée à la reprise</a:t>
            </a:r>
            <a:endParaRPr lang="en-US" sz="1200" dirty="0"/>
          </a:p>
        </p:txBody>
      </p:sp>
      <p:sp>
        <p:nvSpPr>
          <p:cNvPr id="45" name="Shape 43"/>
          <p:cNvSpPr/>
          <p:nvPr/>
        </p:nvSpPr>
        <p:spPr>
          <a:xfrm>
            <a:off x="6172046" y="4842933"/>
            <a:ext cx="2527237" cy="1443567"/>
          </a:xfrm>
          <a:prstGeom prst="rect">
            <a:avLst/>
          </a:prstGeom>
          <a:solidFill>
            <a:srgbClr val="FCFCFA"/>
          </a:solidFill>
          <a:ln w="9525">
            <a:solidFill>
              <a:srgbClr val="D5DCE4"/>
            </a:solidFill>
            <a:prstDash val="solid"/>
          </a:ln>
        </p:spPr>
      </p:sp>
      <p:sp>
        <p:nvSpPr>
          <p:cNvPr id="46" name="Shape 44"/>
          <p:cNvSpPr/>
          <p:nvPr/>
        </p:nvSpPr>
        <p:spPr>
          <a:xfrm>
            <a:off x="6172046" y="4842933"/>
            <a:ext cx="2527237" cy="38100"/>
          </a:xfrm>
          <a:prstGeom prst="rect">
            <a:avLst/>
          </a:prstGeom>
          <a:solidFill>
            <a:srgbClr val="E3AE2E"/>
          </a:solidFill>
          <a:ln/>
        </p:spPr>
      </p:sp>
      <p:sp>
        <p:nvSpPr>
          <p:cNvPr id="47" name="Text 45"/>
          <p:cNvSpPr/>
          <p:nvPr/>
        </p:nvSpPr>
        <p:spPr>
          <a:xfrm>
            <a:off x="6311742" y="4944533"/>
            <a:ext cx="2247844"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11 · Administrer</a:t>
            </a:r>
            <a:endParaRPr lang="en-US" sz="1500" dirty="0"/>
          </a:p>
        </p:txBody>
      </p:sp>
      <p:sp>
        <p:nvSpPr>
          <p:cNvPr id="48" name="Text 46"/>
          <p:cNvSpPr/>
          <p:nvPr/>
        </p:nvSpPr>
        <p:spPr>
          <a:xfrm>
            <a:off x="6311742" y="5230283"/>
            <a:ext cx="2247844"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journée de l’Administrateur</a:t>
            </a:r>
            <a:endParaRPr lang="en-US" sz="1200" dirty="0"/>
          </a:p>
        </p:txBody>
      </p:sp>
      <p:sp>
        <p:nvSpPr>
          <p:cNvPr id="49" name="Shape 47"/>
          <p:cNvSpPr/>
          <p:nvPr/>
        </p:nvSpPr>
        <p:spPr>
          <a:xfrm>
            <a:off x="8851679" y="4842933"/>
            <a:ext cx="2527237" cy="1443567"/>
          </a:xfrm>
          <a:prstGeom prst="rect">
            <a:avLst/>
          </a:prstGeom>
          <a:solidFill>
            <a:srgbClr val="FCFCFA"/>
          </a:solidFill>
          <a:ln w="9525">
            <a:solidFill>
              <a:srgbClr val="D5DCE4"/>
            </a:solidFill>
            <a:prstDash val="solid"/>
          </a:ln>
        </p:spPr>
      </p:sp>
      <p:sp>
        <p:nvSpPr>
          <p:cNvPr id="50" name="Shape 48"/>
          <p:cNvSpPr/>
          <p:nvPr/>
        </p:nvSpPr>
        <p:spPr>
          <a:xfrm>
            <a:off x="8851679" y="4842933"/>
            <a:ext cx="2527237" cy="38100"/>
          </a:xfrm>
          <a:prstGeom prst="rect">
            <a:avLst/>
          </a:prstGeom>
          <a:solidFill>
            <a:srgbClr val="12324A"/>
          </a:solidFill>
          <a:ln/>
        </p:spPr>
      </p:sp>
      <p:sp>
        <p:nvSpPr>
          <p:cNvPr id="51" name="Text 49"/>
          <p:cNvSpPr/>
          <p:nvPr/>
        </p:nvSpPr>
        <p:spPr>
          <a:xfrm>
            <a:off x="8991375" y="4944533"/>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12 · Piloter et publier</a:t>
            </a:r>
            <a:endParaRPr lang="en-US" sz="1500" dirty="0"/>
          </a:p>
        </p:txBody>
      </p:sp>
      <p:sp>
        <p:nvSpPr>
          <p:cNvPr id="52" name="Text 50"/>
          <p:cNvSpPr/>
          <p:nvPr/>
        </p:nvSpPr>
        <p:spPr>
          <a:xfrm>
            <a:off x="8991375" y="5401733"/>
            <a:ext cx="2247844" cy="82126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Du dossier suivi à la décision publiée</a:t>
            </a:r>
            <a:endParaRPr lang="en-US" sz="1200" dirty="0"/>
          </a:p>
        </p:txBody>
      </p:sp>
      <p:sp>
        <p:nvSpPr>
          <p:cNvPr id="53" name="Text 51"/>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01</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Entrer</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Chacun entre par la porte de son public, se connecte, et trouve à l’accueil ce que le circuit attend de lui, par ordre d’urgence.</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Une seule adresse pour trois publics — les autorités contractantes, la Commission, les entreprises — avec, pour chacun, ce qu’il peut y faire.</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Personne ne cherche son travail : à la connexion, l’écran « À faire » présente les dossiers qui attendent un geste, avec le délai qui court.</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Les comptes des autorités contractantes ne s’ouvrent qu’après vérification de l’arrêté de nomination par l’Administrateur ; chaque connexion est tracée.</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L’application de bout en bout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ENTRER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 la porte d’entrée au premier geste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Un visiteur arrive sur le portail public ; un utilisateur connecté arrive directement sur son travail du jour.</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TOUT VISITEUR</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Choisir son entrée</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portail public présente l’application à la PRMP, à la Commission ou à l’entreprise.</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Demander un compte</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PRMP s’inscrit avec son arrêté de nomination ; elle crée ensuite le compte de son UGPM.</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ADMINISTRATEUR</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Valider le compte</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L’Administrateur vérifie l’arrêté et rattache les entités contractantes.</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TOUS LES PROFILS</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Se connecter</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Identifiant et mot de passe ; la session est protégée et chaque tentative journalisée.</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PROFILS DU CIRCUIT</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Lire l’accueil « À faire »</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dossiers qui attendent un geste, triés par urgence, avec le délai restant.</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TOUS LES PROFILS</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Agir depuis l’accueil ou une notification</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Un clic mène au dossier et au geste attendu.</a:t>
            </a:r>
            <a:endParaRPr lang="en-US" sz="1150" dirty="0"/>
          </a:p>
        </p:txBody>
      </p:sp>
      <p:sp>
        <p:nvSpPr>
          <p:cNvPr id="34" name="Text 3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ENTRER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Une entrée publique par public</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Avant toute connexion, le portail explique à chacun ce que l’application lui permet. La racine du site y mène ; un utilisateur déjà connecté est renvoyé directement à son travail.</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 · PRMP ET 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portail public : PRMP et UGPM</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ortail public : PRMP et UGPM">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Toute autorité contractante,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Trois gestes et rien d’autre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déposer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 plan de passation,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suivre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 contrôle,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consulter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PV définitifs.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chiffres clés : sept étapes suivies, une version par mise à jour, aucun papier pour les PV et les lettres de renvoi.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Se connecter » ou « Créer un compte PRMP » ; les mots soulignés mènent à l’écran qu’ils nomment.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portail public :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ortail public :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avant connexion.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Votre travail du jour, sans rien chercher » : l’accueil « À faire » et la page guidée de chaque dossier.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circuit en trois temps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recevoir et dispatcher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examiner et viser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 et clore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Dix profils, une page par dossier pour tous, et deux personnes distinctes pour signer chaque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 · ENTREPRISES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portail public : les entreprises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ortail public : les entrepris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entreprises candidates.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procédures ouvertes se consultent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sans compte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 compte confirmé permet de retirer le dossier d’appel d’offres.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compte par entreprise (un NIF, un STAT, un RCS), confirmé par un code reçu par courriel.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L’offre, chiffrée sur le poste du candidat, ne s’ouvre qu’en séance, à l’heure prévue (voir la partie 06).</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ENTRER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Des comptes vérifiés, une session protégée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compte d’une PRMP ne s’ouvre qu’après contrôle de son acte de nomination ; la connexion et le mot de passe obéissent à des règles uniformes.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connexion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nnex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Identifiant (ou adresse électronique) et mot de passe. La session est portée par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témoin sécurisé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rien n’est conservé dans le navigateur qui permettrait de la dérober.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tentatives répétées sont freinées, et chacune est inscrite au journal des connexions.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Liens vers l’inscription d’une PRMP, l’inscription d’un candidat et le portail public.</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L’inscription d’une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inscription d’une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elle-même.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Identité, référence et date de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arrêté de nomination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CIN ; l’arrêté (10 Mo au plus) et la CIN sont joints en PDF, JPEG ou PNG.</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entités contractantes sont choisies dans la liste, ou proposées si elles n’y figurent pas.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 naît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attente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l’Administrateur le valide dans « Demandes d’accès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COMPTES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Créer le compte de son UGPM</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réer le compte de son UGPM">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depuis son espace.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L’UGPM est créée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sous sa PRMP de tutelle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identité, CIN jointe, photo facultative.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Son compte reste en attente jusqu’à la validation de l’Administrateur.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L’UGPM prépare les dossiers ; la PRMP seule les engage.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COMPTES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Changer son mot de passe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hanger son mot de pas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utilisateur connecté, depuis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L’ancien mot de passe est exigé ; le nouveau compte au moins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8 caractères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une lettre et un chiffre, et se saisit deux fois.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 Annuler », par sa croix ou par Échap.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Mot de passe oublié : l’Administrateur le réinitialise.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ENTRER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L’accueil « À faire » : le travail du jour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Chaque profil du circuit arrive sur la même page : les gestes qui l’attendent, classés par urgence, et à droite le dossier choisi avec sa frise et son geste principal.</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actualité à l’ouverture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actualité à l’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ciblés par 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publie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actualités ciblées par profil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rappel de règles, consignes de dépôt, fermeture technique.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ce que la Commission attend d’un dossier de planification.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sa croix ou par Échap.</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L’accueil « À faire » de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cueil « À faire » de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tête, ses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brouillons à soumettre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en dessous, ses dossiers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cours à la Commission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leur étape et leur fin prévue.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choisi montre sa frise et son geste : ici, « Soumettre le dossier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d’interne à la Commission n’apparaît : ni acteurs, ni consignes.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L’accueil « À faire » du Secrétaire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cueil « À faire » du Secréta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Secrétaire.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dépôts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à réceptionner et numéroter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leur délai standard de huit heures.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un dépôt en retard de dix-huit heures : la barre rouge et l’échéance le disent.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geste « Numéroter le dépôt » s’ouvre depuis le panneau du dossier.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L’accueil « À faire » du Président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cueil « À faire » du Présiden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(le Chef de commission voit la même page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ne l’attend en propre aujourd’hui ; tous les dossiers de son périmètre restent consultables.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tâches qu’il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pourrait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prendre à un autre titre (délégation, intérim, suppléance) sont repliées à part, hors compteurs.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Son menu porte le pilotage (répartition, chaînes de contrôle, intérim) et ce qu’il exerce par délégation.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L’accueil « À faire » du Membre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cueil « À faire » du Memb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à examiner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 délai standard de quarante heures et le temps déjà écoulé.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panneau rappelle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consigne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 dispatch et ouvre l’examen d’un clic.</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Trois classements : par urgence, par étape, par localité.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L’accueil « À faire » du Vérificateur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cueil « À faire » du Vérificateu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Contrôleur vérificateur.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PV signés à vérifier, avec leur avis et leur retard : dix sur treize sont ici en retard.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un avis favorable, le geste est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transmettre la décision à SIGMP</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sur réserves, de suivre leur levée.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frise du dossier nomme qui a franchi chaque étape et à quelle date.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ENTRER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Être averti au bon moment</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Chaque transmission avise le responsable de l’étape suivante ; la notification mène à l’écran où l’action attendue s’accomplit.</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L’écran des notifications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cran des notific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chacun pour ses seules notifications.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ce que le circuit a signalé,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par date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une notification non lue reste en gras.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Filtres : toutes ou non lues, et par type d’événement ; « Tout marquer lu » en un geste.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pour la PRMP : rapport d’évaluation signé, dépôts clos, pièce de l’attributaire déposée.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cloche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lo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dans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dernières notifications et leur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compteur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quitter l’écran en 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compteur est tenu par le serveur et suivi en temps réel.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ENTRER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comptes vérifiés</a:t>
            </a:r>
            <a:endParaRPr lang="en-US" sz="1500" dirty="0"/>
          </a:p>
        </p:txBody>
      </p:sp>
      <p:sp>
        <p:nvSpPr>
          <p:cNvPr id="7" name="Text 5"/>
          <p:cNvSpPr/>
          <p:nvPr/>
        </p:nvSpPr>
        <p:spPr>
          <a:xfrm>
            <a:off x="952476"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Aucun compte de PRMP ne s’ouvre sans contrôle humain de son arrêté de nomination ; une entité contractante n’a qu’une seule PRMP active.</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session protégée</a:t>
            </a:r>
            <a:endParaRPr lang="en-US" sz="1500" dirty="0"/>
          </a:p>
        </p:txBody>
      </p:sp>
      <p:sp>
        <p:nvSpPr>
          <p:cNvPr id="11" name="Text 9"/>
          <p:cNvSpPr/>
          <p:nvPr/>
        </p:nvSpPr>
        <p:spPr>
          <a:xfrm>
            <a:off x="4525320"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session vit dans un témoin que les scripts de la page ne lisent pas ; aucun jeton n’est remis au navigateur, la déconnexion est faite par le serveur.</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tentatives freinées et tracées</a:t>
            </a:r>
            <a:endParaRPr lang="en-US" sz="1500" dirty="0"/>
          </a:p>
        </p:txBody>
      </p:sp>
      <p:sp>
        <p:nvSpPr>
          <p:cNvPr id="15" name="Text 13"/>
          <p:cNvSpPr/>
          <p:nvPr/>
        </p:nvSpPr>
        <p:spPr>
          <a:xfrm>
            <a:off x="8098164"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Cinq échecs en quinze minutes verrouillent l’identifiant depuis un même poste ; chaque tentative, réussie ou non, est inscrite au journal des connexions.</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accueil qui ne promet rien d’impossible</a:t>
            </a:r>
            <a:endParaRPr lang="en-US" sz="1500" dirty="0"/>
          </a:p>
        </p:txBody>
      </p:sp>
      <p:sp>
        <p:nvSpPr>
          <p:cNvPr id="19" name="Text 17"/>
          <p:cNvSpPr/>
          <p:nvPr/>
        </p:nvSpPr>
        <p:spPr>
          <a:xfrm>
            <a:off x="952476"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Un geste n’est proposé à l’accueil que si le serveur l’accepterait au moment de l’exécuter.</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urgence mesurée, jamais inventée</a:t>
            </a:r>
            <a:endParaRPr lang="en-US" sz="1500" dirty="0"/>
          </a:p>
        </p:txBody>
      </p:sp>
      <p:sp>
        <p:nvSpPr>
          <p:cNvPr id="23" name="Text 21"/>
          <p:cNvSpPr/>
          <p:nvPr/>
        </p:nvSpPr>
        <p:spPr>
          <a:xfrm>
            <a:off x="4525320"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Retard, échéance proche ou délai tenu sont calculés sur le délai standard de l’étape ; sans point de départ connu, le dossier reste « sans délai ».</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Chacun ne voit que son périmètre</a:t>
            </a:r>
            <a:endParaRPr lang="en-US" sz="1500" dirty="0"/>
          </a:p>
        </p:txBody>
      </p:sp>
      <p:sp>
        <p:nvSpPr>
          <p:cNvPr id="27" name="Text 25"/>
          <p:cNvSpPr/>
          <p:nvPr/>
        </p:nvSpPr>
        <p:spPr>
          <a:xfrm>
            <a:off x="8098164"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PRMP ne voit que ses dossiers et rien d’interne à la Commission ; les contrôleurs sont bornés à leur localité, le Président voit tout.</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02</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Planifier</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La PRMP saisit ou importe son plan de passation, le vérifie avant de le soumettre, puis en suit le contrôle étape par étape jusqu’à la clôture.</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 plan de passation arrive à la Commission sous forme de données, ligne par ligne, et non plus comme un document à ressaisir.</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Avant même la soumission, la PRMP voit les points que le contrôleur regardera, avec l’article de l’arrêté qui les fonde.</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Un plan validé ne se modifie jamais en place : toute mise à jour est une nouvelle version, et l’écart entre versions est conservé.</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L’application de bout en bout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PLANIFIER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plan saisi au plan contrôlé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 dossier de planification naît en brouillon chez la PRMP ; il n’est visible de la Commission qu’à sa soumission.</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OU UGPM</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Saisir ou importer le plan</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En-tête, lignes de marché, bénéficiaires, calendrier prévisionnel, lots — ou import du PPM officiel en PDF.</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OU UGPM</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Relire l’aperçu</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fiche de présentation, le plan et le projet d’AGPM, tels que la Commission les lira.</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Vérifier le plan</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pré-contrôle signale les écarts aux seuils ; chacun se corrige ou s’écarte avec un motif.</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SEULE</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Soumettre</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dossier reçoit sa référence et sa date de fin de traitement prévue.</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Suivre le contrôle</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frise des sept étapes, les jalons du calendrier, la demande de retrait si nécessaire.</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PRMP</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Plan contrôlé, puis mis à jour</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 circuit clos, le plan vit : chaque mise à jour en fait une nouvelle version.</a:t>
            </a:r>
            <a:endParaRPr lang="en-US" sz="1150" dirty="0"/>
          </a:p>
        </p:txBody>
      </p:sp>
      <p:sp>
        <p:nvSpPr>
          <p:cNvPr id="34" name="Text 3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Saisir le plan, ou l’importer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 PRMP choisit le type de dossier, puis saisit son plan de passation ou l’importe depuis le PDF officiel. Rien ne part tant qu’elle ne l’a pas soumis.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Créer un dossier : choisir son type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réer un dossier : choisir son typ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Dossier de planification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plan de passation), dossier de mise en concurrence, ou dossier de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Saisir » crée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brouillon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invisible des contrôleurs jusqu’à la soumission.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L’appel d’offres, lui, se prépare dans sa fiche (partie 04).</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L’en-tête du plan, et l’import PDF</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n-tête du plan, et l’import PDF">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Importer un PPM (PDF)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pré-remplit tout depuis le plan officiel — à vérifier ligne par ligne avant création.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Sinon la saisie : l’entité contractante (parmi celles de la PRMP), l’exercice, la date de signature.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localité et le signataire se déduisent seuls.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ligne de marché</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ligne de marché">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Nature, objet, montant estimatif hors taxes,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mode de passation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forme, financement,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Par ligne : les bénéficiaires, les lots et le calendrier prévisionnel ; l’écran signale les dates manquantes.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 des travaux de réhabilitation, en appel d’offres ouvert.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calendrier prévisionnel (CAPM)</a:t>
            </a:r>
            <a:endParaRPr lang="en-US" sz="2600" dirty="0"/>
          </a:p>
        </p:txBody>
      </p:sp>
      <p:sp>
        <p:nvSpPr>
          <p:cNvPr id="4" name="Shape 2"/>
          <p:cNvSpPr/>
          <p:nvPr/>
        </p:nvSpPr>
        <p:spPr>
          <a:xfrm>
            <a:off x="800080" y="1193800"/>
            <a:ext cx="5443931" cy="5105400"/>
          </a:xfrm>
          <a:prstGeom prst="rect">
            <a:avLst/>
          </a:prstGeom>
          <a:solidFill>
            <a:srgbClr val="FCFCFA"/>
          </a:solidFill>
          <a:ln w="9525">
            <a:solidFill>
              <a:srgbClr val="D5DCE4"/>
            </a:solidFill>
            <a:prstDash val="solid"/>
          </a:ln>
        </p:spPr>
      </p:sp>
      <p:pic>
        <p:nvPicPr>
          <p:cNvPr id="5" name="Image 0" descr="Le calendrier prévisionnel (CAPM)">    </p:cNvPr>
          <p:cNvPicPr>
            <a:picLocks noChangeAspect="1"/>
          </p:cNvPicPr>
          <p:nvPr/>
        </p:nvPicPr>
        <p:blipFill>
          <a:blip r:embed="rId1"/>
          <a:stretch>
            <a:fillRect/>
          </a:stretch>
        </p:blipFill>
        <p:spPr>
          <a:xfrm>
            <a:off x="812780" y="1206500"/>
            <a:ext cx="5418531" cy="5080000"/>
          </a:xfrm>
          <a:prstGeom prst="rect">
            <a:avLst/>
          </a:prstGeom>
        </p:spPr>
      </p:pic>
      <p:sp>
        <p:nvSpPr>
          <p:cNvPr id="6" name="Shape 3"/>
          <p:cNvSpPr/>
          <p:nvPr/>
        </p:nvSpPr>
        <p:spPr>
          <a:xfrm>
            <a:off x="6409106" y="1206500"/>
            <a:ext cx="4969809" cy="5080000"/>
          </a:xfrm>
          <a:prstGeom prst="rect">
            <a:avLst/>
          </a:prstGeom>
          <a:solidFill>
            <a:srgbClr val="FCFCFA"/>
          </a:solidFill>
          <a:ln w="9525">
            <a:solidFill>
              <a:srgbClr val="D5DCE4"/>
            </a:solidFill>
            <a:prstDash val="solid"/>
          </a:ln>
        </p:spPr>
      </p:sp>
      <p:sp>
        <p:nvSpPr>
          <p:cNvPr id="7" name="Shape 4"/>
          <p:cNvSpPr/>
          <p:nvPr/>
        </p:nvSpPr>
        <p:spPr>
          <a:xfrm>
            <a:off x="6409106" y="1206500"/>
            <a:ext cx="38099" cy="5080000"/>
          </a:xfrm>
          <a:prstGeom prst="rect">
            <a:avLst/>
          </a:prstGeom>
          <a:solidFill>
            <a:srgbClr val="1B6FA8"/>
          </a:solidFill>
          <a:ln/>
        </p:spPr>
      </p:sp>
      <p:sp>
        <p:nvSpPr>
          <p:cNvPr id="8" name="Text 5"/>
          <p:cNvSpPr/>
          <p:nvPr/>
        </p:nvSpPr>
        <p:spPr>
          <a:xfrm>
            <a:off x="6574202" y="1308100"/>
            <a:ext cx="4677716"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processus du mode de passation, groupés par phase, chacun avec sa date de début et, au besoin, de fin.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 moins un processus daté ; la date de fin est proposée à la veille du processus suivant.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chronologie est contrôlée ; un délai aménagé appelle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justification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jointes et le projet d’AGPM</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pièces jointes et le projet d’AGPM">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exigées dépendent du type de dossier, fixées dans les référentiels de l’Administrateur ; ici, aucune n’est exigée.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Formats acceptés : PDF, JPEG, PNG ; chaque fichier est contrôlé.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marché en appel d’offres ouvert fait naître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d’AGPM</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dérivé du plan et visible dans l’aperçu.</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L’aperçu avant création</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perçu avant création">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fiche de présentation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plan de passation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le projet d’AGPM, tels que la Commission les lira.</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ne part tant que le dossier n’est pas créé, puis soumis.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Vérifier avant de soumettre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brouillon se reprend autant qu’il le faut. Avant de soumettre, la PRMP lance le pré-contrôle : il signale, il ne décide jamais.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Mes brouillons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s brouill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l’UGPM complète les brouillons sans les soumettre.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commencés et pas encore soumis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ouvrir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soumettre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supprimer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brouillon n’a pas encore de référence : elle lui est attribuée à la soumission.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ne part à la Commission avant la soumission.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Vérifier son plan avant de le soumettre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Vérifier son plan avant de le soumett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points que le contrôleur de la CNM regardera, avec leur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fondement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ici, la catégorie de seuil à préciser (arrêté n° 13 156/2019-MEF, art. 2).</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point se corrige — une correction est proposée — ou s’écarte avec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 visible du contrôleur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Demander une piste à l’assistant » ouvre des pistes, présentées à part des constats. Rien ici n’empêche de soumettre.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Suivre le contrôle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Dès la soumission, le dossier porte sa fin de traitement prévue. La PRMP voit l’avancement, jamais les coulisses.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suivi des dossiers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suivi des dossie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dossier avec son type, son entité,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date de dépôt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fin de traitement prévue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son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dépôt pas encore numéroté par le Secrétaire n’a pas encore de référence ni de fin prévue.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page du dossier : la frise des sept étapes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page du dossier : la frise des sept étap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et, sur la même page, chaque profil avec son geste.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Réception, dispatch, examen, projet de PV, PV signé, vérification, clôture : chaque étape franchie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datée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un plan de 233 lignes en vérification, fin prévue le 14/10 ; le plan lui-même se lit en dessous.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Résumer ce dossier » : une synthèse rédigée à la demande, qui ne remplace ni les pièces ni l’examen.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 plan clôturé, ses lignes suivies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Un plan clôturé, ses lignes suivi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circuit est terminé : les sept étapes sont franchies et datées.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ligne porte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statut de marché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Lancé » dès que la mise en concurrence est ouverte.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Mes plans et leurs marchés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s plans et leurs march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plan, son exercice, son nombre de marchés et, parmi eux, ceux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appel d’offres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Détails » ouvre le plan sans quitter l’écran.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détail d’un plan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étail d’un pla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plan actif en quatre onglets : fiche de présentation, plan de passation, projet d’AGPM, pièces jointes.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ligne : montants, mode, financement, bénéficiaire, dates prévisionnelles et statut.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Faire évoluer le plan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Un plan contrôlé se met à jour par une nouvelle version ; un dossier soumis peut être retiré tant que son PV n’est pas signé ; les jalons du plan sont surveillés.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Mettre à jour un PPM</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ttre à jour un PPM">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dernière version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chaque plan dont la décision est transmise ou le dossier clôturé.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Mettre à jour » ouvre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nouvelle version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 plan validé ne se modifie jamais en place.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Demander le retrait d’un dossier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emander le retrait d’un doss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le Président ou le Chef de commission statue.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lettre datée et signée (PDF de 10 Mo au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Seuls les dossiers dont le PV n’est pas signé sont proposés.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Mes demandes » suit leur statut et, le cas échéant, le motif du refus.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calendrier des jalons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calendrier des jal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chaque ligne des plans : la date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prévue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date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réelle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chaque processus du calendrier prévisionnel.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alerte quand un jalon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imminent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retard</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ici, des lancements prévus en avril et jamais réalisés.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dates prévues se corrigent dans le dossier, pas ici.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PLANIFIER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 mode de passation reste à la PRMP</a:t>
            </a:r>
            <a:endParaRPr lang="en-US" sz="1500" dirty="0"/>
          </a:p>
        </p:txBody>
      </p:sp>
      <p:sp>
        <p:nvSpPr>
          <p:cNvPr id="7" name="Text 5"/>
          <p:cNvSpPr/>
          <p:nvPr/>
        </p:nvSpPr>
        <p:spPr>
          <a:xfrm>
            <a:off x="952476"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L’application ne détermine ni ne corrige jamais un mode de passation : elle le conserve tel que saisi et le confronte aux seuils de l’arrêté.</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pré-contrôle qui signale sans bloquer</a:t>
            </a:r>
            <a:endParaRPr lang="en-US" sz="1500" dirty="0"/>
          </a:p>
        </p:txBody>
      </p:sp>
      <p:sp>
        <p:nvSpPr>
          <p:cNvPr id="11" name="Text 9"/>
          <p:cNvSpPr/>
          <p:nvPr/>
        </p:nvSpPr>
        <p:spPr>
          <a:xfrm>
            <a:off x="4525320"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Aucun signalement n’empêche une soumission, et une panne du pré-contrôle non plus ; un écart non pertinent s’écarte, avec un motif.</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écartements figés et visibles</a:t>
            </a:r>
            <a:endParaRPr lang="en-US" sz="1500" dirty="0"/>
          </a:p>
        </p:txBody>
      </p:sp>
      <p:sp>
        <p:nvSpPr>
          <p:cNvPr id="15" name="Text 13"/>
          <p:cNvSpPr/>
          <p:nvPr/>
        </p:nvSpPr>
        <p:spPr>
          <a:xfrm>
            <a:off x="8098164"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motif d’un écartement est vu par le contrôleur ; il est figé à la soumission et ne s’efface jamais.</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seule personne engage l’entité</a:t>
            </a:r>
            <a:endParaRPr lang="en-US" sz="1500" dirty="0"/>
          </a:p>
        </p:txBody>
      </p:sp>
      <p:sp>
        <p:nvSpPr>
          <p:cNvPr id="19" name="Text 17"/>
          <p:cNvSpPr/>
          <p:nvPr/>
        </p:nvSpPr>
        <p:spPr>
          <a:xfrm>
            <a:off x="952476"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Seule la PRMP soumet, retire ou complète ; l’UGPM prépare, et chaque acte porte son auteur.</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plan validé ne s’écrase jamais</a:t>
            </a:r>
            <a:endParaRPr lang="en-US" sz="1500" dirty="0"/>
          </a:p>
        </p:txBody>
      </p:sp>
      <p:sp>
        <p:nvSpPr>
          <p:cNvPr id="23" name="Text 21"/>
          <p:cNvSpPr/>
          <p:nvPr/>
        </p:nvSpPr>
        <p:spPr>
          <a:xfrm>
            <a:off x="4525320"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Toute mise à jour est une nouvelle version, avec un motif ; l’écart entre versions est figé, et l’examen porte sur les lignes changées.</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fin de traitement annoncée dès le dépôt</a:t>
            </a:r>
            <a:endParaRPr lang="en-US" sz="1500" dirty="0"/>
          </a:p>
        </p:txBody>
      </p:sp>
      <p:sp>
        <p:nvSpPr>
          <p:cNvPr id="27" name="Text 25"/>
          <p:cNvSpPr/>
          <p:nvPr/>
        </p:nvSpPr>
        <p:spPr>
          <a:xfrm>
            <a:off x="8098164"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date prévisionnelle de fin est calculée en jours ouvrés et chaque étape franchie est datée sur la frise.</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03</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Contrôler</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Le dossier soumis par la PRMP est reçu, attribué, examiné et conclu par un PV signé de la Commission, puis vérifié, transmis au SIGMP et archivé — et le contrôle porte désormais sur les données elles-mêmes.</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Chaque dossier suit un circuit unique en sept étapes, visible de tous ses acteurs sur une même frise, du dépôt à la clôture.</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Chaque geste a son auteur, sa date et sa durée : les délais de la Commission se mesurent sans saisie, en heures ouvrées.</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Pour une procédure conduite dans l’application, la Commission ne juge plus des pièces recopiées : elle lit les écrans figés à la soumission, avec leur empreinte, et les contrôles automatiques nomment ce qui ne va pas.</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L’application de bout en bout · 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circuit de contrôle d’un dossier</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Du dépôt par la PRMP à la clôture, sept étapes : réception, dispatch, examen, projet de PV, PV signé, vérification, clôture. Chacune a son responsable et son délai.</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SECRÉTAIRE</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Recevoir</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Secrétaire contrôle les pièces une à une, puis numérote le dossier.</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PRÉSIDENT OU LE CHEF DE COMMISSION</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Dispatcher</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dossier est attribué à un Membre, avec une consigne facultative.</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MEMBRE ATTRIBUTAIRE</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Examiner</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Membre statue chaque pièce et chaque point de contrôle, lit les contrôles automatiques, puis rend son avis.</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PRÉSIDENT OU LE CHEF DE COMMISSION, ET LE CO-SIGNATAIRE DÉSIGNÉ</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Viser et signer</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projet de PV circule, est visé, puis signé par deux personnes distinctes au moins.</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VÉRIFICATEUR</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Vérifier et transmettre</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réserves sont levées une à une ; le sens de la décision part au SIGMP.</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L’ASSISTANT</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Archiver</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L’archivage du PV clôt le dossier.</a:t>
            </a:r>
            <a:endParaRPr lang="en-US" sz="1150" dirty="0"/>
          </a:p>
        </p:txBody>
      </p:sp>
      <p:sp>
        <p:nvSpPr>
          <p:cNvPr id="34" name="Text 3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52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Recevoir le dossier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dossier soumis par la PRMP arrive chez le Secrétaire de sa localité. Rien n’est reçu tant que les pièces obligatoires ne sont pas déclarées conformes.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53</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Tous les dossiers, vus du Secrétaire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Tous les dossiers, vus du Secréta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Secrétaire.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de son périmètre, chacun avec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frise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sept étapes et la date de chaque étape franchie.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vue en frise ou en tableau ; le statut du dossier à côté de sa référence.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dépôt arrive chez le Secrétaire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épôt arrive chez le Secréta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Secrétaire.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Étape 1 sur 7 · à vous » : le dépôt, sa date et son heure, le nombre de pièces jointes.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délai de l’étape est affiché ;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retard</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s’affiche en rouge (ici, 18 h).</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un avenant n° 1, rattaché à son marché : la page renvoie au dossier du marché et donne le montant.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55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Recevabilité et réception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Recevabilité et récep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Secrétaire.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contrôle de complétude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pièce par pièce : ouvrir, déclarer conforme ou non conforme, motiver.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exigées sont celles du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type de dossier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ici les quatre pièces obligatoires d’un avenant.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Tant qu’une pièce obligatoire n’est pas déclarée conforme, l’enregistrement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bloqué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les pièces en cause sont nommées.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56</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Attribuer le dossier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Président, ou le Chef de commission pour sa localité, confie le dossier à un Membre. La charge de chacun et les chaînes de contrôle guident ce choix.</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57</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Tous les dossiers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Tous les dossie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(le Chef de commission,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Tous les types de dossiers confondus, chacun avec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frise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son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actions se font depuis la ligne, selon les délégations : ici « Vérifier » sur les dossiers en vérification.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58</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Dispatcher à un Membre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Dispatcher à un Memb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ou le Chef de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Membre assigné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 nombre de dossiers qu’il a en cours pour équilibrer la charge.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Chef de commission est associé d’office : il reçoit copie du dispatch et suit le circuit.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date de dispatch et des instructions facultatives pour le Membre.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59</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répartition du dispatch</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répartition du dispatch">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dispatchés, par contrôleur et par type : chaque dossier compte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une seule fois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dossier sort de la statistique dès que son PV définitif est signé.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60</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chaînes de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haînes de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le Président, le Chef de commission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Membre rattaché à un Vérificateur, chaque Vérificateur à un Assistant.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rattachement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oriente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la vérification et l’archivage ; il n’interdit rien. Une chaîne incomplète n’est pas bloquante : tout porteur du rôle dans la localité reste compétent (« repli localité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61</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dossier, vu du Président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ossier, vu du Présiden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frise nomme qui a agi : « Réceptionné par le Secrétaire », « Attribué à un Membre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L’étape en cours dit chez qui se trouve le dossier et son délai : ici l’examen,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3 h de retard</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DAO validée et les pièces du dossier, consultables par la Commission ; le journal et les délais en haut de page.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62</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Examiner et conclure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Seul le Membre attributaire examine. Son examen produit le projet de PV, qui circule jusqu’au visa et aux signatures.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63</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dossiers de la localité, vus du Membre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ossiers de la localité, vus du Memb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de sa localité avec leur frise ; le bouton « Examiner » sur celui qui lui est attribué.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64</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L’examen séquentiel</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xamen séquentiel">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attributaire.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examen par étapes, dans l’ordre : ici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pièces jointes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puis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contrôles du dossier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puis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synthèse et l’avis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pièce est lue à l’écran puis déclarée « RAS » ou porte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observation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on ne passe pas à la suivante sans l’avoir statuée.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tête : la consigne du dispatch, le temps restant, et le compte des contrôles non conformes.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Réinitialiser » efface l’examen tant qu’aucun projet de PV n’existe.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65</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motifs-types de la conclusion</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motifs-types de la conclusion">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tient le référentiel ; le Membre, le Président et le Chef de commission s’en servent.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formulations du manuel : motifs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renvoi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(lettre de renvoi) et d’</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défavorable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(projet de PV), par type de dossier et, au besoin, par catégorie.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contrôleur insère le texte puis le complète : le motif n’engage rien par lui-même. Un motif se désactive plutôt que de se supprimer.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66</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projet de PV</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projet de PV">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L’examen terminé produit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de PV</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l’avis du Membre et ses observations.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Membre le soumet au Président ou au Chef de commission qui l’a dispatché.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67</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visa du Président</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visa du Président">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ou le Chef de commission qui a dispatché.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visa clôt la navette en un geste : il arrête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global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désigne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co-signataire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pose sa propre signature.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L’avis est pré-rempli avec celui du Membre ; le changer ici le remplace.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la place, il peut retourner le projet au Membre, avec un commentaire, ou établir une lettre de renvoi.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68</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 CO-SIGNATAIRE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seconde signature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 seconde signa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désigné co-signataire.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PV visé attend les parts de signature des désignés ; le PV est signé par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deux personnes distinctes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au moins.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dernière signature rend le PV définitif.</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69</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L’examen de dossiers : trois productions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xamen de dossiers : trois produc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(de même le Chef de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Trois cartes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projets de PV</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navette,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PV définitifs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signés,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lettres de renvoi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leur suivi.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de chaque production s’ouvre sous sa carte.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70</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PV et lettres de renvoi, vus du Membre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PV et lettres de renvoi, vus du Memb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même regroupement : ses projets de PV à gérer et soumettre, les PV définitifs (ici quinze), les projets de lettre de renvoi.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71</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Vérifier, transmettre, archiver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Aucun avis ne clôt le dossier à la signature : le PV part au Vérificateur, qui transmet la décision au SIGMP, puis à l’Assistant, qui archive.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72</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dossiers à vérifier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ossiers à vérif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Vérificateur.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dont le PV est signé, « à vérifier par vous » quand la chaîne de contrôle le désigne.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chacun : le PV définitif et le geste « Transmettre la décision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73</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Transmettre la décision à SIGMP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Transmettre la décision à SIG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Vérificateur.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du dossier, son contexte, l’avis du PV et les observations du PV à portée de main.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sens à transmettre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se déduit de l’avis : ici « Favorable » donne « Approuvé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Après la transmission, le PV part de lui-même chez l’Assistant pour archivage.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74</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VÉRIFICATEUR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dossiers vérifiés et clôturés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ossiers vérifiés et clôtur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Vérificateur.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L’historique de ses vérifications : « Décision transmise à SIGMP », puis « Clôturé » après l’archivage, avec la fin de traitement à la Commission.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75</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ASSISTANT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PV reçus pour archivage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V reçus pour archivag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L’Assistant (ici le Président, qui exerce cette tâche par délégation).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PV définitifs transmis à l’archivage, avec leur avis et leur date de signature.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PV dit qui doit l’archiver (« à archiver par l’Assistant ») ou quand il l’a été.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76</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ASSISTANT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L’archivage du PV</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rchivage du PV">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L’Assistant.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Dernière étape avant la clôture » : la décision est transmise au SIGMP.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Archiver le PV » clôt le dossier.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77</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voit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e que voit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même frise que la Commission : chaque étape franchie est datée ; ici une déclaration sans suite en vérification.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date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fin de traitement prévue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lui est annoncée dès le dépôt.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de son dossier : ici celles qu’exige une déclaration sans suite (motifs, projet de décision, justificatifs…).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78</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PV définitifs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Ses PV définitif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PV signés de ses dossiers, avec leurs co-signataires, à afficher ; la base d’une rectification selon les observations.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côté, ses lettres de renvoi : les pièces complémentaires à transmettre.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79</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Statuer sur les demandes de retrait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Statuer sur les demandes de retrai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ou le Chef de commission de la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demandes de retrait des PRMP, à valider, et leur historique.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Accepter renvoie le dossier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brouillon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refuser le laisse dans le circuit ; chaque décision est motivée.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80</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contrôle porte sur les données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manuel de contrôle révisé (lot 1, livré le 13/10) s’applique aux procédures conduites dans l’application : les pièces que l’application produit ne sont plus demandées, la Commission lit les écrans figés à la soumission, l’application joue les contrôles automatiques et le Membre pose les siens.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81</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écrans figés à la soumission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écrans figés à la sou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de la Commission, en lecture seule ; 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chaque soumission, l’application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écrans de la procédure tels qu’ils étaient : ici la ligne du plan, les avis et lettres, la commission d’appel d’offres.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écran figé porte le numéro de la soumission, sa date, son auteur et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atteste qu’il n’a pas changé.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Commission les lit à la place des pièces qui ne sont plus jointes, et peut les exporter en PDF pour l’archivage avec le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82</a:t>
            </a:r>
            <a:endParaRPr lang="en-US"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contrôles du dossier, vus de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ontrôles du dossier, vus de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tous ceux qui lisent le dossier.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L’onglet « Contrôles » : chaque contrôle avec sa référence au manuel, son résultat, le constat, son auteur et sa date.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compteurs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conformes / non conformes / sans objet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l’historique complet sous un volet ; l’export en PDF.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même page,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d’avis spécifique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(PDF ou Word, filigrane « PROJET ») produit depuis la fiche validée : il ne lance rien.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83</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Lever ou ajouter un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ver ou ajouter un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attributaire.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contrôles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automatiques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sont joués par l’application à la soumission ; le Membre pose les siens pendant l’examen.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dernier résultat posé fait foi : une non-conformité 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lève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posant « Conforme » ou « Sans objet », avec une observation.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non-conformité non levée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interdit l’avis « Favorable »</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réserve.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84</a:t>
            </a:r>
            <a:endParaRPr lang="en-US" sz="11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points de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oints de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grille d’examen : chaque point porte sa famille de dossier et, au besoin,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sous-type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une catégorie ou une forme de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portée range le point : par ligne de marché, une fois pour le dossier, la fiche de présentation ou le projet d’AGPM.</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points des dossiers d’appel d’offres renvoient aux informations de la fiche DAO qu’ils vérifient.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85</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taux d’écartement des règles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taux d’écartement des règl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chaque règle du pré-contrôle des plans : signalements ouverts, écartés, levés, et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taux d’écartement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règle écartée presque à chaque fois s’éteint, sans rien perdre : les signalements écartés gardent leur motif.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 règles » (faits établis) sont distinguées des « pistes » de l’assistant (suggestions).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86</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délais standards du circuit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élais standards du circui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délai de chaque étape de la Commission,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heures ouvrées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(8 h = 1 jour ouvré) : il alimente la date de fin annoncée à la PRMP.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bas, les neuf délais de la loi n° 2016-055, en lecture : ils ne se règlent pas (voir la partie 09).</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87</a:t>
            </a:r>
            <a:endParaRPr lang="en-US"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délais par sous-type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délais par sous-typ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un sous-type, un délai propre à une étape (ici 24 h pour la réception d’une déclaration sans suite), ou « Revenir au standard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L’alerte d’examen, au-delà de cinq jours ouvrés, ne dépend pas de ces réglages.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88</a:t>
            </a:r>
            <a:endParaRPr lang="en-US"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CONTRÔLER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Rien n’est reçu incomplet</a:t>
            </a:r>
            <a:endParaRPr lang="en-US" sz="1500" dirty="0"/>
          </a:p>
        </p:txBody>
      </p:sp>
      <p:sp>
        <p:nvSpPr>
          <p:cNvPr id="7" name="Text 5"/>
          <p:cNvSpPr/>
          <p:nvPr/>
        </p:nvSpPr>
        <p:spPr>
          <a:xfrm>
            <a:off x="952476"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réception est bloquée tant qu’une pièce obligatoire n’est pas déclarée conforme, et les pièces en cause sont nommées.</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seul examinateur, un PV à deux signatures</a:t>
            </a:r>
            <a:endParaRPr lang="en-US" sz="1500" dirty="0"/>
          </a:p>
        </p:txBody>
      </p:sp>
      <p:sp>
        <p:nvSpPr>
          <p:cNvPr id="11" name="Text 9"/>
          <p:cNvSpPr/>
          <p:nvPr/>
        </p:nvSpPr>
        <p:spPr>
          <a:xfrm>
            <a:off x="4525320"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Seul le Membre attributaire examine ; le PV n’est définitif que signé par deux personnes distinctes au moins, dont le viseur.</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La Commission statue sur ce qu’elle a reçu</a:t>
            </a:r>
            <a:endParaRPr lang="en-US" sz="1500" dirty="0"/>
          </a:p>
        </p:txBody>
      </p:sp>
      <p:sp>
        <p:nvSpPr>
          <p:cNvPr id="15" name="Text 13"/>
          <p:cNvSpPr/>
          <p:nvPr/>
        </p:nvSpPr>
        <p:spPr>
          <a:xfrm>
            <a:off x="8098164"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écrans de la procédure sont figés à chaque soumission, immuables, avec leur empreinte : ce qui change ensuite ne touche pas ce que la Commission a examiné.</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contrôles automatiques et opposables</a:t>
            </a:r>
            <a:endParaRPr lang="en-US" sz="1500" dirty="0"/>
          </a:p>
        </p:txBody>
      </p:sp>
      <p:sp>
        <p:nvSpPr>
          <p:cNvPr id="19" name="Text 17"/>
          <p:cNvSpPr/>
          <p:nvPr/>
        </p:nvSpPr>
        <p:spPr>
          <a:xfrm>
            <a:off x="952476"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L’application joue les contrôles du manuel à la soumission ; une non-conformité bloquante refuse le dossier en disant pourquoi, une non-conformité non levée interdit l’avis favorable sans réserve.</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délais mesurés, pas déclarés</a:t>
            </a:r>
            <a:endParaRPr lang="en-US" sz="1500" dirty="0"/>
          </a:p>
        </p:txBody>
      </p:sp>
      <p:sp>
        <p:nvSpPr>
          <p:cNvPr id="23" name="Text 21"/>
          <p:cNvSpPr/>
          <p:nvPr/>
        </p:nvSpPr>
        <p:spPr>
          <a:xfrm>
            <a:off x="4525320"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Chaque étape est chronométrée en heures ouvrées et imputée à son auteur ; la PRMP connaît dès le dépôt la date de fin prévue.</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traçabilité complète</a:t>
            </a:r>
            <a:endParaRPr lang="en-US" sz="1500" dirty="0"/>
          </a:p>
        </p:txBody>
      </p:sp>
      <p:sp>
        <p:nvSpPr>
          <p:cNvPr id="27" name="Text 25"/>
          <p:cNvSpPr/>
          <p:nvPr/>
        </p:nvSpPr>
        <p:spPr>
          <a:xfrm>
            <a:off x="8098164"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Chaque geste, chaque décision de pièce, chaque contrôle porte son auteur et sa date ; le journal du dossier les garde, retrait compris.</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89</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04</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Préparer le DAO</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La PRMP prépare le dossier d’appel d’offres dans un formulaire, à partir de la ligne du plan : l’application en tire le DAO complet, sur les documents types de l’ARMP, et prépare la procédure en ligne.</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Une information se saisit une seule fois et se reporte dans tous les documents qui l’utilisent : ce qui vient du plan de passation n’est jamais ressaisi, ni contredit.</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La fiche est contrôlée avant d’être validée, puis figée et versionnée : la Commission examine exactement ce que les candidats retireront, et rien ne se régénère après coup.</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 manuel révisé est appliqué : le mode de remise ne change plus après la première validation, sauf migration motivée par l’Administrateur ; les questions des candidats et leurs réponses sont diffusées à tous ; le dépôt scellé vaut signature de l’offre.</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L’application de bout en bout · 90</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 la ligne du plan au DAO publié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La PRMP, aidée de son UGPM, prépare et valide la fiche ; l’Administrateur désigne le responsable de la procédure en ligne ; la Commission examine le DAO ; les candidats le retirent et posent leurs questions.</a:t>
            </a:r>
            <a:endParaRPr lang="en-US" sz="1300" dirty="0"/>
          </a:p>
        </p:txBody>
      </p:sp>
      <p:sp>
        <p:nvSpPr>
          <p:cNvPr id="5" name="Shape 3"/>
          <p:cNvSpPr/>
          <p:nvPr/>
        </p:nvSpPr>
        <p:spPr>
          <a:xfrm>
            <a:off x="812780" y="1778000"/>
            <a:ext cx="1389708" cy="1905000"/>
          </a:xfrm>
          <a:prstGeom prst="roundRect">
            <a:avLst>
              <a:gd name="adj" fmla="val 3948"/>
            </a:avLst>
          </a:prstGeom>
          <a:solidFill>
            <a:srgbClr val="FCFCFA"/>
          </a:solidFill>
          <a:ln w="19050">
            <a:solidFill>
              <a:srgbClr val="12324A"/>
            </a:solidFill>
            <a:prstDash val="solid"/>
          </a:ln>
        </p:spPr>
      </p:sp>
      <p:sp>
        <p:nvSpPr>
          <p:cNvPr id="6" name="Text 4"/>
          <p:cNvSpPr/>
          <p:nvPr/>
        </p:nvSpPr>
        <p:spPr>
          <a:xfrm>
            <a:off x="901677"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OU UGPM</a:t>
            </a:r>
            <a:endParaRPr lang="en-US" sz="1000" dirty="0"/>
          </a:p>
        </p:txBody>
      </p:sp>
      <p:sp>
        <p:nvSpPr>
          <p:cNvPr id="7" name="Text 5"/>
          <p:cNvSpPr/>
          <p:nvPr/>
        </p:nvSpPr>
        <p:spPr>
          <a:xfrm>
            <a:off x="901677"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Choisir la ligne</a:t>
            </a:r>
            <a:endParaRPr lang="en-US" sz="1400" dirty="0"/>
          </a:p>
        </p:txBody>
      </p:sp>
      <p:sp>
        <p:nvSpPr>
          <p:cNvPr id="8" name="Text 6"/>
          <p:cNvSpPr/>
          <p:nvPr/>
        </p:nvSpPr>
        <p:spPr>
          <a:xfrm>
            <a:off x="901677"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Une ligne d’un plan au PV signé favorable, dont le mode de passation appelle un DAO : 23 informations en sont reprises.</a:t>
            </a:r>
            <a:endParaRPr lang="en-US" sz="1150" dirty="0"/>
          </a:p>
        </p:txBody>
      </p:sp>
      <p:sp>
        <p:nvSpPr>
          <p:cNvPr id="9" name="Text 7"/>
          <p:cNvSpPr/>
          <p:nvPr/>
        </p:nvSpPr>
        <p:spPr>
          <a:xfrm>
            <a:off x="2189788"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342184" y="1778000"/>
            <a:ext cx="1389708" cy="1905000"/>
          </a:xfrm>
          <a:prstGeom prst="roundRect">
            <a:avLst>
              <a:gd name="adj" fmla="val 3948"/>
            </a:avLst>
          </a:prstGeom>
          <a:solidFill>
            <a:srgbClr val="FCFCFA"/>
          </a:solidFill>
          <a:ln w="19050">
            <a:solidFill>
              <a:srgbClr val="12324A"/>
            </a:solidFill>
            <a:prstDash val="solid"/>
          </a:ln>
        </p:spPr>
      </p:sp>
      <p:sp>
        <p:nvSpPr>
          <p:cNvPr id="11" name="Text 9"/>
          <p:cNvSpPr/>
          <p:nvPr/>
        </p:nvSpPr>
        <p:spPr>
          <a:xfrm>
            <a:off x="2431082"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OU UGPM</a:t>
            </a:r>
            <a:endParaRPr lang="en-US" sz="1000" dirty="0"/>
          </a:p>
        </p:txBody>
      </p:sp>
      <p:sp>
        <p:nvSpPr>
          <p:cNvPr id="12" name="Text 10"/>
          <p:cNvSpPr/>
          <p:nvPr/>
        </p:nvSpPr>
        <p:spPr>
          <a:xfrm>
            <a:off x="2431082"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Cadrer</a:t>
            </a:r>
            <a:endParaRPr lang="en-US" sz="1400" dirty="0"/>
          </a:p>
        </p:txBody>
      </p:sp>
      <p:sp>
        <p:nvSpPr>
          <p:cNvPr id="13" name="Text 11"/>
          <p:cNvSpPr/>
          <p:nvPr/>
        </p:nvSpPr>
        <p:spPr>
          <a:xfrm>
            <a:off x="2431082"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Dix questions (lots, prix, garantie, avance, mode de remise…) ouvrent ou ferment les rubriques du dossier.</a:t>
            </a:r>
            <a:endParaRPr lang="en-US" sz="1150" dirty="0"/>
          </a:p>
        </p:txBody>
      </p:sp>
      <p:sp>
        <p:nvSpPr>
          <p:cNvPr id="14" name="Text 12"/>
          <p:cNvSpPr/>
          <p:nvPr/>
        </p:nvSpPr>
        <p:spPr>
          <a:xfrm>
            <a:off x="3719193"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3871589" y="1778000"/>
            <a:ext cx="1389708" cy="1905000"/>
          </a:xfrm>
          <a:prstGeom prst="roundRect">
            <a:avLst>
              <a:gd name="adj" fmla="val 3948"/>
            </a:avLst>
          </a:prstGeom>
          <a:solidFill>
            <a:srgbClr val="FCFCFA"/>
          </a:solidFill>
          <a:ln w="19050">
            <a:solidFill>
              <a:srgbClr val="12324A"/>
            </a:solidFill>
            <a:prstDash val="solid"/>
          </a:ln>
        </p:spPr>
      </p:sp>
      <p:sp>
        <p:nvSpPr>
          <p:cNvPr id="16" name="Text 14"/>
          <p:cNvSpPr/>
          <p:nvPr/>
        </p:nvSpPr>
        <p:spPr>
          <a:xfrm>
            <a:off x="3960487"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OU UGPM</a:t>
            </a:r>
            <a:endParaRPr lang="en-US" sz="1000" dirty="0"/>
          </a:p>
        </p:txBody>
      </p:sp>
      <p:sp>
        <p:nvSpPr>
          <p:cNvPr id="17" name="Text 15"/>
          <p:cNvSpPr/>
          <p:nvPr/>
        </p:nvSpPr>
        <p:spPr>
          <a:xfrm>
            <a:off x="3960487"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Saisir une fois</a:t>
            </a:r>
            <a:endParaRPr lang="en-US" sz="1400" dirty="0"/>
          </a:p>
        </p:txBody>
      </p:sp>
      <p:sp>
        <p:nvSpPr>
          <p:cNvPr id="18" name="Text 16"/>
          <p:cNvSpPr/>
          <p:nvPr/>
        </p:nvSpPr>
        <p:spPr>
          <a:xfrm>
            <a:off x="3960487"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Bloc par bloc, lot par lot ; le besoin, les pièces de l’offre, les spécifications techniques.</a:t>
            </a:r>
            <a:endParaRPr lang="en-US" sz="1150" dirty="0"/>
          </a:p>
        </p:txBody>
      </p:sp>
      <p:sp>
        <p:nvSpPr>
          <p:cNvPr id="19" name="Text 17"/>
          <p:cNvSpPr/>
          <p:nvPr/>
        </p:nvSpPr>
        <p:spPr>
          <a:xfrm>
            <a:off x="5248597"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5400994" y="1778000"/>
            <a:ext cx="1389708" cy="1905000"/>
          </a:xfrm>
          <a:prstGeom prst="roundRect">
            <a:avLst>
              <a:gd name="adj" fmla="val 3948"/>
            </a:avLst>
          </a:prstGeom>
          <a:solidFill>
            <a:srgbClr val="FCFCFA"/>
          </a:solidFill>
          <a:ln w="19050">
            <a:solidFill>
              <a:srgbClr val="12324A"/>
            </a:solidFill>
            <a:prstDash val="solid"/>
          </a:ln>
        </p:spPr>
      </p:sp>
      <p:sp>
        <p:nvSpPr>
          <p:cNvPr id="21" name="Text 19"/>
          <p:cNvSpPr/>
          <p:nvPr/>
        </p:nvSpPr>
        <p:spPr>
          <a:xfrm>
            <a:off x="5489891"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a:t>
            </a:r>
            <a:endParaRPr lang="en-US" sz="1000" dirty="0"/>
          </a:p>
        </p:txBody>
      </p:sp>
      <p:sp>
        <p:nvSpPr>
          <p:cNvPr id="22" name="Text 20"/>
          <p:cNvSpPr/>
          <p:nvPr/>
        </p:nvSpPr>
        <p:spPr>
          <a:xfrm>
            <a:off x="5489891"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Contrôler, valider</a:t>
            </a:r>
            <a:endParaRPr lang="en-US" sz="1400" dirty="0"/>
          </a:p>
        </p:txBody>
      </p:sp>
      <p:sp>
        <p:nvSpPr>
          <p:cNvPr id="23" name="Text 21"/>
          <p:cNvSpPr/>
          <p:nvPr/>
        </p:nvSpPr>
        <p:spPr>
          <a:xfrm>
            <a:off x="5489891"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contrôles bloquants levés, la PRMP valide : la version est figée et les documents produits.</a:t>
            </a:r>
            <a:endParaRPr lang="en-US" sz="1150" dirty="0"/>
          </a:p>
        </p:txBody>
      </p:sp>
      <p:sp>
        <p:nvSpPr>
          <p:cNvPr id="24" name="Text 22"/>
          <p:cNvSpPr/>
          <p:nvPr/>
        </p:nvSpPr>
        <p:spPr>
          <a:xfrm>
            <a:off x="6778002"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6930398" y="1778000"/>
            <a:ext cx="1389708" cy="1905000"/>
          </a:xfrm>
          <a:prstGeom prst="roundRect">
            <a:avLst>
              <a:gd name="adj" fmla="val 3948"/>
            </a:avLst>
          </a:prstGeom>
          <a:solidFill>
            <a:srgbClr val="FCFCFA"/>
          </a:solidFill>
          <a:ln w="19050">
            <a:solidFill>
              <a:srgbClr val="12324A"/>
            </a:solidFill>
            <a:prstDash val="solid"/>
          </a:ln>
        </p:spPr>
      </p:sp>
      <p:sp>
        <p:nvSpPr>
          <p:cNvPr id="26" name="Text 24"/>
          <p:cNvSpPr/>
          <p:nvPr/>
        </p:nvSpPr>
        <p:spPr>
          <a:xfrm>
            <a:off x="7019296"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ADMINISTRATEUR, RESPONSABLE DE LA PROCÉDURE</a:t>
            </a:r>
            <a:endParaRPr lang="en-US" sz="1000" dirty="0"/>
          </a:p>
        </p:txBody>
      </p:sp>
      <p:sp>
        <p:nvSpPr>
          <p:cNvPr id="27" name="Text 25"/>
          <p:cNvSpPr/>
          <p:nvPr/>
        </p:nvSpPr>
        <p:spPr>
          <a:xfrm>
            <a:off x="7019296"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Préparer la procédure en ligne</a:t>
            </a:r>
            <a:endParaRPr lang="en-US" sz="1400" dirty="0"/>
          </a:p>
        </p:txBody>
      </p:sp>
      <p:sp>
        <p:nvSpPr>
          <p:cNvPr id="28" name="Text 26"/>
          <p:cNvSpPr/>
          <p:nvPr/>
        </p:nvSpPr>
        <p:spPr>
          <a:xfrm>
            <a:off x="7019296"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d’appel d’offres, le responsable, les paramètres internes et la cérémonie des clés.</a:t>
            </a:r>
            <a:endParaRPr lang="en-US" sz="1150" dirty="0"/>
          </a:p>
        </p:txBody>
      </p:sp>
      <p:sp>
        <p:nvSpPr>
          <p:cNvPr id="29" name="Text 27"/>
          <p:cNvSpPr/>
          <p:nvPr/>
        </p:nvSpPr>
        <p:spPr>
          <a:xfrm>
            <a:off x="8307407"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8459803" y="1778000"/>
            <a:ext cx="1389708" cy="1905000"/>
          </a:xfrm>
          <a:prstGeom prst="roundRect">
            <a:avLst>
              <a:gd name="adj" fmla="val 3948"/>
            </a:avLst>
          </a:prstGeom>
          <a:solidFill>
            <a:srgbClr val="FCFCFA"/>
          </a:solidFill>
          <a:ln w="19050">
            <a:solidFill>
              <a:srgbClr val="12324A"/>
            </a:solidFill>
            <a:prstDash val="solid"/>
          </a:ln>
        </p:spPr>
      </p:sp>
      <p:sp>
        <p:nvSpPr>
          <p:cNvPr id="31" name="Text 29"/>
          <p:cNvSpPr/>
          <p:nvPr/>
        </p:nvSpPr>
        <p:spPr>
          <a:xfrm>
            <a:off x="8548701"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MEMBRE DE LA COMMISSION</a:t>
            </a:r>
            <a:endParaRPr lang="en-US" sz="1000" dirty="0"/>
          </a:p>
        </p:txBody>
      </p:sp>
      <p:sp>
        <p:nvSpPr>
          <p:cNvPr id="32" name="Text 30"/>
          <p:cNvSpPr/>
          <p:nvPr/>
        </p:nvSpPr>
        <p:spPr>
          <a:xfrm>
            <a:off x="8548701"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Faire examiner</a:t>
            </a:r>
            <a:endParaRPr lang="en-US" sz="1400" dirty="0"/>
          </a:p>
        </p:txBody>
      </p:sp>
      <p:sp>
        <p:nvSpPr>
          <p:cNvPr id="33" name="Text 31"/>
          <p:cNvSpPr/>
          <p:nvPr/>
        </p:nvSpPr>
        <p:spPr>
          <a:xfrm>
            <a:off x="8548701"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dossier créé depuis la fiche part à la Commission, qui lit la fiche et le DAO complet.</a:t>
            </a:r>
            <a:endParaRPr lang="en-US" sz="1150" dirty="0"/>
          </a:p>
        </p:txBody>
      </p:sp>
      <p:sp>
        <p:nvSpPr>
          <p:cNvPr id="34" name="Text 32"/>
          <p:cNvSpPr/>
          <p:nvPr/>
        </p:nvSpPr>
        <p:spPr>
          <a:xfrm>
            <a:off x="9836811"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5" name="Shape 33"/>
          <p:cNvSpPr/>
          <p:nvPr/>
        </p:nvSpPr>
        <p:spPr>
          <a:xfrm>
            <a:off x="9989207" y="1778000"/>
            <a:ext cx="1389708" cy="1905000"/>
          </a:xfrm>
          <a:prstGeom prst="roundRect">
            <a:avLst>
              <a:gd name="adj" fmla="val 3948"/>
            </a:avLst>
          </a:prstGeom>
          <a:solidFill>
            <a:srgbClr val="12324A"/>
          </a:solidFill>
          <a:ln w="19050">
            <a:solidFill>
              <a:srgbClr val="12324A"/>
            </a:solidFill>
            <a:prstDash val="solid"/>
          </a:ln>
        </p:spPr>
      </p:sp>
      <p:sp>
        <p:nvSpPr>
          <p:cNvPr id="36" name="Text 34"/>
          <p:cNvSpPr/>
          <p:nvPr/>
        </p:nvSpPr>
        <p:spPr>
          <a:xfrm>
            <a:off x="10078105" y="1866900"/>
            <a:ext cx="12119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PRMP, CANDIDATS</a:t>
            </a:r>
            <a:endParaRPr lang="en-US" sz="1000" dirty="0"/>
          </a:p>
        </p:txBody>
      </p:sp>
      <p:sp>
        <p:nvSpPr>
          <p:cNvPr id="37" name="Text 35"/>
          <p:cNvSpPr/>
          <p:nvPr/>
        </p:nvSpPr>
        <p:spPr>
          <a:xfrm>
            <a:off x="10078105" y="2095500"/>
            <a:ext cx="12119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Publier et répondre</a:t>
            </a:r>
            <a:endParaRPr lang="en-US" sz="1400" dirty="0"/>
          </a:p>
        </p:txBody>
      </p:sp>
      <p:sp>
        <p:nvSpPr>
          <p:cNvPr id="38" name="Text 36"/>
          <p:cNvSpPr/>
          <p:nvPr/>
        </p:nvSpPr>
        <p:spPr>
          <a:xfrm>
            <a:off x="10078105" y="2603500"/>
            <a:ext cx="12119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Après le PV favorable, l’avis s’imprime ; les candidats paient, retirent le DAO et posent leurs questions.</a:t>
            </a:r>
            <a:endParaRPr lang="en-US" sz="1150" dirty="0"/>
          </a:p>
        </p:txBody>
      </p:sp>
      <p:sp>
        <p:nvSpPr>
          <p:cNvPr id="39" name="Text 3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91</a:t>
            </a:r>
            <a:endParaRPr lang="en-US"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Une fiche par ligne du plan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DAO ne commence pas par un fichier : il commence par une ligne du plan de passation déjà contrôlé. Tout ce que le plan dit est repris, verrouillé, et ne se corrige que dans le plan.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92</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appels d’offres de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appels d’offres de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lignes des plans au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PV signé 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le mode de passation appelle un DAO : référence du plan, nature, forme, objet, mode, montant.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Préparer l’appel d’offres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ouvre une fiche ;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Reprendre la fiche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 poursuit. Sous la fiche, le nombre d’offres déposées.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lignes en appel à manifestation d’intérêt (prestations intellectuelles) y figurent aussi.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93</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Cadrer, saisir, contrôler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 fiche avance en sept étapes visibles à gauche de l’écran ; les contrôles se tiennent à droite, en continu, et disent ce qui reste à lever.</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94</a:t>
            </a:r>
            <a:endParaRPr lang="en-US" sz="11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2 : le cadrage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2 : le cadrag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Des questions qui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ouvrent ou ferment des rubriques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allotissement, tranches, variantes, groupement, type et révision des prix, garantie, avance, pénalités.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question dit dans quel document elle joue (DPAO, acte d’engagement, CCAP).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mode de remise des offres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papier ou électronique, jamais mixte.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95</a:t>
            </a:r>
            <a:endParaRPr lang="en-US" sz="11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mode de remise, figé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mode de remise, fig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sur une fiche déjà validée en remise papier.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question porte la mention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figé depuis la première validation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une procédure commencée sur papier s’achève sur papier, et inversement.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L’écran explique la seule exception :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migration motivée par l’Administrateur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tant qu’aucune offre n’est déposée en ligne, que la cérémonie des clés n’est pas close et qu’aucun lot n’est attribué.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bas, les 23 informations reprises du plan, verrouillées.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96</a:t>
            </a:r>
            <a:endParaRPr lang="en-US" sz="11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3 : la saisie par bloc</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3 : la saisie par bloc">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Onze blocs en travaux ; chaque information porte les documents où elle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(acte d’engagement, CCAP).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qui vient du plan ou du cadrage est marqué « repris », et ne se ressaisit pas ; une information conditionnelle dit sa condition (« alloti = OUI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fiche validée se lit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lecture seule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 compteur dit combien d’informations sont saisies (124 sur 170).</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97</a:t>
            </a:r>
            <a:endParaRPr lang="en-US" sz="11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Fournitures à commande : la même fiche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Fournitures à commande : la même fi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même fiche pour les trois catégories ; ses blocs et ses questions suivent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catégorie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forme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lues sur la ligne du plan (ici fournitures, à commande : dix blocs).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informations propres à la forme apparaissent d’elles-mêmes, comme la durée de validité du marché à commandes.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98</a:t>
            </a:r>
            <a:endParaRPr lang="en-US" sz="11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besoin, lot par lot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besoin, lot par lo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travaux,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détail quantitatif et estimatif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chaque lot, par séries : n° de prix, désignation, libellé au bordereau, unité, quantité, plafond.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C’est lui que le candidat remplira de ses prix ; il produit le bordereau des prix de chaque lot.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99</a:t>
            </a:r>
            <a:endParaRPr lang="en-US" sz="11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de l’offre, listées une à une</a:t>
            </a:r>
            <a:endParaRPr lang="en-US" sz="2600" dirty="0"/>
          </a:p>
        </p:txBody>
      </p:sp>
      <p:sp>
        <p:nvSpPr>
          <p:cNvPr id="4" name="Shape 2"/>
          <p:cNvSpPr/>
          <p:nvPr/>
        </p:nvSpPr>
        <p:spPr>
          <a:xfrm>
            <a:off x="1393256" y="1193800"/>
            <a:ext cx="9405183" cy="3327400"/>
          </a:xfrm>
          <a:prstGeom prst="rect">
            <a:avLst/>
          </a:prstGeom>
          <a:solidFill>
            <a:srgbClr val="FCFCFA"/>
          </a:solidFill>
          <a:ln w="9525">
            <a:solidFill>
              <a:srgbClr val="D5DCE4"/>
            </a:solidFill>
            <a:prstDash val="solid"/>
          </a:ln>
        </p:spPr>
      </p:sp>
      <p:pic>
        <p:nvPicPr>
          <p:cNvPr id="5" name="Image 0" descr="Les pièces de l’offre, listées une à une">    </p:cNvPr>
          <p:cNvPicPr>
            <a:picLocks noChangeAspect="1"/>
          </p:cNvPicPr>
          <p:nvPr/>
        </p:nvPicPr>
        <p:blipFill>
          <a:blip r:embed="rId1"/>
          <a:stretch>
            <a:fillRect/>
          </a:stretch>
        </p:blipFill>
        <p:spPr>
          <a:xfrm>
            <a:off x="1405956" y="1206500"/>
            <a:ext cx="9379783"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sur une fiche en préparation.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remise électronique, chaque pièce exigée est une ligne : le candidat joindra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un fichier par pièce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se reprend du document type, se colle, s’ajoute pièce par pièce, ou 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propose à partir du texte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 DAO.</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100</a:t>
            </a:r>
            <a:endParaRPr lang="en-US" sz="11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texte découpé, à relire</a:t>
            </a:r>
            <a:endParaRPr lang="en-US" sz="2600" dirty="0"/>
          </a:p>
        </p:txBody>
      </p:sp>
      <p:sp>
        <p:nvSpPr>
          <p:cNvPr id="4" name="Shape 2"/>
          <p:cNvSpPr/>
          <p:nvPr/>
        </p:nvSpPr>
        <p:spPr>
          <a:xfrm>
            <a:off x="800080" y="1193800"/>
            <a:ext cx="6894410" cy="5105400"/>
          </a:xfrm>
          <a:prstGeom prst="rect">
            <a:avLst/>
          </a:prstGeom>
          <a:solidFill>
            <a:srgbClr val="FCFCFA"/>
          </a:solidFill>
          <a:ln w="9525">
            <a:solidFill>
              <a:srgbClr val="D5DCE4"/>
            </a:solidFill>
            <a:prstDash val="solid"/>
          </a:ln>
        </p:spPr>
      </p:sp>
      <p:pic>
        <p:nvPicPr>
          <p:cNvPr id="5" name="Image 0" descr="Le texte découpé, à relire">    </p:cNvPr>
          <p:cNvPicPr>
            <a:picLocks noChangeAspect="1"/>
          </p:cNvPicPr>
          <p:nvPr/>
        </p:nvPicPr>
        <p:blipFill>
          <a:blip r:embed="rId1"/>
          <a:stretch>
            <a:fillRect/>
          </a:stretch>
        </p:blipFill>
        <p:spPr>
          <a:xfrm>
            <a:off x="812780" y="1206500"/>
            <a:ext cx="6869011" cy="5080000"/>
          </a:xfrm>
          <a:prstGeom prst="rect">
            <a:avLst/>
          </a:prstGeom>
        </p:spPr>
      </p:pic>
      <p:sp>
        <p:nvSpPr>
          <p:cNvPr id="6" name="Shape 3"/>
          <p:cNvSpPr/>
          <p:nvPr/>
        </p:nvSpPr>
        <p:spPr>
          <a:xfrm>
            <a:off x="7859586" y="1206500"/>
            <a:ext cx="3519330" cy="5080000"/>
          </a:xfrm>
          <a:prstGeom prst="rect">
            <a:avLst/>
          </a:prstGeom>
          <a:solidFill>
            <a:srgbClr val="FCFCFA"/>
          </a:solidFill>
          <a:ln w="9525">
            <a:solidFill>
              <a:srgbClr val="D5DCE4"/>
            </a:solidFill>
            <a:prstDash val="solid"/>
          </a:ln>
        </p:spPr>
      </p:sp>
      <p:sp>
        <p:nvSpPr>
          <p:cNvPr id="7" name="Shape 4"/>
          <p:cNvSpPr/>
          <p:nvPr/>
        </p:nvSpPr>
        <p:spPr>
          <a:xfrm>
            <a:off x="7859586" y="1206500"/>
            <a:ext cx="38099" cy="5080000"/>
          </a:xfrm>
          <a:prstGeom prst="rect">
            <a:avLst/>
          </a:prstGeom>
          <a:solidFill>
            <a:srgbClr val="1B6FA8"/>
          </a:solidFill>
          <a:ln/>
        </p:spPr>
      </p:sp>
      <p:sp>
        <p:nvSpPr>
          <p:cNvPr id="8" name="Text 5"/>
          <p:cNvSpPr/>
          <p:nvPr/>
        </p:nvSpPr>
        <p:spPr>
          <a:xfrm>
            <a:off x="8024682" y="1308100"/>
            <a:ext cx="3227237"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texte est découpé en une pièce par ligne ; la PRMP relit, corrige, complète, puis enregistre. Rien n’est retenu sans elle.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101</a:t>
            </a:r>
            <a:endParaRPr lang="en-US" sz="11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spécifications techniques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spécifications techniqu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 dernier bloc, les pièces de l’offre et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spécifications techniques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 devis descriptif, les prescriptions et les plans, en un document Word de 20 Mo au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est inséré tel quel dans le DAO complet, entre le CCAP et le CCAG. Sans fichier, la partie n’existe pas, et l’écran le dit.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102</a:t>
            </a:r>
            <a:endParaRPr lang="en-US" sz="11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4 : les reprises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4 : les repris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en lecture.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champ repris est rempli depuis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document maître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jamais ressaisi : autorité contractante, montant, source de financement, objet, délai de validité des 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ligne dit d’où vient l’information et dans quels documents elle est reportée.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103</a:t>
            </a:r>
            <a:endParaRPr lang="en-US" sz="11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5 : les contrôles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5 : les contrôl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bilan, recalculé à chaque lecture : informations manquantes, ordre des dates,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délai de publicité de la loi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(30 jours pour l’appel d’offres ouvert national, art. 35-II).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remise électronique, la liste des pièces de l’offre et la marge du quorum de déchiffrement ; les spécifications techniques absentes.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rouge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ce qui bloque la validation ; en orange, un avertissement. Chaque contrôle mène au bloc à corriger.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104</a:t>
            </a:r>
            <a:endParaRPr lang="en-US" sz="11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6 : la validation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6 : la valida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seule.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tête, les repères de la procédure (paramètres internes, commission, cérémonie, offres) et ses écrans : séance, évaluation, dépôts, commission, retraits, reçus, questions.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validée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figée et versionnée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chaque version garde sa date, son auteur et ses documents.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fiche validée ne se supprime pas : « Ouvrir une nouvelle version » la révise.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105</a:t>
            </a:r>
            <a:endParaRPr lang="en-US" sz="11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DAO complet</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À la validation, l’application assemble un seul document, comme un DAO réel : page de garde, sommaire général, deux parties, dans la numérotation de l’ARMP. Il est servi en PDF et en Word.</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106</a:t>
            </a:r>
            <a:endParaRPr lang="en-US" sz="11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7 : le DAO complet et les bordereaux</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7 : le DAO complet et les bordereaux">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tête,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dossier d’appel d’offres complet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l’ouvrir, l’enregistrer en PDF ou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Puis, lot par lot, le bordereau des prix et détail quantitatif et estimatif, en Excel.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dossier à soumettre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est créé depuis la fiche ; il reste à y joindre l’estimation du coût et la garantie de soumission.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107</a:t>
            </a:r>
            <a:endParaRPr lang="en-US" sz="11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En fournitures : le tableau de conformité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En fournitures : le tableau de conformit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des fournitures, le DAO complet s’accompagne du bordereau des prix et du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tableau de conformité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aux spécifications techniques.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noms de fichier portent la référence du plan, la ligne et la version de la fiche.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108</a:t>
            </a:r>
            <a:endParaRPr lang="en-US" sz="11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DOCUMENT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page de garde</a:t>
            </a:r>
            <a:endParaRPr lang="en-US" sz="2600" dirty="0"/>
          </a:p>
        </p:txBody>
      </p:sp>
      <p:sp>
        <p:nvSpPr>
          <p:cNvPr id="4" name="Shape 2"/>
          <p:cNvSpPr/>
          <p:nvPr/>
        </p:nvSpPr>
        <p:spPr>
          <a:xfrm>
            <a:off x="800080" y="1193800"/>
            <a:ext cx="3616625" cy="5105400"/>
          </a:xfrm>
          <a:prstGeom prst="rect">
            <a:avLst/>
          </a:prstGeom>
          <a:solidFill>
            <a:srgbClr val="FCFCFA"/>
          </a:solidFill>
          <a:ln w="9525">
            <a:solidFill>
              <a:srgbClr val="D5DCE4"/>
            </a:solidFill>
            <a:prstDash val="solid"/>
          </a:ln>
        </p:spPr>
      </p:sp>
      <p:pic>
        <p:nvPicPr>
          <p:cNvPr id="5" name="Image 0" descr="La page de garde">    </p:cNvPr>
          <p:cNvPicPr>
            <a:picLocks noChangeAspect="1"/>
          </p:cNvPicPr>
          <p:nvPr/>
        </p:nvPicPr>
        <p:blipFill>
          <a:blip r:embed="rId1"/>
          <a:stretch>
            <a:fillRect/>
          </a:stretch>
        </p:blipFill>
        <p:spPr>
          <a:xfrm>
            <a:off x="812780" y="1206500"/>
            <a:ext cx="3591226" cy="5080000"/>
          </a:xfrm>
          <a:prstGeom prst="rect">
            <a:avLst/>
          </a:prstGeom>
        </p:spPr>
      </p:pic>
      <p:sp>
        <p:nvSpPr>
          <p:cNvPr id="6" name="Shape 3"/>
          <p:cNvSpPr/>
          <p:nvPr/>
        </p:nvSpPr>
        <p:spPr>
          <a:xfrm>
            <a:off x="4581801" y="1206500"/>
            <a:ext cx="6797115" cy="5080000"/>
          </a:xfrm>
          <a:prstGeom prst="rect">
            <a:avLst/>
          </a:prstGeom>
          <a:solidFill>
            <a:srgbClr val="FCFCFA"/>
          </a:solidFill>
          <a:ln w="9525">
            <a:solidFill>
              <a:srgbClr val="D5DCE4"/>
            </a:solidFill>
            <a:prstDash val="solid"/>
          </a:ln>
        </p:spPr>
      </p:sp>
      <p:sp>
        <p:nvSpPr>
          <p:cNvPr id="7" name="Shape 4"/>
          <p:cNvSpPr/>
          <p:nvPr/>
        </p:nvSpPr>
        <p:spPr>
          <a:xfrm>
            <a:off x="4581801" y="1206500"/>
            <a:ext cx="38099" cy="5080000"/>
          </a:xfrm>
          <a:prstGeom prst="rect">
            <a:avLst/>
          </a:prstGeom>
          <a:solidFill>
            <a:srgbClr val="1B6FA8"/>
          </a:solidFill>
          <a:ln/>
        </p:spPr>
      </p:sp>
      <p:sp>
        <p:nvSpPr>
          <p:cNvPr id="8" name="Text 5"/>
          <p:cNvSpPr/>
          <p:nvPr/>
        </p:nvSpPr>
        <p:spPr>
          <a:xfrm>
            <a:off x="4746897" y="1308100"/>
            <a:ext cx="6505022"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document produit.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Celle des DAO réels : l’emblème, le ministère, la PRMP et l’UGPM, l’intitulé qui porte le mode de passation.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numéro du DAO, l’objet, « Lancé le … » à compléter, le financement, l’imputation administrative et le compte,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lus sur le plan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109</a:t>
            </a:r>
            <a:endParaRPr lang="en-US" sz="11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DOCUMENT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sommaire général</a:t>
            </a:r>
            <a:endParaRPr lang="en-US" sz="2600" dirty="0"/>
          </a:p>
        </p:txBody>
      </p:sp>
      <p:sp>
        <p:nvSpPr>
          <p:cNvPr id="4" name="Shape 2"/>
          <p:cNvSpPr/>
          <p:nvPr/>
        </p:nvSpPr>
        <p:spPr>
          <a:xfrm>
            <a:off x="800080" y="1193800"/>
            <a:ext cx="3616625" cy="5105400"/>
          </a:xfrm>
          <a:prstGeom prst="rect">
            <a:avLst/>
          </a:prstGeom>
          <a:solidFill>
            <a:srgbClr val="FCFCFA"/>
          </a:solidFill>
          <a:ln w="9525">
            <a:solidFill>
              <a:srgbClr val="D5DCE4"/>
            </a:solidFill>
            <a:prstDash val="solid"/>
          </a:ln>
        </p:spPr>
      </p:sp>
      <p:pic>
        <p:nvPicPr>
          <p:cNvPr id="5" name="Image 0" descr="Le sommaire général">    </p:cNvPr>
          <p:cNvPicPr>
            <a:picLocks noChangeAspect="1"/>
          </p:cNvPicPr>
          <p:nvPr/>
        </p:nvPicPr>
        <p:blipFill>
          <a:blip r:embed="rId1"/>
          <a:stretch>
            <a:fillRect/>
          </a:stretch>
        </p:blipFill>
        <p:spPr>
          <a:xfrm>
            <a:off x="812780" y="1206500"/>
            <a:ext cx="3591226" cy="5080000"/>
          </a:xfrm>
          <a:prstGeom prst="rect">
            <a:avLst/>
          </a:prstGeom>
        </p:spPr>
      </p:pic>
      <p:sp>
        <p:nvSpPr>
          <p:cNvPr id="6" name="Shape 3"/>
          <p:cNvSpPr/>
          <p:nvPr/>
        </p:nvSpPr>
        <p:spPr>
          <a:xfrm>
            <a:off x="4581801" y="1206500"/>
            <a:ext cx="6797115" cy="5080000"/>
          </a:xfrm>
          <a:prstGeom prst="rect">
            <a:avLst/>
          </a:prstGeom>
          <a:solidFill>
            <a:srgbClr val="FCFCFA"/>
          </a:solidFill>
          <a:ln w="9525">
            <a:solidFill>
              <a:srgbClr val="D5DCE4"/>
            </a:solidFill>
            <a:prstDash val="solid"/>
          </a:ln>
        </p:spPr>
      </p:sp>
      <p:sp>
        <p:nvSpPr>
          <p:cNvPr id="7" name="Shape 4"/>
          <p:cNvSpPr/>
          <p:nvPr/>
        </p:nvSpPr>
        <p:spPr>
          <a:xfrm>
            <a:off x="4581801" y="1206500"/>
            <a:ext cx="38099" cy="5080000"/>
          </a:xfrm>
          <a:prstGeom prst="rect">
            <a:avLst/>
          </a:prstGeom>
          <a:solidFill>
            <a:srgbClr val="1B6FA8"/>
          </a:solidFill>
          <a:ln/>
        </p:spPr>
      </p:sp>
      <p:sp>
        <p:nvSpPr>
          <p:cNvPr id="8" name="Text 5"/>
          <p:cNvSpPr/>
          <p:nvPr/>
        </p:nvSpPr>
        <p:spPr>
          <a:xfrm>
            <a:off x="4746897" y="1308100"/>
            <a:ext cx="6505022"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document produit.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deux parties et leurs sous-parties, dans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numérotation de l’ARMP</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les numéros de page.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Dans le Word, c’est une table des matières, mise à jour à l’ouverture.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110</a:t>
            </a:r>
            <a:endParaRPr lang="en-US" sz="11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La procédure en remise électronique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Quand les offres seront remises en ligne, la fiche prépare aussi ceux qui ouvriront les offres : la commission d’appel d’offres, le responsable de la procédure et la cérémonie des clés.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111</a:t>
            </a:r>
            <a:endParaRPr lang="en-US" sz="11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commission d’appel d’offres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mmission d’appel d’offr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pour elle.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décision de nomination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(référence, date) et les membres : des agents de l’entité, au plus un expert de l’objet, un seul président.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membre reçoit par courriel une invitation à activer son compte, puis publie sa part de la clé qui ouvrira les 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décision signée se joint en PDF ; sans elle, la commission porte un avertissement.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112</a:t>
            </a:r>
            <a:endParaRPr lang="en-US" sz="11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procédures en ligne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rocédures en lign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sur le Poste d’administration.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Toutes les procédures en remise électronique,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à traiter d’abord</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celles sans responsable, celles dont le PV est à signer.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chacune : l’état, le calendrier (avis, date limite, ouverture), la commission et la cérémonie, la séance, le responsable.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responsable se désigne depuis la fiche.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113</a:t>
            </a:r>
            <a:endParaRPr lang="en-US" sz="11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RESPONSABLE DE LA PROCÉDURE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paramètres internes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aramètres intern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 seul.</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que la plateforme sait de la procédure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sans jamais l’imprimer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les membres détenteurs d’une part de clé, le nombre de parts, le quorum de déchiffrement, la date de la cérémonie, le dépositaire de la part de secours.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membres se lisent ici, ils ne se choisissent pas : ils viennent de la décision de la PRMP.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avertissement quand le quorum égale le nombre de membres : une seule part perdue rendrait les offres illisibles.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114</a:t>
            </a:r>
            <a:endParaRPr lang="en-US" sz="11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RESPONSABLE DE LA PROCÉDURE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signature de l’offre et la cérémonie des clés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signature de l’offre et la cérémonie des cl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Signature de l’offre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dépôt scellé vaut signature pendant la procédure ; l’attributaire remet ensuite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original signé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son acte d’engagement avant la signature du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signature électronique certifiée est réservée : elle n’est pas encore en service.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bas, la cérémonie des clés close (3 parts, quorum 2), et l’empreinte de chaque clé publiée.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115</a:t>
            </a:r>
            <a:endParaRPr lang="en-US" sz="11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fiche vue par l’Administrateur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fiche vue par l’Administrateu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en lecture.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du dossier, en lecture : cadrage, informations, reprises, contrôles, versions figées (ici sept versions, en remise papier).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Deux gestes qui lui sont propres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désigner le responsable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la procédure et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migrer le mode de remise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116</a:t>
            </a:r>
            <a:endParaRPr lang="en-US" sz="11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ADMINISTRATEUR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Migrer le mode de remise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igrer le mode de remi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seul.</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migration fait passer une fiche figée en papier à la remise électronique : elle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ouvre une révision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la version validée reste intacte.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 est obligatoire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 migration est tracée au journal du plan et du dossier.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PRMP complète ensuite ce que le nouveau mode exige, puis valide la nouvelle version.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117</a:t>
            </a:r>
            <a:endParaRPr lang="en-US" sz="11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Examiner, publier, répondre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 Commission examine le dossier créé depuis la fiche. Après son avis favorable, l’avis se publie ; les candidats paient, retirent le DAO et posent leurs questions, sous le regard de la PRMP.</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118</a:t>
            </a:r>
            <a:endParaRPr lang="en-US" sz="11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MEMBRE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Commission lit la fiche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mmission lit la fi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 qui examine le dossier.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marché du dossier examiné,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lecture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 cadrage, les informations saisies par la PRMP, les reprises, le bilan des contrôles et les documents produits.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versions figées, avec leur date : la Commission sait quelle version elle examine.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119</a:t>
            </a:r>
            <a:endParaRPr lang="en-US" sz="11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L’avis spécifique et son projet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vis spécifique et son proje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PV signé avec un avis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l’avis à publier s’imprime ; il reprend la dernière version validée de la fiche. Chaque impression est conservée.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Avant cela,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d’avis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(PDF, Word) se lit dès la validation, en filigrane « PROJET » : il ne lance rien.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relecture des mentions du modèle type ; la déclaration sans suite se demande depuis la même page.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120</a:t>
            </a:r>
            <a:endParaRPr lang="en-US" sz="11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reçus des frais de dossier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reçus des frais de doss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entreprise dépose le reçu de son versement sur le compte de l’ARMP ; elle ne retire le dossier qu’une fois le reçu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validé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montant inférieur aux frais est signalé ; un refus porte son motif, et l’entreprise dépose un nouveau reçu.</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décision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ne se reprend pas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l’écran invite à comparer au relevé de l’ARMP avant de décider.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121</a:t>
            </a:r>
            <a:endParaRPr lang="en-US" sz="11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registre des retraits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egistre des retrait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candidats qui ont retiré le dossier en ligne, du plus ancien au plus récent : date, compte, entreprise, NIF, document, version, reçu des frais.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C’est ce registre qui ouvre le droit de poser une question.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122</a:t>
            </a:r>
            <a:endParaRPr lang="en-US" sz="11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questions des candidats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questions des candidat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l’UGPM lit sans répondre.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candidats ayant retiré le dossier posent leurs questions jusqu’à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dix jours avant la date limite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(art. 35-II) ; l’écran dit quand elles sont closes.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réponse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diffusée dès son enregistrement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sur la page publique de la procédure, sans le nom de l’auteur, et à chaque candidat ayant retiré le dossier.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cette procédure de démonstration, aucune question n’a été posée.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123</a:t>
            </a:r>
            <a:endParaRPr lang="en-US" sz="11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seule saisie, aucune contradiction</a:t>
            </a:r>
            <a:endParaRPr lang="en-US" sz="1500" dirty="0"/>
          </a:p>
        </p:txBody>
      </p:sp>
      <p:sp>
        <p:nvSpPr>
          <p:cNvPr id="7" name="Text 5"/>
          <p:cNvSpPr/>
          <p:nvPr/>
        </p:nvSpPr>
        <p:spPr>
          <a:xfrm>
            <a:off x="952476"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Ce que le plan de passation dit est repris et verrouillé ; une information saisie dans la fiche se reporte dans tous les documents qui l’utilisent.</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Les documents types de l’ARMP</a:t>
            </a:r>
            <a:endParaRPr lang="en-US" sz="1500" dirty="0"/>
          </a:p>
        </p:txBody>
      </p:sp>
      <p:sp>
        <p:nvSpPr>
          <p:cNvPr id="11" name="Text 9"/>
          <p:cNvSpPr/>
          <p:nvPr/>
        </p:nvSpPr>
        <p:spPr>
          <a:xfrm>
            <a:off x="4525320"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texte officiel est repris tel quel ; seuls les blancs sont remplis. Un modèle illisible arrête la production : un document ne sort jamais faux en silence.</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Ce qui est examiné est ce qui est retiré</a:t>
            </a:r>
            <a:endParaRPr lang="en-US" sz="1500" dirty="0"/>
          </a:p>
        </p:txBody>
      </p:sp>
      <p:sp>
        <p:nvSpPr>
          <p:cNvPr id="15" name="Text 13"/>
          <p:cNvSpPr/>
          <p:nvPr/>
        </p:nvSpPr>
        <p:spPr>
          <a:xfrm>
            <a:off x="8098164"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version validée est figée ; ses documents ne sont jamais régénérés. Toute correction passe par une nouvelle version, tracée.</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Les délais de la loi vérifiés</a:t>
            </a:r>
            <a:endParaRPr lang="en-US" sz="1500" dirty="0"/>
          </a:p>
        </p:txBody>
      </p:sp>
      <p:sp>
        <p:nvSpPr>
          <p:cNvPr id="19" name="Text 17"/>
          <p:cNvSpPr/>
          <p:nvPr/>
        </p:nvSpPr>
        <p:spPr>
          <a:xfrm>
            <a:off x="952476"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délai de publicité (art. 35-II) est contrôlé à la validation de la fiche et à l’impression de l’avis ; l’avis ne s’imprime pas sans DAO complet (art. 31).</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mode de remise qui ne bouge plus</a:t>
            </a:r>
            <a:endParaRPr lang="en-US" sz="1500" dirty="0"/>
          </a:p>
        </p:txBody>
      </p:sp>
      <p:sp>
        <p:nvSpPr>
          <p:cNvPr id="23" name="Text 21"/>
          <p:cNvSpPr/>
          <p:nvPr/>
        </p:nvSpPr>
        <p:spPr>
          <a:xfrm>
            <a:off x="4525320"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Papier ou électronique, le mode est fixé dès la première validation ; seule une migration motivée de l’Administrateur le change, avant tout dépôt en ligne.</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L’égalité entre candidats</a:t>
            </a:r>
            <a:endParaRPr lang="en-US" sz="1500" dirty="0"/>
          </a:p>
        </p:txBody>
      </p:sp>
      <p:sp>
        <p:nvSpPr>
          <p:cNvPr id="27" name="Text 25"/>
          <p:cNvSpPr/>
          <p:nvPr/>
        </p:nvSpPr>
        <p:spPr>
          <a:xfrm>
            <a:off x="8098164"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Retrait après paiement vérifié, registre des retraits, questions ouvertes jusqu’à J−10 et réponses diffusées à tous, sans nom d’auteur.</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124</a:t>
            </a:r>
            <a:endParaRPr lang="en-US" sz="11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05</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L’appel à manifestation d’intérêt</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Pour les prestations intellectuelles, la liste restreinte des consultants naît d’un appel à manifestation d’intérêt mené dans l’application : publié, reçu en ligne, noté par la commission, arrêté dans un rapport signé (art. 42-II).</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La liste restreinte n’est plus une liste saisie : elle résulte d’une notation collégiale, critère par critère, chaque note portant son motif.</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Personne ne lit les expressions d’intérêt avant la date limite : jusque-là, l’administration n’en connaît que le nombre.</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 rapport de présélection, signé des membres au quorum, vaut procès-verbal ; la liste définitive est publiée, notifiée à chaque candidat, et alimente d’office les lettres d’invitation.</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L’application de bout en bout · 125</a:t>
            </a:r>
            <a:endParaRPr lang="en-US" sz="11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L’APPEL À MANIFESTATION D’INTÉRÊT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 la ligne du plan à la liste restreinte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La PRMP, aidée de son UGPM, prépare et publie l’appel ; les consultants déposent en ligne ; la commission d’appel d’offres note, son président arrête la liste, ses membres signent le rapport.</a:t>
            </a:r>
            <a:endParaRPr lang="en-US" sz="1300" dirty="0"/>
          </a:p>
        </p:txBody>
      </p:sp>
      <p:sp>
        <p:nvSpPr>
          <p:cNvPr id="5" name="Shape 3"/>
          <p:cNvSpPr/>
          <p:nvPr/>
        </p:nvSpPr>
        <p:spPr>
          <a:xfrm>
            <a:off x="812780" y="1778000"/>
            <a:ext cx="1389708" cy="1905000"/>
          </a:xfrm>
          <a:prstGeom prst="roundRect">
            <a:avLst>
              <a:gd name="adj" fmla="val 3948"/>
            </a:avLst>
          </a:prstGeom>
          <a:solidFill>
            <a:srgbClr val="FCFCFA"/>
          </a:solidFill>
          <a:ln w="19050">
            <a:solidFill>
              <a:srgbClr val="12324A"/>
            </a:solidFill>
            <a:prstDash val="solid"/>
          </a:ln>
        </p:spPr>
      </p:sp>
      <p:sp>
        <p:nvSpPr>
          <p:cNvPr id="6" name="Text 4"/>
          <p:cNvSpPr/>
          <p:nvPr/>
        </p:nvSpPr>
        <p:spPr>
          <a:xfrm>
            <a:off x="901677"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OU UGPM</a:t>
            </a:r>
            <a:endParaRPr lang="en-US" sz="1000" dirty="0"/>
          </a:p>
        </p:txBody>
      </p:sp>
      <p:sp>
        <p:nvSpPr>
          <p:cNvPr id="7" name="Text 5"/>
          <p:cNvSpPr/>
          <p:nvPr/>
        </p:nvSpPr>
        <p:spPr>
          <a:xfrm>
            <a:off x="901677"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Ouvrir la fiche</a:t>
            </a:r>
            <a:endParaRPr lang="en-US" sz="1400" dirty="0"/>
          </a:p>
        </p:txBody>
      </p:sp>
      <p:sp>
        <p:nvSpPr>
          <p:cNvPr id="8" name="Text 6"/>
          <p:cNvSpPr/>
          <p:nvPr/>
        </p:nvSpPr>
        <p:spPr>
          <a:xfrm>
            <a:off x="901677"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ligne de prestations intellectuelles, en mode « Appel à manifestation d’intérêt », ouvre sa fiche comme un appel d’offres.</a:t>
            </a:r>
            <a:endParaRPr lang="en-US" sz="1150" dirty="0"/>
          </a:p>
        </p:txBody>
      </p:sp>
      <p:sp>
        <p:nvSpPr>
          <p:cNvPr id="9" name="Text 7"/>
          <p:cNvSpPr/>
          <p:nvPr/>
        </p:nvSpPr>
        <p:spPr>
          <a:xfrm>
            <a:off x="2189788"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342184" y="1778000"/>
            <a:ext cx="1389708" cy="1905000"/>
          </a:xfrm>
          <a:prstGeom prst="roundRect">
            <a:avLst>
              <a:gd name="adj" fmla="val 3948"/>
            </a:avLst>
          </a:prstGeom>
          <a:solidFill>
            <a:srgbClr val="FCFCFA"/>
          </a:solidFill>
          <a:ln w="19050">
            <a:solidFill>
              <a:srgbClr val="12324A"/>
            </a:solidFill>
            <a:prstDash val="solid"/>
          </a:ln>
        </p:spPr>
      </p:sp>
      <p:sp>
        <p:nvSpPr>
          <p:cNvPr id="11" name="Text 9"/>
          <p:cNvSpPr/>
          <p:nvPr/>
        </p:nvSpPr>
        <p:spPr>
          <a:xfrm>
            <a:off x="2431082"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OU UGPM</a:t>
            </a:r>
            <a:endParaRPr lang="en-US" sz="1000" dirty="0"/>
          </a:p>
        </p:txBody>
      </p:sp>
      <p:sp>
        <p:nvSpPr>
          <p:cNvPr id="12" name="Text 10"/>
          <p:cNvSpPr/>
          <p:nvPr/>
        </p:nvSpPr>
        <p:spPr>
          <a:xfrm>
            <a:off x="2431082"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Préparer l’appel</a:t>
            </a:r>
            <a:endParaRPr lang="en-US" sz="1400" dirty="0"/>
          </a:p>
        </p:txBody>
      </p:sp>
      <p:sp>
        <p:nvSpPr>
          <p:cNvPr id="13" name="Text 11"/>
          <p:cNvSpPr/>
          <p:nvPr/>
        </p:nvSpPr>
        <p:spPr>
          <a:xfrm>
            <a:off x="2431082"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Critères pondérés sur 100, pièces attendues, note minimale, nombre de candidats retenus, date limite.</a:t>
            </a:r>
            <a:endParaRPr lang="en-US" sz="1150" dirty="0"/>
          </a:p>
        </p:txBody>
      </p:sp>
      <p:sp>
        <p:nvSpPr>
          <p:cNvPr id="14" name="Text 12"/>
          <p:cNvSpPr/>
          <p:nvPr/>
        </p:nvSpPr>
        <p:spPr>
          <a:xfrm>
            <a:off x="3719193"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3871589" y="1778000"/>
            <a:ext cx="1389708" cy="1905000"/>
          </a:xfrm>
          <a:prstGeom prst="roundRect">
            <a:avLst>
              <a:gd name="adj" fmla="val 3948"/>
            </a:avLst>
          </a:prstGeom>
          <a:solidFill>
            <a:srgbClr val="FCFCFA"/>
          </a:solidFill>
          <a:ln w="19050">
            <a:solidFill>
              <a:srgbClr val="12324A"/>
            </a:solidFill>
            <a:prstDash val="solid"/>
          </a:ln>
        </p:spPr>
      </p:sp>
      <p:sp>
        <p:nvSpPr>
          <p:cNvPr id="16" name="Text 14"/>
          <p:cNvSpPr/>
          <p:nvPr/>
        </p:nvSpPr>
        <p:spPr>
          <a:xfrm>
            <a:off x="3960487"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a:t>
            </a:r>
            <a:endParaRPr lang="en-US" sz="1000" dirty="0"/>
          </a:p>
        </p:txBody>
      </p:sp>
      <p:sp>
        <p:nvSpPr>
          <p:cNvPr id="17" name="Text 15"/>
          <p:cNvSpPr/>
          <p:nvPr/>
        </p:nvSpPr>
        <p:spPr>
          <a:xfrm>
            <a:off x="3960487"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Publier</a:t>
            </a:r>
            <a:endParaRPr lang="en-US" sz="1400" dirty="0"/>
          </a:p>
        </p:txBody>
      </p:sp>
      <p:sp>
        <p:nvSpPr>
          <p:cNvPr id="18" name="Text 16"/>
          <p:cNvSpPr/>
          <p:nvPr/>
        </p:nvSpPr>
        <p:spPr>
          <a:xfrm>
            <a:off x="3960487"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supports déclarés, l’avis signé électroniquement : l’appel est figé et le dépôt s’ouvre.</a:t>
            </a:r>
            <a:endParaRPr lang="en-US" sz="1150" dirty="0"/>
          </a:p>
        </p:txBody>
      </p:sp>
      <p:sp>
        <p:nvSpPr>
          <p:cNvPr id="19" name="Text 17"/>
          <p:cNvSpPr/>
          <p:nvPr/>
        </p:nvSpPr>
        <p:spPr>
          <a:xfrm>
            <a:off x="5248597"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5400994" y="1778000"/>
            <a:ext cx="1389708" cy="1905000"/>
          </a:xfrm>
          <a:prstGeom prst="roundRect">
            <a:avLst>
              <a:gd name="adj" fmla="val 3948"/>
            </a:avLst>
          </a:prstGeom>
          <a:solidFill>
            <a:srgbClr val="FCFCFA"/>
          </a:solidFill>
          <a:ln w="19050">
            <a:solidFill>
              <a:srgbClr val="12324A"/>
            </a:solidFill>
            <a:prstDash val="solid"/>
          </a:ln>
        </p:spPr>
      </p:sp>
      <p:sp>
        <p:nvSpPr>
          <p:cNvPr id="21" name="Text 19"/>
          <p:cNvSpPr/>
          <p:nvPr/>
        </p:nvSpPr>
        <p:spPr>
          <a:xfrm>
            <a:off x="5489891"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CANDIDATS</a:t>
            </a:r>
            <a:endParaRPr lang="en-US" sz="1000" dirty="0"/>
          </a:p>
        </p:txBody>
      </p:sp>
      <p:sp>
        <p:nvSpPr>
          <p:cNvPr id="22" name="Text 20"/>
          <p:cNvSpPr/>
          <p:nvPr/>
        </p:nvSpPr>
        <p:spPr>
          <a:xfrm>
            <a:off x="5489891"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Recevoir les expressions</a:t>
            </a:r>
            <a:endParaRPr lang="en-US" sz="1400" dirty="0"/>
          </a:p>
        </p:txBody>
      </p:sp>
      <p:sp>
        <p:nvSpPr>
          <p:cNvPr id="23" name="Text 21"/>
          <p:cNvSpPr/>
          <p:nvPr/>
        </p:nvSpPr>
        <p:spPr>
          <a:xfrm>
            <a:off x="5489891"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consultants déposent en ligne ; on n’en voit que le nombre jusqu’à la date limite.</a:t>
            </a:r>
            <a:endParaRPr lang="en-US" sz="1150" dirty="0"/>
          </a:p>
        </p:txBody>
      </p:sp>
      <p:sp>
        <p:nvSpPr>
          <p:cNvPr id="24" name="Text 22"/>
          <p:cNvSpPr/>
          <p:nvPr/>
        </p:nvSpPr>
        <p:spPr>
          <a:xfrm>
            <a:off x="6778002"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6930398" y="1778000"/>
            <a:ext cx="1389708" cy="1905000"/>
          </a:xfrm>
          <a:prstGeom prst="roundRect">
            <a:avLst>
              <a:gd name="adj" fmla="val 3948"/>
            </a:avLst>
          </a:prstGeom>
          <a:solidFill>
            <a:srgbClr val="FCFCFA"/>
          </a:solidFill>
          <a:ln w="19050">
            <a:solidFill>
              <a:srgbClr val="12324A"/>
            </a:solidFill>
            <a:prstDash val="solid"/>
          </a:ln>
        </p:spPr>
      </p:sp>
      <p:sp>
        <p:nvSpPr>
          <p:cNvPr id="26" name="Text 24"/>
          <p:cNvSpPr/>
          <p:nvPr/>
        </p:nvSpPr>
        <p:spPr>
          <a:xfrm>
            <a:off x="7019296"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MEMBRES DE LA COMMISSION</a:t>
            </a:r>
            <a:endParaRPr lang="en-US" sz="1000" dirty="0"/>
          </a:p>
        </p:txBody>
      </p:sp>
      <p:sp>
        <p:nvSpPr>
          <p:cNvPr id="27" name="Text 25"/>
          <p:cNvSpPr/>
          <p:nvPr/>
        </p:nvSpPr>
        <p:spPr>
          <a:xfrm>
            <a:off x="7019296"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Déclarer, puis noter</a:t>
            </a:r>
            <a:endParaRPr lang="en-US" sz="1400" dirty="0"/>
          </a:p>
        </p:txBody>
      </p:sp>
      <p:sp>
        <p:nvSpPr>
          <p:cNvPr id="28" name="Text 26"/>
          <p:cNvSpPr/>
          <p:nvPr/>
        </p:nvSpPr>
        <p:spPr>
          <a:xfrm>
            <a:off x="7019296"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Chaque membre signe sa déclaration d’intérêts, puis note chaque expression, critère par critère, avec un motif.</a:t>
            </a:r>
            <a:endParaRPr lang="en-US" sz="1150" dirty="0"/>
          </a:p>
        </p:txBody>
      </p:sp>
      <p:sp>
        <p:nvSpPr>
          <p:cNvPr id="29" name="Text 27"/>
          <p:cNvSpPr/>
          <p:nvPr/>
        </p:nvSpPr>
        <p:spPr>
          <a:xfrm>
            <a:off x="8307407"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8459803" y="1778000"/>
            <a:ext cx="1389708" cy="1905000"/>
          </a:xfrm>
          <a:prstGeom prst="roundRect">
            <a:avLst>
              <a:gd name="adj" fmla="val 3948"/>
            </a:avLst>
          </a:prstGeom>
          <a:solidFill>
            <a:srgbClr val="FCFCFA"/>
          </a:solidFill>
          <a:ln w="19050">
            <a:solidFill>
              <a:srgbClr val="12324A"/>
            </a:solidFill>
            <a:prstDash val="solid"/>
          </a:ln>
        </p:spPr>
      </p:sp>
      <p:sp>
        <p:nvSpPr>
          <p:cNvPr id="31" name="Text 29"/>
          <p:cNvSpPr/>
          <p:nvPr/>
        </p:nvSpPr>
        <p:spPr>
          <a:xfrm>
            <a:off x="8548701"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PRÉSIDENT ET MEMBRES DE LA COMMISSION</a:t>
            </a:r>
            <a:endParaRPr lang="en-US" sz="1000" dirty="0"/>
          </a:p>
        </p:txBody>
      </p:sp>
      <p:sp>
        <p:nvSpPr>
          <p:cNvPr id="32" name="Text 30"/>
          <p:cNvSpPr/>
          <p:nvPr/>
        </p:nvSpPr>
        <p:spPr>
          <a:xfrm>
            <a:off x="8548701"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Arrêter la liste, signer le rapport</a:t>
            </a:r>
            <a:endParaRPr lang="en-US" sz="1400" dirty="0"/>
          </a:p>
        </p:txBody>
      </p:sp>
      <p:sp>
        <p:nvSpPr>
          <p:cNvPr id="33" name="Text 31"/>
          <p:cNvSpPr/>
          <p:nvPr/>
        </p:nvSpPr>
        <p:spPr>
          <a:xfrm>
            <a:off x="8548701"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président arrête la liste des premières qualifiées ; le rapport est signé des membres, au quorum.</a:t>
            </a:r>
            <a:endParaRPr lang="en-US" sz="1150" dirty="0"/>
          </a:p>
        </p:txBody>
      </p:sp>
      <p:sp>
        <p:nvSpPr>
          <p:cNvPr id="34" name="Text 32"/>
          <p:cNvSpPr/>
          <p:nvPr/>
        </p:nvSpPr>
        <p:spPr>
          <a:xfrm>
            <a:off x="9836811"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5" name="Shape 33"/>
          <p:cNvSpPr/>
          <p:nvPr/>
        </p:nvSpPr>
        <p:spPr>
          <a:xfrm>
            <a:off x="9989207" y="1778000"/>
            <a:ext cx="1389708" cy="1905000"/>
          </a:xfrm>
          <a:prstGeom prst="roundRect">
            <a:avLst>
              <a:gd name="adj" fmla="val 3948"/>
            </a:avLst>
          </a:prstGeom>
          <a:solidFill>
            <a:srgbClr val="12324A"/>
          </a:solidFill>
          <a:ln w="19050">
            <a:solidFill>
              <a:srgbClr val="12324A"/>
            </a:solidFill>
            <a:prstDash val="solid"/>
          </a:ln>
        </p:spPr>
      </p:sp>
      <p:sp>
        <p:nvSpPr>
          <p:cNvPr id="36" name="Text 34"/>
          <p:cNvSpPr/>
          <p:nvPr/>
        </p:nvSpPr>
        <p:spPr>
          <a:xfrm>
            <a:off x="10078105" y="1866900"/>
            <a:ext cx="12119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PRMP</a:t>
            </a:r>
            <a:endParaRPr lang="en-US" sz="1000" dirty="0"/>
          </a:p>
        </p:txBody>
      </p:sp>
      <p:sp>
        <p:nvSpPr>
          <p:cNvPr id="37" name="Text 35"/>
          <p:cNvSpPr/>
          <p:nvPr/>
        </p:nvSpPr>
        <p:spPr>
          <a:xfrm>
            <a:off x="10078105" y="2095500"/>
            <a:ext cx="12119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La liste définitive</a:t>
            </a:r>
            <a:endParaRPr lang="en-US" sz="1400" dirty="0"/>
          </a:p>
        </p:txBody>
      </p:sp>
      <p:sp>
        <p:nvSpPr>
          <p:cNvPr id="38" name="Text 36"/>
          <p:cNvSpPr/>
          <p:nvPr/>
        </p:nvSpPr>
        <p:spPr>
          <a:xfrm>
            <a:off x="10078105" y="2603500"/>
            <a:ext cx="12119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Publiée et notifiée ; les lettres d’invitation et la demande de propositions peuvent suivre.</a:t>
            </a:r>
            <a:endParaRPr lang="en-US" sz="1150" dirty="0"/>
          </a:p>
        </p:txBody>
      </p:sp>
      <p:sp>
        <p:nvSpPr>
          <p:cNvPr id="39" name="Text 3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126</a:t>
            </a:r>
            <a:endParaRPr lang="en-US" sz="11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L’APPEL À MANIFESTATION D’INTÉRÊT</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Préparer et publier l’appel</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L’appel naît sur la fiche de la ligne du plan, comme un appel d’offres. La PRMP en fixe les critères, puis le publie : à partir de là, plus rien ne change.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127</a:t>
            </a:r>
            <a:endParaRPr lang="en-US" sz="11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fiche de prestations intellectuelles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Une fiche de prestations intellectuell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ligne du plan, en mode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 Appel à manifestation d’intérêt »</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ouvre sa fiche comme les autres ; l’en-tête porte le lien vers l’appel.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prépare ensuite la demande de propositions : données particulières, acte d’engagement, CCAP.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que le plan dit est repris : il annonce un lot, le marché est donc non alloti.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128</a:t>
            </a:r>
            <a:endParaRPr lang="en-US" sz="11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 OU 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Préparer l’appel</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Préparer l’appel">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avant la publication.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date limite de dépôt et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critères de sélection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chacun avec ses points : le total sur 100 est affiché.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attendues, exigées au dépôt une par une, en PDF ou en image.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129</a:t>
            </a:r>
            <a:endParaRPr lang="en-US" sz="11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Publier l’appel</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Publier l’appel">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seule.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note minimale (facultative) et le nombre de candidats retenus sur la liste restreinte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six</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par défaut.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d’avis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suit chaque enregistrement ; il se fige à la publication.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Publier » : la PRMP déclare où l’avis paraît (journal des marchés publics, journal national…) ; la publication fige l’appel et ouvre le dépôt en ligne.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130</a:t>
            </a:r>
            <a:endParaRPr lang="en-US" sz="11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L’appel publié, avant la date limite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ppel publié, avant la date limit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L’appel est figé : date limite, note minimale, candidats retenus, critères, pièces, publication.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L’avis,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signé électroniquement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la publication, se lit en PDF et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Avant la date limite, seul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nombre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d’expressions reçues est connu (ici : 0).</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131</a:t>
            </a:r>
            <a:endParaRPr lang="en-US" sz="11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L’APPEL À MANIFESTATION D’INTÉRÊT</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Recevoir et lire les expressions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Les consultants déposent leur expression d’intérêt en ligne, avant la date limite. Les expressions ne sont pas scellées, mais elles restent fermées à tous jusqu’à cette date.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132</a:t>
            </a:r>
            <a:endParaRPr lang="en-US" sz="11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L’appel et ses expressions d’intérêt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ppel et ses expressions d’intérê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après la date limite.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Publié le 08/10/2026 ; une expression déposée, par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Société de démonstration SARL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datée à la minute.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critères (50, 30 et 20 points), la pièce attendue, le support de publication.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Présélection, liste restreinte et rapport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mène à l’écran de la commission.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133</a:t>
            </a:r>
            <a:endParaRPr lang="en-US" sz="11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L’APPEL À MANIFESTATION D’INTÉRÊT</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La présélection par la commission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Les membres de la commission d’appel d’offres déclarent d’abord leurs intérêts, puis notent ; l’application totalise et classe ; le président arrête la liste ; les membres signent le rapport.</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134</a:t>
            </a:r>
            <a:endParaRPr lang="en-US" sz="11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PRÉSIDENT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déclarations des membres</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déclarations des membres">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Chaque membre de la commission, depuis son espace.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Avant toute décision, chaque membre signe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déclaration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aucun intérêt dans un candidat, ou un conflit d’intérêts déclaré.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déclaration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ne se reprend pas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 membre en conflit lit la présélection sans y décider.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135</a:t>
            </a:r>
            <a:endParaRPr lang="en-US" sz="11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MEMBRE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notation, critère par critère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 notation, critère par critè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Un membre de la commission, déclaré sans conflit.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note par critère, de zéro aux points du critère, et toujours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dernière saisie fait foi ; le journal garde chaque saisie.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136</a:t>
            </a:r>
            <a:endParaRPr lang="en-US" sz="11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PRÉSIDENT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classement et le détail des notes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classement et le détail des not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de la commission, depuis l’espace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qualifiée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une expression notée sur tous les critères, non écartée, qui atteint la note minimale ; le classement suit le total sur 100.</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détail des notes : chaque note, son motif et le membre qui l’a donnée (ici 42/50, 24/30, 14/20, soit 80/100).</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restreinte définitive et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 du nombre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une seule expression reçue et qualifiée (art. 42-II).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137</a:t>
            </a:r>
            <a:endParaRPr lang="en-US" sz="11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PRÉSIDENT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Arrêter la liste restreinte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Arrêter la liste restreint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expression peut être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écartée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un motif, ou rétablie.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prend les premières qualifiées. Moins de qualifiées que de places : le nombre retenu 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motive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 rapport de présélection est alors produit et se signe.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138</a:t>
            </a:r>
            <a:endParaRPr lang="en-US" sz="11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liste définitive et le rapport signé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liste définitive et le rapport sign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en lecture.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Liste définitive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publiée sur la page de l’appel et notifiée à chaque candidat.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rapport de présélection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produit et signé de tous le 08/10/2026, se lit en PDF et en Word ; le quorum de la commission y est constaté.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lettres d’invitation vont désormais aux candidats de cette liste ; le dossier de la demande de propositions peut être créé, le rapport signé y est joint d’office.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139</a:t>
            </a:r>
            <a:endParaRPr lang="en-US" sz="11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L’APPEL À MANIFESTATION D’INTÉRÊT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critères connus d’avance</a:t>
            </a:r>
            <a:endParaRPr lang="en-US" sz="1500" dirty="0"/>
          </a:p>
        </p:txBody>
      </p:sp>
      <p:sp>
        <p:nvSpPr>
          <p:cNvPr id="7" name="Text 5"/>
          <p:cNvSpPr/>
          <p:nvPr/>
        </p:nvSpPr>
        <p:spPr>
          <a:xfrm>
            <a:off x="952476"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critères et leurs points, qui totalisent 100, sont publiés avec l’avis et figés à la publication : la commission note sur ce qui a été annoncé.</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Aucune lecture anticipée</a:t>
            </a:r>
            <a:endParaRPr lang="en-US" sz="1500" dirty="0"/>
          </a:p>
        </p:txBody>
      </p:sp>
      <p:sp>
        <p:nvSpPr>
          <p:cNvPr id="11" name="Text 9"/>
          <p:cNvSpPr/>
          <p:nvPr/>
        </p:nvSpPr>
        <p:spPr>
          <a:xfrm>
            <a:off x="4525320"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Avant la date limite, personne ne lit une expression d’intérêt : l’administration n’en voit que le nombre.</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L’impartialité déclarée</a:t>
            </a:r>
            <a:endParaRPr lang="en-US" sz="1500" dirty="0"/>
          </a:p>
        </p:txBody>
      </p:sp>
      <p:sp>
        <p:nvSpPr>
          <p:cNvPr id="15" name="Text 13"/>
          <p:cNvSpPr/>
          <p:nvPr/>
        </p:nvSpPr>
        <p:spPr>
          <a:xfrm>
            <a:off x="8098164"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Chaque membre signe sa déclaration avant toute décision ; un membre en conflit d’intérêts ne note pas, ne décide pas, ne signe pas le rapport.</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notation motivée et tracée</a:t>
            </a:r>
            <a:endParaRPr lang="en-US" sz="1500" dirty="0"/>
          </a:p>
        </p:txBody>
      </p:sp>
      <p:sp>
        <p:nvSpPr>
          <p:cNvPr id="19" name="Text 17"/>
          <p:cNvSpPr/>
          <p:nvPr/>
        </p:nvSpPr>
        <p:spPr>
          <a:xfrm>
            <a:off x="952476"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Chaque note porte son motif et son auteur ; chaque écartement aussi ; le journal garde toutes les saisies.</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rapport au quorum</a:t>
            </a:r>
            <a:endParaRPr lang="en-US" sz="1500" dirty="0"/>
          </a:p>
        </p:txBody>
      </p:sp>
      <p:sp>
        <p:nvSpPr>
          <p:cNvPr id="23" name="Text 21"/>
          <p:cNvSpPr/>
          <p:nvPr/>
        </p:nvSpPr>
        <p:spPr>
          <a:xfrm>
            <a:off x="4525320"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liste ne s’arrête et le rapport ne vaut procès-verbal qu’au quorum de la commission, président ou son représentant compris.</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liste opposable</a:t>
            </a:r>
            <a:endParaRPr lang="en-US" sz="1500" dirty="0"/>
          </a:p>
        </p:txBody>
      </p:sp>
      <p:sp>
        <p:nvSpPr>
          <p:cNvPr id="27" name="Text 25"/>
          <p:cNvSpPr/>
          <p:nvPr/>
        </p:nvSpPr>
        <p:spPr>
          <a:xfrm>
            <a:off x="8098164"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liste définitive est publiée et notifiée, les non-retenus avec leur motif ; elle seule alimente les invitations, et l’AMI se fige dès que le dossier part à la Commission.</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140</a:t>
            </a:r>
            <a:endParaRPr lang="en-US" sz="11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06</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Recevoir les offres en ligne</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Les entreprises retirent le dossier, posent leurs questions, remplissent et déposent leur offre en ligne ; l’offre est scellée sur leur poste et personne ne peut la lire avant la séance d’ouverture.</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Une offre déposée en ligne est scellée sur le poste de l’entreprise : jusqu’à la séance, ni la PRMP, ni l’Administrateur, ni la plateforme ne peuvent en lire le contenu ou le prix.</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Chaque geste est daté par l’horloge du serveur et prouvé : accusé de dépôt avec empreinte, registre des retraits, registre des dépôts, et désormais toute tentative de dépôt refusée hors délai (art. 44).</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Les questions des candidats et leurs réponses sont publiées pour tous, sans nom d’auteur, jusqu’à dix jours avant la date limite (art. 35-II), puis jointes au dossier soumis à la Commission.</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L’application de bout en bout · 141</a:t>
            </a:r>
            <a:endParaRPr lang="en-US" sz="11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 l’avis publié à l’offre scellée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L’entreprise agit seule, depuis son espace candidat ; la PRMP valide les frais de dossier et suit les registres ; la commission d’appel d’offres et le dépositaire détiennent les clés qui ouvriront les offres.</a:t>
            </a:r>
            <a:endParaRPr lang="en-US" sz="1300" dirty="0"/>
          </a:p>
        </p:txBody>
      </p:sp>
      <p:sp>
        <p:nvSpPr>
          <p:cNvPr id="5" name="Shape 3"/>
          <p:cNvSpPr/>
          <p:nvPr/>
        </p:nvSpPr>
        <p:spPr>
          <a:xfrm>
            <a:off x="812780" y="1778000"/>
            <a:ext cx="1389708" cy="1905000"/>
          </a:xfrm>
          <a:prstGeom prst="roundRect">
            <a:avLst>
              <a:gd name="adj" fmla="val 3948"/>
            </a:avLst>
          </a:prstGeom>
          <a:solidFill>
            <a:srgbClr val="FCFCFA"/>
          </a:solidFill>
          <a:ln w="19050">
            <a:solidFill>
              <a:srgbClr val="12324A"/>
            </a:solidFill>
            <a:prstDash val="solid"/>
          </a:ln>
        </p:spPr>
      </p:sp>
      <p:sp>
        <p:nvSpPr>
          <p:cNvPr id="6" name="Text 4"/>
          <p:cNvSpPr/>
          <p:nvPr/>
        </p:nvSpPr>
        <p:spPr>
          <a:xfrm>
            <a:off x="901677"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COMMISSION D’APPEL D’OFFRES, DÉPOSITAIRE</a:t>
            </a:r>
            <a:endParaRPr lang="en-US" sz="1000" dirty="0"/>
          </a:p>
        </p:txBody>
      </p:sp>
      <p:sp>
        <p:nvSpPr>
          <p:cNvPr id="7" name="Text 5"/>
          <p:cNvSpPr/>
          <p:nvPr/>
        </p:nvSpPr>
        <p:spPr>
          <a:xfrm>
            <a:off x="901677"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Les clés en place</a:t>
            </a:r>
            <a:endParaRPr lang="en-US" sz="1400" dirty="0"/>
          </a:p>
        </p:txBody>
      </p:sp>
      <p:sp>
        <p:nvSpPr>
          <p:cNvPr id="8" name="Text 6"/>
          <p:cNvSpPr/>
          <p:nvPr/>
        </p:nvSpPr>
        <p:spPr>
          <a:xfrm>
            <a:off x="901677"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membres de la commission et le dépositaire publient leur clé : sans cérémonie close, l’avis ne paraît pas.</a:t>
            </a:r>
            <a:endParaRPr lang="en-US" sz="1150" dirty="0"/>
          </a:p>
        </p:txBody>
      </p:sp>
      <p:sp>
        <p:nvSpPr>
          <p:cNvPr id="9" name="Text 7"/>
          <p:cNvSpPr/>
          <p:nvPr/>
        </p:nvSpPr>
        <p:spPr>
          <a:xfrm>
            <a:off x="2189788"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342184" y="1778000"/>
            <a:ext cx="1389708" cy="1905000"/>
          </a:xfrm>
          <a:prstGeom prst="roundRect">
            <a:avLst>
              <a:gd name="adj" fmla="val 3948"/>
            </a:avLst>
          </a:prstGeom>
          <a:solidFill>
            <a:srgbClr val="FCFCFA"/>
          </a:solidFill>
          <a:ln w="19050">
            <a:solidFill>
              <a:srgbClr val="12324A"/>
            </a:solidFill>
            <a:prstDash val="solid"/>
          </a:ln>
        </p:spPr>
      </p:sp>
      <p:sp>
        <p:nvSpPr>
          <p:cNvPr id="11" name="Text 9"/>
          <p:cNvSpPr/>
          <p:nvPr/>
        </p:nvSpPr>
        <p:spPr>
          <a:xfrm>
            <a:off x="2431082"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CANDIDAT</a:t>
            </a:r>
            <a:endParaRPr lang="en-US" sz="1000" dirty="0"/>
          </a:p>
        </p:txBody>
      </p:sp>
      <p:sp>
        <p:nvSpPr>
          <p:cNvPr id="12" name="Text 10"/>
          <p:cNvSpPr/>
          <p:nvPr/>
        </p:nvSpPr>
        <p:spPr>
          <a:xfrm>
            <a:off x="2431082"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S’inscrire, déclarer son entreprise</a:t>
            </a:r>
            <a:endParaRPr lang="en-US" sz="1400" dirty="0"/>
          </a:p>
        </p:txBody>
      </p:sp>
      <p:sp>
        <p:nvSpPr>
          <p:cNvPr id="13" name="Text 11"/>
          <p:cNvSpPr/>
          <p:nvPr/>
        </p:nvSpPr>
        <p:spPr>
          <a:xfrm>
            <a:off x="2431082"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Un compte confirmé par un code reçu par courriel, puis l’entreprise déclarée une fois pour toutes (NIF, STAT, RCS).</a:t>
            </a:r>
            <a:endParaRPr lang="en-US" sz="1150" dirty="0"/>
          </a:p>
        </p:txBody>
      </p:sp>
      <p:sp>
        <p:nvSpPr>
          <p:cNvPr id="14" name="Text 12"/>
          <p:cNvSpPr/>
          <p:nvPr/>
        </p:nvSpPr>
        <p:spPr>
          <a:xfrm>
            <a:off x="3719193"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3871589" y="1778000"/>
            <a:ext cx="1389708" cy="1905000"/>
          </a:xfrm>
          <a:prstGeom prst="roundRect">
            <a:avLst>
              <a:gd name="adj" fmla="val 3948"/>
            </a:avLst>
          </a:prstGeom>
          <a:solidFill>
            <a:srgbClr val="FCFCFA"/>
          </a:solidFill>
          <a:ln w="19050">
            <a:solidFill>
              <a:srgbClr val="12324A"/>
            </a:solidFill>
            <a:prstDash val="solid"/>
          </a:ln>
        </p:spPr>
      </p:sp>
      <p:sp>
        <p:nvSpPr>
          <p:cNvPr id="16" name="Text 14"/>
          <p:cNvSpPr/>
          <p:nvPr/>
        </p:nvSpPr>
        <p:spPr>
          <a:xfrm>
            <a:off x="3960487"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CANDIDAT, PRMP</a:t>
            </a:r>
            <a:endParaRPr lang="en-US" sz="1000" dirty="0"/>
          </a:p>
        </p:txBody>
      </p:sp>
      <p:sp>
        <p:nvSpPr>
          <p:cNvPr id="17" name="Text 15"/>
          <p:cNvSpPr/>
          <p:nvPr/>
        </p:nvSpPr>
        <p:spPr>
          <a:xfrm>
            <a:off x="3960487"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Payer, puis retirer le dossier</a:t>
            </a:r>
            <a:endParaRPr lang="en-US" sz="1400" dirty="0"/>
          </a:p>
        </p:txBody>
      </p:sp>
      <p:sp>
        <p:nvSpPr>
          <p:cNvPr id="18" name="Text 16"/>
          <p:cNvSpPr/>
          <p:nvPr/>
        </p:nvSpPr>
        <p:spPr>
          <a:xfrm>
            <a:off x="3960487"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reçu du versement est déposé ; une fois validé, le dossier se retire et chaque retrait est inscrit au registre.</a:t>
            </a:r>
            <a:endParaRPr lang="en-US" sz="1150" dirty="0"/>
          </a:p>
        </p:txBody>
      </p:sp>
      <p:sp>
        <p:nvSpPr>
          <p:cNvPr id="19" name="Text 17"/>
          <p:cNvSpPr/>
          <p:nvPr/>
        </p:nvSpPr>
        <p:spPr>
          <a:xfrm>
            <a:off x="5248597"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5400994" y="1778000"/>
            <a:ext cx="1389708" cy="1905000"/>
          </a:xfrm>
          <a:prstGeom prst="roundRect">
            <a:avLst>
              <a:gd name="adj" fmla="val 3948"/>
            </a:avLst>
          </a:prstGeom>
          <a:solidFill>
            <a:srgbClr val="FCFCFA"/>
          </a:solidFill>
          <a:ln w="19050">
            <a:solidFill>
              <a:srgbClr val="12324A"/>
            </a:solidFill>
            <a:prstDash val="solid"/>
          </a:ln>
        </p:spPr>
      </p:sp>
      <p:sp>
        <p:nvSpPr>
          <p:cNvPr id="21" name="Text 19"/>
          <p:cNvSpPr/>
          <p:nvPr/>
        </p:nvSpPr>
        <p:spPr>
          <a:xfrm>
            <a:off x="5489891"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CANDIDAT, PRMP</a:t>
            </a:r>
            <a:endParaRPr lang="en-US" sz="1000" dirty="0"/>
          </a:p>
        </p:txBody>
      </p:sp>
      <p:sp>
        <p:nvSpPr>
          <p:cNvPr id="22" name="Text 20"/>
          <p:cNvSpPr/>
          <p:nvPr/>
        </p:nvSpPr>
        <p:spPr>
          <a:xfrm>
            <a:off x="5489891"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Poser ses questions</a:t>
            </a:r>
            <a:endParaRPr lang="en-US" sz="1400" dirty="0"/>
          </a:p>
        </p:txBody>
      </p:sp>
      <p:sp>
        <p:nvSpPr>
          <p:cNvPr id="23" name="Text 21"/>
          <p:cNvSpPr/>
          <p:nvPr/>
        </p:nvSpPr>
        <p:spPr>
          <a:xfrm>
            <a:off x="5489891"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Jusqu’à dix jours avant la date limite ; la réponse est diffusée à tous les candidats.</a:t>
            </a:r>
            <a:endParaRPr lang="en-US" sz="1150" dirty="0"/>
          </a:p>
        </p:txBody>
      </p:sp>
      <p:sp>
        <p:nvSpPr>
          <p:cNvPr id="24" name="Text 22"/>
          <p:cNvSpPr/>
          <p:nvPr/>
        </p:nvSpPr>
        <p:spPr>
          <a:xfrm>
            <a:off x="6778002"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6930398" y="1778000"/>
            <a:ext cx="1389708" cy="1905000"/>
          </a:xfrm>
          <a:prstGeom prst="roundRect">
            <a:avLst>
              <a:gd name="adj" fmla="val 3948"/>
            </a:avLst>
          </a:prstGeom>
          <a:solidFill>
            <a:srgbClr val="FCFCFA"/>
          </a:solidFill>
          <a:ln w="19050">
            <a:solidFill>
              <a:srgbClr val="12324A"/>
            </a:solidFill>
            <a:prstDash val="solid"/>
          </a:ln>
        </p:spPr>
      </p:sp>
      <p:sp>
        <p:nvSpPr>
          <p:cNvPr id="26" name="Text 24"/>
          <p:cNvSpPr/>
          <p:nvPr/>
        </p:nvSpPr>
        <p:spPr>
          <a:xfrm>
            <a:off x="7019296"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CANDIDAT</a:t>
            </a:r>
            <a:endParaRPr lang="en-US" sz="1000" dirty="0"/>
          </a:p>
        </p:txBody>
      </p:sp>
      <p:sp>
        <p:nvSpPr>
          <p:cNvPr id="27" name="Text 25"/>
          <p:cNvSpPr/>
          <p:nvPr/>
        </p:nvSpPr>
        <p:spPr>
          <a:xfrm>
            <a:off x="7019296"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Remplir l’offre en ligne</a:t>
            </a:r>
            <a:endParaRPr lang="en-US" sz="1400" dirty="0"/>
          </a:p>
        </p:txBody>
      </p:sp>
      <p:sp>
        <p:nvSpPr>
          <p:cNvPr id="28" name="Text 26"/>
          <p:cNvSpPr/>
          <p:nvPr/>
        </p:nvSpPr>
        <p:spPr>
          <a:xfrm>
            <a:off x="7019296"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Bordereau ou devis quantitatif, conformité, capacités, personnel, matériel : l’acte d’engagement se calcule.</a:t>
            </a:r>
            <a:endParaRPr lang="en-US" sz="1150" dirty="0"/>
          </a:p>
        </p:txBody>
      </p:sp>
      <p:sp>
        <p:nvSpPr>
          <p:cNvPr id="29" name="Text 27"/>
          <p:cNvSpPr/>
          <p:nvPr/>
        </p:nvSpPr>
        <p:spPr>
          <a:xfrm>
            <a:off x="8307407"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8459803" y="1778000"/>
            <a:ext cx="1389708" cy="1905000"/>
          </a:xfrm>
          <a:prstGeom prst="roundRect">
            <a:avLst>
              <a:gd name="adj" fmla="val 3948"/>
            </a:avLst>
          </a:prstGeom>
          <a:solidFill>
            <a:srgbClr val="FCFCFA"/>
          </a:solidFill>
          <a:ln w="19050">
            <a:solidFill>
              <a:srgbClr val="12324A"/>
            </a:solidFill>
            <a:prstDash val="solid"/>
          </a:ln>
        </p:spPr>
      </p:sp>
      <p:sp>
        <p:nvSpPr>
          <p:cNvPr id="31" name="Text 29"/>
          <p:cNvSpPr/>
          <p:nvPr/>
        </p:nvSpPr>
        <p:spPr>
          <a:xfrm>
            <a:off x="8548701"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CANDIDAT</a:t>
            </a:r>
            <a:endParaRPr lang="en-US" sz="1000" dirty="0"/>
          </a:p>
        </p:txBody>
      </p:sp>
      <p:sp>
        <p:nvSpPr>
          <p:cNvPr id="32" name="Text 30"/>
          <p:cNvSpPr/>
          <p:nvPr/>
        </p:nvSpPr>
        <p:spPr>
          <a:xfrm>
            <a:off x="8548701"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Sceller et déposer</a:t>
            </a:r>
            <a:endParaRPr lang="en-US" sz="1400" dirty="0"/>
          </a:p>
        </p:txBody>
      </p:sp>
      <p:sp>
        <p:nvSpPr>
          <p:cNvPr id="33" name="Text 31"/>
          <p:cNvSpPr/>
          <p:nvPr/>
        </p:nvSpPr>
        <p:spPr>
          <a:xfrm>
            <a:off x="8548701"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L’offre est chiffrée sur le poste de l’entreprise ; un accusé portant son empreinte est délivré.</a:t>
            </a:r>
            <a:endParaRPr lang="en-US" sz="1150" dirty="0"/>
          </a:p>
        </p:txBody>
      </p:sp>
      <p:sp>
        <p:nvSpPr>
          <p:cNvPr id="34" name="Text 32"/>
          <p:cNvSpPr/>
          <p:nvPr/>
        </p:nvSpPr>
        <p:spPr>
          <a:xfrm>
            <a:off x="9836811"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5" name="Shape 33"/>
          <p:cNvSpPr/>
          <p:nvPr/>
        </p:nvSpPr>
        <p:spPr>
          <a:xfrm>
            <a:off x="9989207" y="1778000"/>
            <a:ext cx="1389708" cy="1905000"/>
          </a:xfrm>
          <a:prstGeom prst="roundRect">
            <a:avLst>
              <a:gd name="adj" fmla="val 3948"/>
            </a:avLst>
          </a:prstGeom>
          <a:solidFill>
            <a:srgbClr val="12324A"/>
          </a:solidFill>
          <a:ln w="19050">
            <a:solidFill>
              <a:srgbClr val="12324A"/>
            </a:solidFill>
            <a:prstDash val="solid"/>
          </a:ln>
        </p:spPr>
      </p:sp>
      <p:sp>
        <p:nvSpPr>
          <p:cNvPr id="36" name="Text 34"/>
          <p:cNvSpPr/>
          <p:nvPr/>
        </p:nvSpPr>
        <p:spPr>
          <a:xfrm>
            <a:off x="10078105" y="1866900"/>
            <a:ext cx="12119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PRMP</a:t>
            </a:r>
            <a:endParaRPr lang="en-US" sz="1000" dirty="0"/>
          </a:p>
        </p:txBody>
      </p:sp>
      <p:sp>
        <p:nvSpPr>
          <p:cNvPr id="37" name="Text 35"/>
          <p:cNvSpPr/>
          <p:nvPr/>
        </p:nvSpPr>
        <p:spPr>
          <a:xfrm>
            <a:off x="10078105" y="2095500"/>
            <a:ext cx="12119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Les dépôts clos</a:t>
            </a:r>
            <a:endParaRPr lang="en-US" sz="1400" dirty="0"/>
          </a:p>
        </p:txBody>
      </p:sp>
      <p:sp>
        <p:nvSpPr>
          <p:cNvPr id="38" name="Text 36"/>
          <p:cNvSpPr/>
          <p:nvPr/>
        </p:nvSpPr>
        <p:spPr>
          <a:xfrm>
            <a:off x="10078105" y="2603500"/>
            <a:ext cx="12119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À la date limite, la PRMP lit le registre complet ; toute tentative tardive est refusée et consignée.</a:t>
            </a:r>
            <a:endParaRPr lang="en-US" sz="1150" dirty="0"/>
          </a:p>
        </p:txBody>
      </p:sp>
      <p:sp>
        <p:nvSpPr>
          <p:cNvPr id="39" name="Text 3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142</a:t>
            </a:r>
            <a:endParaRPr lang="en-US" sz="11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Ceux qui ouvriront les offres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Avant même la publication de l’avis, chaque membre de la commission d’appel d’offres et un dépositaire indépendant génèrent leur clé sur leur propre poste. Ce sont ces clés qui scellent les offres.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143</a:t>
            </a:r>
            <a:endParaRPr lang="en-US" sz="11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COMMISSION D’APPEL D’OFFRES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procédures du membre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rocédures du memb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Un membre de la commission d’appel d’offres, ici son président.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appels d’offres où il siège, avec sa qualité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président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date limite des 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chacun, l’état de sa clé (« Clé publiée ») et celui de la cérémonie des clés (« Cérémonie close — clés publiées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144</a:t>
            </a:r>
            <a:endParaRPr lang="en-US" sz="11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COMMISSION D’APPEL D’OFFRES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Sa part de clé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Sa part de cl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cérémonie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3 parts, quorum 2</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close avant la publication de l’avis.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L’empreinte de sa clé publiée ; il peut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 sa part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garder une copie, la remplacer ou la déclarer perdue.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L’écran avertit quand la marge est épuisée : une part de plus perdue rendrait les offres illisibles.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145</a:t>
            </a:r>
            <a:endParaRPr lang="en-US" sz="11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DÉPOSITAIRE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L’espace du dépositaire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pace du déposita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dépositaire de la part de secours.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génère sa clé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sur son propre poste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garde seul la phrase qui la protège.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ne voit que l’état de sa part, de la cérémonie et de la séance : jamais les offres ni leurs pièces.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146</a:t>
            </a:r>
            <a:endParaRPr lang="en-US" sz="11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L’entreprise entre dans la procédure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Les procédures se consultent sans compte. Pour retirer le dossier et déposer une offre, l’entreprise ouvre un compte et se déclare une fois pour toutes.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147</a:t>
            </a:r>
            <a:endParaRPr lang="en-US" sz="11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procédures ouvertes</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procédures ouvertes">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Toute entreprise,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Référence, objet, lots, date limite et heure de référence de chaque procédure en remise électronique.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date limite la plus proche d’abord. (Capture du 08/10 : toutes les procédures de démonstration sont closes aujourd’hui, la liste est vide.)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148</a:t>
            </a:r>
            <a:endParaRPr lang="en-US" sz="11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détail d’une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étail d’une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Toute entreprise,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calendrier à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heure du serveur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lots, les règles de la remise électronique (signature simple, formats, tailles) et l’assistance.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Après la séance : le PV d’ouverture publié, puis le résultat de l’appel d’offres.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se retire avec un compte ; les questions des candidats et les réponses diffusées se lisent ici.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149</a:t>
            </a:r>
            <a:endParaRPr lang="en-US" sz="11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Créer un compte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réer un compt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personne qui représente l’entreprise.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compte par entreprise : nom, adresse électronique (l’identifiant), téléphone, mot de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code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reçu par courriel confirme le compte.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150</a:t>
            </a:r>
            <a:endParaRPr lang="en-US" sz="11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Son entreprise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Son entrepri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Raison sociale, NIF, STAT, RCS, adresse et représentant, déclarés une fois ; un NIF, un STAT ou un RCS n’appartient qu’à une seule entreprise.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carte fiscale téléversée permet à l’Administrateur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 le NIF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 vérification ne bloque aucun dépôt, la commission en lit l’état à l’ouverture.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151</a:t>
            </a:r>
            <a:endParaRPr lang="en-US" sz="11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frais de dossier, puis le retrait</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Quand la fiche fixe des frais, l’entreprise dépose le reçu de son versement ; la PRMP le valide ou le refuse avec un motif. La plateforme n’encaisse rien.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152</a:t>
            </a:r>
            <a:endParaRPr lang="en-US" sz="11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retrait attend le reçu</a:t>
            </a:r>
            <a:endParaRPr lang="en-US" sz="2600" dirty="0"/>
          </a:p>
        </p:txBody>
      </p:sp>
      <p:sp>
        <p:nvSpPr>
          <p:cNvPr id="4" name="Shape 2"/>
          <p:cNvSpPr/>
          <p:nvPr/>
        </p:nvSpPr>
        <p:spPr>
          <a:xfrm>
            <a:off x="1583090" y="1193800"/>
            <a:ext cx="9025515" cy="3327400"/>
          </a:xfrm>
          <a:prstGeom prst="rect">
            <a:avLst/>
          </a:prstGeom>
          <a:solidFill>
            <a:srgbClr val="FCFCFA"/>
          </a:solidFill>
          <a:ln w="9525">
            <a:solidFill>
              <a:srgbClr val="D5DCE4"/>
            </a:solidFill>
            <a:prstDash val="solid"/>
          </a:ln>
        </p:spPr>
      </p:sp>
      <p:pic>
        <p:nvPicPr>
          <p:cNvPr id="5" name="Image 0" descr="Le retrait attend le reçu">    </p:cNvPr>
          <p:cNvPicPr>
            <a:picLocks noChangeAspect="1"/>
          </p:cNvPicPr>
          <p:nvPr/>
        </p:nvPicPr>
        <p:blipFill>
          <a:blip r:embed="rId1"/>
          <a:stretch>
            <a:fillRect/>
          </a:stretch>
        </p:blipFill>
        <p:spPr>
          <a:xfrm>
            <a:off x="1595790" y="1206500"/>
            <a:ext cx="9000116"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connecté.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frais du dossier sont affichés ; les boutons « Retirer » restent inactifs et l’écran dit pourquoi.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153</a:t>
            </a:r>
            <a:endParaRPr lang="en-US" sz="11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Déposer le reçu du versement</a:t>
            </a:r>
            <a:endParaRPr lang="en-US" sz="2600" dirty="0"/>
          </a:p>
        </p:txBody>
      </p:sp>
      <p:sp>
        <p:nvSpPr>
          <p:cNvPr id="4" name="Shape 2"/>
          <p:cNvSpPr/>
          <p:nvPr/>
        </p:nvSpPr>
        <p:spPr>
          <a:xfrm>
            <a:off x="800080" y="1193800"/>
            <a:ext cx="10591535" cy="3083142"/>
          </a:xfrm>
          <a:prstGeom prst="rect">
            <a:avLst/>
          </a:prstGeom>
          <a:solidFill>
            <a:srgbClr val="FCFCFA"/>
          </a:solidFill>
          <a:ln w="9525">
            <a:solidFill>
              <a:srgbClr val="D5DCE4"/>
            </a:solidFill>
            <a:prstDash val="solid"/>
          </a:ln>
        </p:spPr>
      </p:sp>
      <p:pic>
        <p:nvPicPr>
          <p:cNvPr id="5" name="Image 0" descr="Déposer le reçu du versement">    </p:cNvPr>
          <p:cNvPicPr>
            <a:picLocks noChangeAspect="1"/>
          </p:cNvPicPr>
          <p:nvPr/>
        </p:nvPicPr>
        <p:blipFill>
          <a:blip r:embed="rId1"/>
          <a:stretch>
            <a:fillRect/>
          </a:stretch>
        </p:blipFill>
        <p:spPr>
          <a:xfrm>
            <a:off x="812780" y="1206500"/>
            <a:ext cx="10566136" cy="3057742"/>
          </a:xfrm>
          <a:prstGeom prst="rect">
            <a:avLst/>
          </a:prstGeom>
        </p:spPr>
      </p:pic>
      <p:sp>
        <p:nvSpPr>
          <p:cNvPr id="6" name="Shape 3"/>
          <p:cNvSpPr/>
          <p:nvPr/>
        </p:nvSpPr>
        <p:spPr>
          <a:xfrm>
            <a:off x="812780" y="4416642"/>
            <a:ext cx="10566136" cy="1790700"/>
          </a:xfrm>
          <a:prstGeom prst="rect">
            <a:avLst/>
          </a:prstGeom>
          <a:solidFill>
            <a:srgbClr val="FCFCFA"/>
          </a:solidFill>
          <a:ln w="9525">
            <a:solidFill>
              <a:srgbClr val="D5DCE4"/>
            </a:solidFill>
            <a:prstDash val="solid"/>
          </a:ln>
        </p:spPr>
      </p:sp>
      <p:sp>
        <p:nvSpPr>
          <p:cNvPr id="7" name="Shape 4"/>
          <p:cNvSpPr/>
          <p:nvPr/>
        </p:nvSpPr>
        <p:spPr>
          <a:xfrm>
            <a:off x="812780" y="4416642"/>
            <a:ext cx="38099" cy="1790700"/>
          </a:xfrm>
          <a:prstGeom prst="rect">
            <a:avLst/>
          </a:prstGeom>
          <a:solidFill>
            <a:srgbClr val="1B6FA8"/>
          </a:solidFill>
          <a:ln/>
        </p:spPr>
      </p:sp>
      <p:sp>
        <p:nvSpPr>
          <p:cNvPr id="8" name="Text 5"/>
          <p:cNvSpPr/>
          <p:nvPr/>
        </p:nvSpPr>
        <p:spPr>
          <a:xfrm>
            <a:off x="977876" y="4518242"/>
            <a:ext cx="10274043" cy="16002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Montant, référence, date, banque, lots couverts, et le reçu (PDF ou image).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154</a:t>
            </a:r>
            <a:endParaRPr lang="en-US" sz="11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reçu attend la décision</a:t>
            </a:r>
            <a:endParaRPr lang="en-US" sz="2600" dirty="0"/>
          </a:p>
        </p:txBody>
      </p:sp>
      <p:sp>
        <p:nvSpPr>
          <p:cNvPr id="4" name="Shape 2"/>
          <p:cNvSpPr/>
          <p:nvPr/>
        </p:nvSpPr>
        <p:spPr>
          <a:xfrm>
            <a:off x="800080" y="1193800"/>
            <a:ext cx="10591535" cy="1509038"/>
          </a:xfrm>
          <a:prstGeom prst="rect">
            <a:avLst/>
          </a:prstGeom>
          <a:solidFill>
            <a:srgbClr val="FCFCFA"/>
          </a:solidFill>
          <a:ln w="9525">
            <a:solidFill>
              <a:srgbClr val="D5DCE4"/>
            </a:solidFill>
            <a:prstDash val="solid"/>
          </a:ln>
        </p:spPr>
      </p:sp>
      <p:pic>
        <p:nvPicPr>
          <p:cNvPr id="5" name="Image 0" descr="Le reçu attend la décision">    </p:cNvPr>
          <p:cNvPicPr>
            <a:picLocks noChangeAspect="1"/>
          </p:cNvPicPr>
          <p:nvPr/>
        </p:nvPicPr>
        <p:blipFill>
          <a:blip r:embed="rId1"/>
          <a:stretch>
            <a:fillRect/>
          </a:stretch>
        </p:blipFill>
        <p:spPr>
          <a:xfrm>
            <a:off x="812780" y="1206500"/>
            <a:ext cx="10566136" cy="1483638"/>
          </a:xfrm>
          <a:prstGeom prst="rect">
            <a:avLst/>
          </a:prstGeom>
        </p:spPr>
      </p:pic>
      <p:sp>
        <p:nvSpPr>
          <p:cNvPr id="6" name="Shape 3"/>
          <p:cNvSpPr/>
          <p:nvPr/>
        </p:nvSpPr>
        <p:spPr>
          <a:xfrm>
            <a:off x="812780" y="2842538"/>
            <a:ext cx="10566136" cy="1790700"/>
          </a:xfrm>
          <a:prstGeom prst="rect">
            <a:avLst/>
          </a:prstGeom>
          <a:solidFill>
            <a:srgbClr val="FCFCFA"/>
          </a:solidFill>
          <a:ln w="9525">
            <a:solidFill>
              <a:srgbClr val="D5DCE4"/>
            </a:solidFill>
            <a:prstDash val="solid"/>
          </a:ln>
        </p:spPr>
      </p:sp>
      <p:sp>
        <p:nvSpPr>
          <p:cNvPr id="7" name="Shape 4"/>
          <p:cNvSpPr/>
          <p:nvPr/>
        </p:nvSpPr>
        <p:spPr>
          <a:xfrm>
            <a:off x="812780" y="2842538"/>
            <a:ext cx="38099" cy="1790700"/>
          </a:xfrm>
          <a:prstGeom prst="rect">
            <a:avLst/>
          </a:prstGeom>
          <a:solidFill>
            <a:srgbClr val="1B6FA8"/>
          </a:solidFill>
          <a:ln/>
        </p:spPr>
      </p:sp>
      <p:sp>
        <p:nvSpPr>
          <p:cNvPr id="8" name="Text 5"/>
          <p:cNvSpPr/>
          <p:nvPr/>
        </p:nvSpPr>
        <p:spPr>
          <a:xfrm>
            <a:off x="977876" y="2944138"/>
            <a:ext cx="10274043" cy="16002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L’état du reçu et son document ; tant qu’il n’est pas validé, le dossier ne se retire pas.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155</a:t>
            </a:r>
            <a:endParaRPr lang="en-US" sz="11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Refuser un reçu, avec un motif</a:t>
            </a:r>
            <a:endParaRPr lang="en-US" sz="2600" dirty="0"/>
          </a:p>
        </p:txBody>
      </p:sp>
      <p:sp>
        <p:nvSpPr>
          <p:cNvPr id="4" name="Shape 2"/>
          <p:cNvSpPr/>
          <p:nvPr/>
        </p:nvSpPr>
        <p:spPr>
          <a:xfrm>
            <a:off x="1765256" y="1193800"/>
            <a:ext cx="8661183" cy="3327400"/>
          </a:xfrm>
          <a:prstGeom prst="rect">
            <a:avLst/>
          </a:prstGeom>
          <a:solidFill>
            <a:srgbClr val="FCFCFA"/>
          </a:solidFill>
          <a:ln w="9525">
            <a:solidFill>
              <a:srgbClr val="D5DCE4"/>
            </a:solidFill>
            <a:prstDash val="solid"/>
          </a:ln>
        </p:spPr>
      </p:sp>
      <p:pic>
        <p:nvPicPr>
          <p:cNvPr id="5" name="Image 0" descr="Refuser un reçu, avec un motif">    </p:cNvPr>
          <p:cNvPicPr>
            <a:picLocks noChangeAspect="1"/>
          </p:cNvPicPr>
          <p:nvPr/>
        </p:nvPicPr>
        <p:blipFill>
          <a:blip r:embed="rId1"/>
          <a:stretch>
            <a:fillRect/>
          </a:stretch>
        </p:blipFill>
        <p:spPr>
          <a:xfrm>
            <a:off x="1777956" y="1206500"/>
            <a:ext cx="8635784"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refus exige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transmis par courriel ; l’entreprise dépose un nouveau reçu.</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décision ne se reprend pas. La liste des reçus de la PRMP est présentée avec la préparation du DAO (partie 04).</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156</a:t>
            </a:r>
            <a:endParaRPr lang="en-US" sz="11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Reçu refusé : le motif</a:t>
            </a:r>
            <a:endParaRPr lang="en-US" sz="2600" dirty="0"/>
          </a:p>
        </p:txBody>
      </p:sp>
      <p:sp>
        <p:nvSpPr>
          <p:cNvPr id="4" name="Shape 2"/>
          <p:cNvSpPr/>
          <p:nvPr/>
        </p:nvSpPr>
        <p:spPr>
          <a:xfrm>
            <a:off x="800080" y="1193800"/>
            <a:ext cx="10591535" cy="2359416"/>
          </a:xfrm>
          <a:prstGeom prst="rect">
            <a:avLst/>
          </a:prstGeom>
          <a:solidFill>
            <a:srgbClr val="FCFCFA"/>
          </a:solidFill>
          <a:ln w="9525">
            <a:solidFill>
              <a:srgbClr val="D5DCE4"/>
            </a:solidFill>
            <a:prstDash val="solid"/>
          </a:ln>
        </p:spPr>
      </p:sp>
      <p:pic>
        <p:nvPicPr>
          <p:cNvPr id="5" name="Image 0" descr="Reçu refusé : le motif">    </p:cNvPr>
          <p:cNvPicPr>
            <a:picLocks noChangeAspect="1"/>
          </p:cNvPicPr>
          <p:nvPr/>
        </p:nvPicPr>
        <p:blipFill>
          <a:blip r:embed="rId1"/>
          <a:stretch>
            <a:fillRect/>
          </a:stretch>
        </p:blipFill>
        <p:spPr>
          <a:xfrm>
            <a:off x="812780" y="1206500"/>
            <a:ext cx="10566136" cy="2334016"/>
          </a:xfrm>
          <a:prstGeom prst="rect">
            <a:avLst/>
          </a:prstGeom>
        </p:spPr>
      </p:pic>
      <p:sp>
        <p:nvSpPr>
          <p:cNvPr id="6" name="Shape 3"/>
          <p:cNvSpPr/>
          <p:nvPr/>
        </p:nvSpPr>
        <p:spPr>
          <a:xfrm>
            <a:off x="812780" y="3692916"/>
            <a:ext cx="10566136" cy="1790700"/>
          </a:xfrm>
          <a:prstGeom prst="rect">
            <a:avLst/>
          </a:prstGeom>
          <a:solidFill>
            <a:srgbClr val="FCFCFA"/>
          </a:solidFill>
          <a:ln w="9525">
            <a:solidFill>
              <a:srgbClr val="D5DCE4"/>
            </a:solidFill>
            <a:prstDash val="solid"/>
          </a:ln>
        </p:spPr>
      </p:sp>
      <p:sp>
        <p:nvSpPr>
          <p:cNvPr id="7" name="Shape 4"/>
          <p:cNvSpPr/>
          <p:nvPr/>
        </p:nvSpPr>
        <p:spPr>
          <a:xfrm>
            <a:off x="812780" y="3692916"/>
            <a:ext cx="38099" cy="1790700"/>
          </a:xfrm>
          <a:prstGeom prst="rect">
            <a:avLst/>
          </a:prstGeom>
          <a:solidFill>
            <a:srgbClr val="1B6FA8"/>
          </a:solidFill>
          <a:ln/>
        </p:spPr>
      </p:sp>
      <p:sp>
        <p:nvSpPr>
          <p:cNvPr id="8" name="Text 5"/>
          <p:cNvSpPr/>
          <p:nvPr/>
        </p:nvSpPr>
        <p:spPr>
          <a:xfrm>
            <a:off x="977876" y="3794516"/>
            <a:ext cx="10274043" cy="16002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L’ancien reçu et son motif restent visibles ; un nouveau dépôt est proposé.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157</a:t>
            </a:r>
            <a:endParaRPr lang="en-US" sz="11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Reçu validé : le dossier se retire</a:t>
            </a:r>
            <a:endParaRPr lang="en-US" sz="2600" dirty="0"/>
          </a:p>
        </p:txBody>
      </p:sp>
      <p:sp>
        <p:nvSpPr>
          <p:cNvPr id="4" name="Shape 2"/>
          <p:cNvSpPr/>
          <p:nvPr/>
        </p:nvSpPr>
        <p:spPr>
          <a:xfrm>
            <a:off x="800080" y="1193800"/>
            <a:ext cx="10591535" cy="1509038"/>
          </a:xfrm>
          <a:prstGeom prst="rect">
            <a:avLst/>
          </a:prstGeom>
          <a:solidFill>
            <a:srgbClr val="FCFCFA"/>
          </a:solidFill>
          <a:ln w="9525">
            <a:solidFill>
              <a:srgbClr val="D5DCE4"/>
            </a:solidFill>
            <a:prstDash val="solid"/>
          </a:ln>
        </p:spPr>
      </p:sp>
      <p:pic>
        <p:nvPicPr>
          <p:cNvPr id="5" name="Image 0" descr="Reçu validé : le dossier se retire">    </p:cNvPr>
          <p:cNvPicPr>
            <a:picLocks noChangeAspect="1"/>
          </p:cNvPicPr>
          <p:nvPr/>
        </p:nvPicPr>
        <p:blipFill>
          <a:blip r:embed="rId1"/>
          <a:stretch>
            <a:fillRect/>
          </a:stretch>
        </p:blipFill>
        <p:spPr>
          <a:xfrm>
            <a:off x="812780" y="1206500"/>
            <a:ext cx="10566136" cy="1483638"/>
          </a:xfrm>
          <a:prstGeom prst="rect">
            <a:avLst/>
          </a:prstGeom>
        </p:spPr>
      </p:pic>
      <p:sp>
        <p:nvSpPr>
          <p:cNvPr id="6" name="Shape 3"/>
          <p:cNvSpPr/>
          <p:nvPr/>
        </p:nvSpPr>
        <p:spPr>
          <a:xfrm>
            <a:off x="812780" y="2842538"/>
            <a:ext cx="10566136" cy="1790700"/>
          </a:xfrm>
          <a:prstGeom prst="rect">
            <a:avLst/>
          </a:prstGeom>
          <a:solidFill>
            <a:srgbClr val="FCFCFA"/>
          </a:solidFill>
          <a:ln w="9525">
            <a:solidFill>
              <a:srgbClr val="D5DCE4"/>
            </a:solidFill>
            <a:prstDash val="solid"/>
          </a:ln>
        </p:spPr>
      </p:sp>
      <p:sp>
        <p:nvSpPr>
          <p:cNvPr id="7" name="Shape 4"/>
          <p:cNvSpPr/>
          <p:nvPr/>
        </p:nvSpPr>
        <p:spPr>
          <a:xfrm>
            <a:off x="812780" y="2842538"/>
            <a:ext cx="38099" cy="1790700"/>
          </a:xfrm>
          <a:prstGeom prst="rect">
            <a:avLst/>
          </a:prstGeom>
          <a:solidFill>
            <a:srgbClr val="1B6FA8"/>
          </a:solidFill>
          <a:ln/>
        </p:spPr>
      </p:sp>
      <p:sp>
        <p:nvSpPr>
          <p:cNvPr id="8" name="Text 5"/>
          <p:cNvSpPr/>
          <p:nvPr/>
        </p:nvSpPr>
        <p:spPr>
          <a:xfrm>
            <a:off x="977876" y="2944138"/>
            <a:ext cx="10274043" cy="16002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boutons « Retirer » s’ouvrent, ainsi que « Déposer une offre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158</a:t>
            </a:r>
            <a:endParaRPr lang="en-US" sz="11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dossier à retirer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ossier à retir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connecté.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dossier d’appel d’offres complet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Word et en PDF, le bordereau des prix et le tableau de conformité.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retrait est inscrit au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registre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la PRMP, avec le compte et l’entreprise (registre présenté en partie 04).</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159</a:t>
            </a:r>
            <a:endParaRPr lang="en-US" sz="11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Sans reçu validé, pas de dépôt</a:t>
            </a:r>
            <a:endParaRPr lang="en-US" sz="2600" dirty="0"/>
          </a:p>
        </p:txBody>
      </p:sp>
      <p:sp>
        <p:nvSpPr>
          <p:cNvPr id="4" name="Shape 2"/>
          <p:cNvSpPr/>
          <p:nvPr/>
        </p:nvSpPr>
        <p:spPr>
          <a:xfrm>
            <a:off x="800080" y="1193800"/>
            <a:ext cx="10591535" cy="2300111"/>
          </a:xfrm>
          <a:prstGeom prst="rect">
            <a:avLst/>
          </a:prstGeom>
          <a:solidFill>
            <a:srgbClr val="FCFCFA"/>
          </a:solidFill>
          <a:ln w="9525">
            <a:solidFill>
              <a:srgbClr val="D5DCE4"/>
            </a:solidFill>
            <a:prstDash val="solid"/>
          </a:ln>
        </p:spPr>
      </p:sp>
      <p:pic>
        <p:nvPicPr>
          <p:cNvPr id="5" name="Image 0" descr="Sans reçu validé, pas de dépôt">    </p:cNvPr>
          <p:cNvPicPr>
            <a:picLocks noChangeAspect="1"/>
          </p:cNvPicPr>
          <p:nvPr/>
        </p:nvPicPr>
        <p:blipFill>
          <a:blip r:embed="rId1"/>
          <a:stretch>
            <a:fillRect/>
          </a:stretch>
        </p:blipFill>
        <p:spPr>
          <a:xfrm>
            <a:off x="812780" y="1206500"/>
            <a:ext cx="10566136" cy="2274711"/>
          </a:xfrm>
          <a:prstGeom prst="rect">
            <a:avLst/>
          </a:prstGeom>
        </p:spPr>
      </p:pic>
      <p:sp>
        <p:nvSpPr>
          <p:cNvPr id="6" name="Shape 3"/>
          <p:cNvSpPr/>
          <p:nvPr/>
        </p:nvSpPr>
        <p:spPr>
          <a:xfrm>
            <a:off x="812780" y="3633611"/>
            <a:ext cx="10566136" cy="1790700"/>
          </a:xfrm>
          <a:prstGeom prst="rect">
            <a:avLst/>
          </a:prstGeom>
          <a:solidFill>
            <a:srgbClr val="FCFCFA"/>
          </a:solidFill>
          <a:ln w="9525">
            <a:solidFill>
              <a:srgbClr val="D5DCE4"/>
            </a:solidFill>
            <a:prstDash val="solid"/>
          </a:ln>
        </p:spPr>
      </p:sp>
      <p:sp>
        <p:nvSpPr>
          <p:cNvPr id="7" name="Shape 4"/>
          <p:cNvSpPr/>
          <p:nvPr/>
        </p:nvSpPr>
        <p:spPr>
          <a:xfrm>
            <a:off x="812780" y="3633611"/>
            <a:ext cx="38099" cy="1790700"/>
          </a:xfrm>
          <a:prstGeom prst="rect">
            <a:avLst/>
          </a:prstGeom>
          <a:solidFill>
            <a:srgbClr val="1B6FA8"/>
          </a:solidFill>
          <a:ln/>
        </p:spPr>
      </p:sp>
      <p:sp>
        <p:nvSpPr>
          <p:cNvPr id="8" name="Text 5"/>
          <p:cNvSpPr/>
          <p:nvPr/>
        </p:nvSpPr>
        <p:spPr>
          <a:xfrm>
            <a:off x="977876" y="3735211"/>
            <a:ext cx="10274043" cy="16002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L’écran de dépôt ne s’ouvre pas et renvoie aux frais de dossier ; les formulaires de l’offre ne sont pas servis.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160</a:t>
            </a:r>
            <a:endParaRPr lang="en-US" sz="11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Mes invitations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s invit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Un candidat invité à une consultation restreinte.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consultation restreinte n’est pas publiée : seule la lettre d’invitation y donne accès.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Son rang sur la liste restreinte, la date d’invitation, la date limite et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lettre d’invitation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PDF.</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161</a:t>
            </a:r>
            <a:endParaRPr lang="en-US" sz="11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L’offre remplie en ligne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Pour les fournitures et les travaux, l’entreprise remplit son offre dans des formulaires pré-remplis depuis la fiche DAO. Les captures sont celles des recettes du 05 au 08/10 : une offre en cours de saisie ne se reproduit plus sur des procédures closes.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162</a:t>
            </a:r>
            <a:endParaRPr lang="en-US" sz="11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FOURNITURES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bordereau des prix et le calendrier de livraison</a:t>
            </a:r>
            <a:endParaRPr lang="en-US" sz="2600" dirty="0"/>
          </a:p>
        </p:txBody>
      </p:sp>
      <p:sp>
        <p:nvSpPr>
          <p:cNvPr id="4" name="Shape 2"/>
          <p:cNvSpPr/>
          <p:nvPr/>
        </p:nvSpPr>
        <p:spPr>
          <a:xfrm>
            <a:off x="1536618" y="1193800"/>
            <a:ext cx="9118459" cy="3327400"/>
          </a:xfrm>
          <a:prstGeom prst="rect">
            <a:avLst/>
          </a:prstGeom>
          <a:solidFill>
            <a:srgbClr val="FCFCFA"/>
          </a:solidFill>
          <a:ln w="9525">
            <a:solidFill>
              <a:srgbClr val="D5DCE4"/>
            </a:solidFill>
            <a:prstDash val="solid"/>
          </a:ln>
        </p:spPr>
      </p:sp>
      <p:pic>
        <p:nvPicPr>
          <p:cNvPr id="5" name="Image 0" descr="Le bordereau des prix et le calendrier de livraison">    </p:cNvPr>
          <p:cNvPicPr>
            <a:picLocks noChangeAspect="1"/>
          </p:cNvPicPr>
          <p:nvPr/>
        </p:nvPicPr>
        <p:blipFill>
          <a:blip r:embed="rId1"/>
          <a:stretch>
            <a:fillRect/>
          </a:stretch>
        </p:blipFill>
        <p:spPr>
          <a:xfrm>
            <a:off x="1549318" y="1206500"/>
            <a:ext cx="9093060"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prix unitaire et la date de livraison de chaque article ; pour un marché à commande, aux quantités minimales et maximales.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163</a:t>
            </a:r>
            <a:endParaRPr lang="en-US" sz="11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FOURNITURES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conformité technique</a:t>
            </a:r>
            <a:endParaRPr lang="en-US" sz="2600" dirty="0"/>
          </a:p>
        </p:txBody>
      </p:sp>
      <p:sp>
        <p:nvSpPr>
          <p:cNvPr id="4" name="Shape 2"/>
          <p:cNvSpPr/>
          <p:nvPr/>
        </p:nvSpPr>
        <p:spPr>
          <a:xfrm>
            <a:off x="800080" y="1193800"/>
            <a:ext cx="7327717" cy="4420592"/>
          </a:xfrm>
          <a:prstGeom prst="rect">
            <a:avLst/>
          </a:prstGeom>
          <a:solidFill>
            <a:srgbClr val="FCFCFA"/>
          </a:solidFill>
          <a:ln w="9525">
            <a:solidFill>
              <a:srgbClr val="D5DCE4"/>
            </a:solidFill>
            <a:prstDash val="solid"/>
          </a:ln>
        </p:spPr>
      </p:sp>
      <p:pic>
        <p:nvPicPr>
          <p:cNvPr id="5" name="Image 0" descr="La conformité technique">    </p:cNvPr>
          <p:cNvPicPr>
            <a:picLocks noChangeAspect="1"/>
          </p:cNvPicPr>
          <p:nvPr/>
        </p:nvPicPr>
        <p:blipFill>
          <a:blip r:embed="rId1"/>
          <a:stretch>
            <a:fillRect/>
          </a:stretch>
        </p:blipFill>
        <p:spPr>
          <a:xfrm>
            <a:off x="812780" y="1206500"/>
            <a:ext cx="7302317" cy="4395192"/>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Marque, modèle et, pour chaque caractéristique exigée, ce qui est proposé et s’il est conforme.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164</a:t>
            </a:r>
            <a:endParaRPr lang="en-US" sz="11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FOURNITURES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avertissements, avant de déposer</a:t>
            </a:r>
            <a:endParaRPr lang="en-US" sz="2600" dirty="0"/>
          </a:p>
        </p:txBody>
      </p:sp>
      <p:sp>
        <p:nvSpPr>
          <p:cNvPr id="4" name="Shape 2"/>
          <p:cNvSpPr/>
          <p:nvPr/>
        </p:nvSpPr>
        <p:spPr>
          <a:xfrm>
            <a:off x="800080" y="1193800"/>
            <a:ext cx="10591535" cy="3314192"/>
          </a:xfrm>
          <a:prstGeom prst="rect">
            <a:avLst/>
          </a:prstGeom>
          <a:solidFill>
            <a:srgbClr val="FCFCFA"/>
          </a:solidFill>
          <a:ln w="9525">
            <a:solidFill>
              <a:srgbClr val="D5DCE4"/>
            </a:solidFill>
            <a:prstDash val="solid"/>
          </a:ln>
        </p:spPr>
      </p:sp>
      <p:pic>
        <p:nvPicPr>
          <p:cNvPr id="5" name="Image 0" descr="Les avertissements, avant de déposer">    </p:cNvPr>
          <p:cNvPicPr>
            <a:picLocks noChangeAspect="1"/>
          </p:cNvPicPr>
          <p:nvPr/>
        </p:nvPicPr>
        <p:blipFill>
          <a:blip r:embed="rId1"/>
          <a:stretch>
            <a:fillRect/>
          </a:stretch>
        </p:blipFill>
        <p:spPr>
          <a:xfrm>
            <a:off x="812780" y="1206500"/>
            <a:ext cx="10566136" cy="3288792"/>
          </a:xfrm>
          <a:prstGeom prst="rect">
            <a:avLst/>
          </a:prstGeom>
        </p:spPr>
      </p:pic>
      <p:sp>
        <p:nvSpPr>
          <p:cNvPr id="6" name="Shape 3"/>
          <p:cNvSpPr/>
          <p:nvPr/>
        </p:nvSpPr>
        <p:spPr>
          <a:xfrm>
            <a:off x="812780" y="4647692"/>
            <a:ext cx="10566136" cy="1638808"/>
          </a:xfrm>
          <a:prstGeom prst="rect">
            <a:avLst/>
          </a:prstGeom>
          <a:solidFill>
            <a:srgbClr val="FCFCFA"/>
          </a:solidFill>
          <a:ln w="9525">
            <a:solidFill>
              <a:srgbClr val="D5DCE4"/>
            </a:solidFill>
            <a:prstDash val="solid"/>
          </a:ln>
        </p:spPr>
      </p:sp>
      <p:sp>
        <p:nvSpPr>
          <p:cNvPr id="7" name="Shape 4"/>
          <p:cNvSpPr/>
          <p:nvPr/>
        </p:nvSpPr>
        <p:spPr>
          <a:xfrm>
            <a:off x="812780" y="4647692"/>
            <a:ext cx="38099" cy="1638808"/>
          </a:xfrm>
          <a:prstGeom prst="rect">
            <a:avLst/>
          </a:prstGeom>
          <a:solidFill>
            <a:srgbClr val="1B6FA8"/>
          </a:solidFill>
          <a:ln/>
        </p:spPr>
      </p:sp>
      <p:sp>
        <p:nvSpPr>
          <p:cNvPr id="8" name="Text 5"/>
          <p:cNvSpPr/>
          <p:nvPr/>
        </p:nvSpPr>
        <p:spPr>
          <a:xfrm>
            <a:off x="977876" y="4749292"/>
            <a:ext cx="10274043" cy="1448308"/>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non-conformité déclarée ou une livraison au-delà du délai : le candidat est averti, il peut déposer.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mêmes contrôles seront rejoués en séance, en alertes pour la commission.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165</a:t>
            </a:r>
            <a:endParaRPr lang="en-US" sz="11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L’acte d’engagement, calculé</a:t>
            </a:r>
            <a:endParaRPr lang="en-US" sz="2600" dirty="0"/>
          </a:p>
        </p:txBody>
      </p:sp>
      <p:sp>
        <p:nvSpPr>
          <p:cNvPr id="4" name="Shape 2"/>
          <p:cNvSpPr/>
          <p:nvPr/>
        </p:nvSpPr>
        <p:spPr>
          <a:xfrm>
            <a:off x="800080" y="1193800"/>
            <a:ext cx="10591535" cy="2594356"/>
          </a:xfrm>
          <a:prstGeom prst="rect">
            <a:avLst/>
          </a:prstGeom>
          <a:solidFill>
            <a:srgbClr val="FCFCFA"/>
          </a:solidFill>
          <a:ln w="9525">
            <a:solidFill>
              <a:srgbClr val="D5DCE4"/>
            </a:solidFill>
            <a:prstDash val="solid"/>
          </a:ln>
        </p:spPr>
      </p:sp>
      <p:pic>
        <p:nvPicPr>
          <p:cNvPr id="5" name="Image 0" descr="L’acte d’engagement, calculé">    </p:cNvPr>
          <p:cNvPicPr>
            <a:picLocks noChangeAspect="1"/>
          </p:cNvPicPr>
          <p:nvPr/>
        </p:nvPicPr>
        <p:blipFill>
          <a:blip r:embed="rId1"/>
          <a:stretch>
            <a:fillRect/>
          </a:stretch>
        </p:blipFill>
        <p:spPr>
          <a:xfrm>
            <a:off x="812780" y="1206500"/>
            <a:ext cx="10566136" cy="2568956"/>
          </a:xfrm>
          <a:prstGeom prst="rect">
            <a:avLst/>
          </a:prstGeom>
        </p:spPr>
      </p:pic>
      <p:sp>
        <p:nvSpPr>
          <p:cNvPr id="6" name="Shape 3"/>
          <p:cNvSpPr/>
          <p:nvPr/>
        </p:nvSpPr>
        <p:spPr>
          <a:xfrm>
            <a:off x="812780" y="3927856"/>
            <a:ext cx="10566136" cy="1993900"/>
          </a:xfrm>
          <a:prstGeom prst="rect">
            <a:avLst/>
          </a:prstGeom>
          <a:solidFill>
            <a:srgbClr val="FCFCFA"/>
          </a:solidFill>
          <a:ln w="9525">
            <a:solidFill>
              <a:srgbClr val="D5DCE4"/>
            </a:solidFill>
            <a:prstDash val="solid"/>
          </a:ln>
        </p:spPr>
      </p:sp>
      <p:sp>
        <p:nvSpPr>
          <p:cNvPr id="7" name="Shape 4"/>
          <p:cNvSpPr/>
          <p:nvPr/>
        </p:nvSpPr>
        <p:spPr>
          <a:xfrm>
            <a:off x="812780" y="3927856"/>
            <a:ext cx="38099" cy="1993900"/>
          </a:xfrm>
          <a:prstGeom prst="rect">
            <a:avLst/>
          </a:prstGeom>
          <a:solidFill>
            <a:srgbClr val="1B6FA8"/>
          </a:solidFill>
          <a:ln/>
        </p:spPr>
      </p:sp>
      <p:sp>
        <p:nvSpPr>
          <p:cNvPr id="8" name="Text 5"/>
          <p:cNvSpPr/>
          <p:nvPr/>
        </p:nvSpPr>
        <p:spPr>
          <a:xfrm>
            <a:off x="977876" y="4029456"/>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montants ne se saisissent pas : ce sont ceux du bordereau.</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Restent le délai, la validité et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rabais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déclaré en pourcentage ou en montant, avec ou sans condition.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166</a:t>
            </a:r>
            <a:endParaRPr lang="en-US" sz="11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devis quantitatif et les prix en lettres</a:t>
            </a:r>
            <a:endParaRPr lang="en-US" sz="2600" dirty="0"/>
          </a:p>
        </p:txBody>
      </p:sp>
      <p:sp>
        <p:nvSpPr>
          <p:cNvPr id="4" name="Shape 2"/>
          <p:cNvSpPr/>
          <p:nvPr/>
        </p:nvSpPr>
        <p:spPr>
          <a:xfrm>
            <a:off x="2265902" y="1193800"/>
            <a:ext cx="7659891" cy="3327400"/>
          </a:xfrm>
          <a:prstGeom prst="rect">
            <a:avLst/>
          </a:prstGeom>
          <a:solidFill>
            <a:srgbClr val="FCFCFA"/>
          </a:solidFill>
          <a:ln w="9525">
            <a:solidFill>
              <a:srgbClr val="D5DCE4"/>
            </a:solidFill>
            <a:prstDash val="solid"/>
          </a:ln>
        </p:spPr>
      </p:sp>
      <p:pic>
        <p:nvPicPr>
          <p:cNvPr id="5" name="Image 0" descr="Le devis quantitatif et les prix en lettres">    </p:cNvPr>
          <p:cNvPicPr>
            <a:picLocks noChangeAspect="1"/>
          </p:cNvPicPr>
          <p:nvPr/>
        </p:nvPicPr>
        <p:blipFill>
          <a:blip r:embed="rId1"/>
          <a:stretch>
            <a:fillRect/>
          </a:stretch>
        </p:blipFill>
        <p:spPr>
          <a:xfrm>
            <a:off x="2278602" y="1206500"/>
            <a:ext cx="7634491"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prix par série ; chaque prix s’écrit aussi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lettres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font foi.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167</a:t>
            </a:r>
            <a:endParaRPr lang="en-US" sz="11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coefficient K1</a:t>
            </a:r>
            <a:endParaRPr lang="en-US" sz="2600" dirty="0"/>
          </a:p>
        </p:txBody>
      </p:sp>
      <p:sp>
        <p:nvSpPr>
          <p:cNvPr id="4" name="Shape 2"/>
          <p:cNvSpPr/>
          <p:nvPr/>
        </p:nvSpPr>
        <p:spPr>
          <a:xfrm>
            <a:off x="800080" y="1193800"/>
            <a:ext cx="7327717" cy="4370388"/>
          </a:xfrm>
          <a:prstGeom prst="rect">
            <a:avLst/>
          </a:prstGeom>
          <a:solidFill>
            <a:srgbClr val="FCFCFA"/>
          </a:solidFill>
          <a:ln w="9525">
            <a:solidFill>
              <a:srgbClr val="D5DCE4"/>
            </a:solidFill>
            <a:prstDash val="solid"/>
          </a:ln>
        </p:spPr>
      </p:sp>
      <p:pic>
        <p:nvPicPr>
          <p:cNvPr id="5" name="Image 0" descr="Le coefficient K1">    </p:cNvPr>
          <p:cNvPicPr>
            <a:picLocks noChangeAspect="1"/>
          </p:cNvPicPr>
          <p:nvPr/>
        </p:nvPicPr>
        <p:blipFill>
          <a:blip r:embed="rId1"/>
          <a:stretch>
            <a:fillRect/>
          </a:stretch>
        </p:blipFill>
        <p:spPr>
          <a:xfrm>
            <a:off x="812780" y="1206500"/>
            <a:ext cx="7302317" cy="4344988"/>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neuf frais de l’annexe 2 de l’acte d’engagement ; le siège à Madagascar ou à l’étranger.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168</a:t>
            </a:r>
            <a:endParaRPr lang="en-US" sz="11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sous-détail d’un prix</a:t>
            </a:r>
            <a:endParaRPr lang="en-US" sz="2600" dirty="0"/>
          </a:p>
        </p:txBody>
      </p:sp>
      <p:sp>
        <p:nvSpPr>
          <p:cNvPr id="4" name="Shape 2"/>
          <p:cNvSpPr/>
          <p:nvPr/>
        </p:nvSpPr>
        <p:spPr>
          <a:xfrm>
            <a:off x="1209469" y="1193800"/>
            <a:ext cx="9772757" cy="3327400"/>
          </a:xfrm>
          <a:prstGeom prst="rect">
            <a:avLst/>
          </a:prstGeom>
          <a:solidFill>
            <a:srgbClr val="FCFCFA"/>
          </a:solidFill>
          <a:ln w="9525">
            <a:solidFill>
              <a:srgbClr val="D5DCE4"/>
            </a:solidFill>
            <a:prstDash val="solid"/>
          </a:ln>
        </p:spPr>
      </p:sp>
      <p:pic>
        <p:nvPicPr>
          <p:cNvPr id="5" name="Image 0" descr="Le sous-détail d’un prix">    </p:cNvPr>
          <p:cNvPicPr>
            <a:picLocks noChangeAspect="1"/>
          </p:cNvPicPr>
          <p:nvPr/>
        </p:nvPicPr>
        <p:blipFill>
          <a:blip r:embed="rId1"/>
          <a:stretch>
            <a:fillRect/>
          </a:stretch>
        </p:blipFill>
        <p:spPr>
          <a:xfrm>
            <a:off x="1222169" y="1206500"/>
            <a:ext cx="9747358"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déboursés secs et le rendement ; le prix calculé est comparé au bordereau, un écart de plus de 1 % est signalé.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169</a:t>
            </a:r>
            <a:endParaRPr lang="en-US" sz="11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capacités financières et techniques</a:t>
            </a:r>
            <a:endParaRPr lang="en-US" sz="2600" dirty="0"/>
          </a:p>
        </p:txBody>
      </p:sp>
      <p:sp>
        <p:nvSpPr>
          <p:cNvPr id="4" name="Shape 2"/>
          <p:cNvSpPr/>
          <p:nvPr/>
        </p:nvSpPr>
        <p:spPr>
          <a:xfrm>
            <a:off x="2459645" y="1193800"/>
            <a:ext cx="7272406" cy="3327400"/>
          </a:xfrm>
          <a:prstGeom prst="rect">
            <a:avLst/>
          </a:prstGeom>
          <a:solidFill>
            <a:srgbClr val="FCFCFA"/>
          </a:solidFill>
          <a:ln w="9525">
            <a:solidFill>
              <a:srgbClr val="D5DCE4"/>
            </a:solidFill>
            <a:prstDash val="solid"/>
          </a:ln>
        </p:spPr>
      </p:sp>
      <p:pic>
        <p:nvPicPr>
          <p:cNvPr id="5" name="Image 0" descr="Les capacités financières et techniques">    </p:cNvPr>
          <p:cNvPicPr>
            <a:picLocks noChangeAspect="1"/>
          </p:cNvPicPr>
          <p:nvPr/>
        </p:nvPicPr>
        <p:blipFill>
          <a:blip r:embed="rId1"/>
          <a:stretch>
            <a:fillRect/>
          </a:stretch>
        </p:blipFill>
        <p:spPr>
          <a:xfrm>
            <a:off x="2472344" y="1206500"/>
            <a:ext cx="7247007"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Chiffre d’affaires et moyenne des meilleures années, liquidité face au seuil exigé, références de la période.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170</a:t>
            </a:r>
            <a:endParaRPr lang="en-US" sz="11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personnel proposé</a:t>
            </a:r>
            <a:endParaRPr lang="en-US" sz="2600" dirty="0"/>
          </a:p>
        </p:txBody>
      </p:sp>
      <p:sp>
        <p:nvSpPr>
          <p:cNvPr id="4" name="Shape 2"/>
          <p:cNvSpPr/>
          <p:nvPr/>
        </p:nvSpPr>
        <p:spPr>
          <a:xfrm>
            <a:off x="800080" y="1193800"/>
            <a:ext cx="10591535" cy="3089656"/>
          </a:xfrm>
          <a:prstGeom prst="rect">
            <a:avLst/>
          </a:prstGeom>
          <a:solidFill>
            <a:srgbClr val="FCFCFA"/>
          </a:solidFill>
          <a:ln w="9525">
            <a:solidFill>
              <a:srgbClr val="D5DCE4"/>
            </a:solidFill>
            <a:prstDash val="solid"/>
          </a:ln>
        </p:spPr>
      </p:sp>
      <p:pic>
        <p:nvPicPr>
          <p:cNvPr id="5" name="Image 0" descr="Le personnel proposé">    </p:cNvPr>
          <p:cNvPicPr>
            <a:picLocks noChangeAspect="1"/>
          </p:cNvPicPr>
          <p:nvPr/>
        </p:nvPicPr>
        <p:blipFill>
          <a:blip r:embed="rId1"/>
          <a:stretch>
            <a:fillRect/>
          </a:stretch>
        </p:blipFill>
        <p:spPr>
          <a:xfrm>
            <a:off x="812780" y="1206500"/>
            <a:ext cx="10566136" cy="3064256"/>
          </a:xfrm>
          <a:prstGeom prst="rect">
            <a:avLst/>
          </a:prstGeom>
        </p:spPr>
      </p:pic>
      <p:sp>
        <p:nvSpPr>
          <p:cNvPr id="6" name="Shape 3"/>
          <p:cNvSpPr/>
          <p:nvPr/>
        </p:nvSpPr>
        <p:spPr>
          <a:xfrm>
            <a:off x="812780" y="4423156"/>
            <a:ext cx="10566136" cy="1790700"/>
          </a:xfrm>
          <a:prstGeom prst="rect">
            <a:avLst/>
          </a:prstGeom>
          <a:solidFill>
            <a:srgbClr val="FCFCFA"/>
          </a:solidFill>
          <a:ln w="9525">
            <a:solidFill>
              <a:srgbClr val="D5DCE4"/>
            </a:solidFill>
            <a:prstDash val="solid"/>
          </a:ln>
        </p:spPr>
      </p:sp>
      <p:sp>
        <p:nvSpPr>
          <p:cNvPr id="7" name="Shape 4"/>
          <p:cNvSpPr/>
          <p:nvPr/>
        </p:nvSpPr>
        <p:spPr>
          <a:xfrm>
            <a:off x="812780" y="4423156"/>
            <a:ext cx="38099" cy="1790700"/>
          </a:xfrm>
          <a:prstGeom prst="rect">
            <a:avLst/>
          </a:prstGeom>
          <a:solidFill>
            <a:srgbClr val="1B6FA8"/>
          </a:solidFill>
          <a:ln/>
        </p:spPr>
      </p:sp>
      <p:sp>
        <p:nvSpPr>
          <p:cNvPr id="8" name="Text 5"/>
          <p:cNvSpPr/>
          <p:nvPr/>
        </p:nvSpPr>
        <p:spPr>
          <a:xfrm>
            <a:off x="977876" y="4524756"/>
            <a:ext cx="10274043" cy="16002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ligne par personne exigée par la fiche ; les CV et diplômes restent à joindre.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171</a:t>
            </a:r>
            <a:endParaRPr lang="en-US" sz="11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matériel proposé</a:t>
            </a:r>
            <a:endParaRPr lang="en-US" sz="2600" dirty="0"/>
          </a:p>
        </p:txBody>
      </p:sp>
      <p:sp>
        <p:nvSpPr>
          <p:cNvPr id="4" name="Shape 2"/>
          <p:cNvSpPr/>
          <p:nvPr/>
        </p:nvSpPr>
        <p:spPr>
          <a:xfrm>
            <a:off x="800080" y="1193800"/>
            <a:ext cx="7327717" cy="4187825"/>
          </a:xfrm>
          <a:prstGeom prst="rect">
            <a:avLst/>
          </a:prstGeom>
          <a:solidFill>
            <a:srgbClr val="FCFCFA"/>
          </a:solidFill>
          <a:ln w="9525">
            <a:solidFill>
              <a:srgbClr val="D5DCE4"/>
            </a:solidFill>
            <a:prstDash val="solid"/>
          </a:ln>
        </p:spPr>
      </p:sp>
      <p:pic>
        <p:nvPicPr>
          <p:cNvPr id="5" name="Image 0" descr="Le matériel proposé">    </p:cNvPr>
          <p:cNvPicPr>
            <a:picLocks noChangeAspect="1"/>
          </p:cNvPicPr>
          <p:nvPr/>
        </p:nvPicPr>
        <p:blipFill>
          <a:blip r:embed="rId1"/>
          <a:stretch>
            <a:fillRect/>
          </a:stretch>
        </p:blipFill>
        <p:spPr>
          <a:xfrm>
            <a:off x="812780" y="1206500"/>
            <a:ext cx="7302317" cy="416242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chaque matériel exigé, le nombre proposé, et combien en propre.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172</a:t>
            </a:r>
            <a:endParaRPr lang="en-US" sz="11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avertissements des travaux</a:t>
            </a:r>
            <a:endParaRPr lang="en-US" sz="2600" dirty="0"/>
          </a:p>
        </p:txBody>
      </p:sp>
      <p:sp>
        <p:nvSpPr>
          <p:cNvPr id="4" name="Shape 2"/>
          <p:cNvSpPr/>
          <p:nvPr/>
        </p:nvSpPr>
        <p:spPr>
          <a:xfrm>
            <a:off x="800080" y="1193800"/>
            <a:ext cx="10591535" cy="1965529"/>
          </a:xfrm>
          <a:prstGeom prst="rect">
            <a:avLst/>
          </a:prstGeom>
          <a:solidFill>
            <a:srgbClr val="FCFCFA"/>
          </a:solidFill>
          <a:ln w="9525">
            <a:solidFill>
              <a:srgbClr val="D5DCE4"/>
            </a:solidFill>
            <a:prstDash val="solid"/>
          </a:ln>
        </p:spPr>
      </p:sp>
      <p:pic>
        <p:nvPicPr>
          <p:cNvPr id="5" name="Image 0" descr="Les avertissements des travaux">    </p:cNvPr>
          <p:cNvPicPr>
            <a:picLocks noChangeAspect="1"/>
          </p:cNvPicPr>
          <p:nvPr/>
        </p:nvPicPr>
        <p:blipFill>
          <a:blip r:embed="rId1"/>
          <a:stretch>
            <a:fillRect/>
          </a:stretch>
        </p:blipFill>
        <p:spPr>
          <a:xfrm>
            <a:off x="812780" y="1206500"/>
            <a:ext cx="10566136" cy="1940129"/>
          </a:xfrm>
          <a:prstGeom prst="rect">
            <a:avLst/>
          </a:prstGeom>
        </p:spPr>
      </p:pic>
      <p:sp>
        <p:nvSpPr>
          <p:cNvPr id="6" name="Shape 3"/>
          <p:cNvSpPr/>
          <p:nvPr/>
        </p:nvSpPr>
        <p:spPr>
          <a:xfrm>
            <a:off x="812780" y="3299029"/>
            <a:ext cx="10566136" cy="1790700"/>
          </a:xfrm>
          <a:prstGeom prst="rect">
            <a:avLst/>
          </a:prstGeom>
          <a:solidFill>
            <a:srgbClr val="FCFCFA"/>
          </a:solidFill>
          <a:ln w="9525">
            <a:solidFill>
              <a:srgbClr val="D5DCE4"/>
            </a:solidFill>
            <a:prstDash val="solid"/>
          </a:ln>
        </p:spPr>
      </p:sp>
      <p:sp>
        <p:nvSpPr>
          <p:cNvPr id="7" name="Shape 4"/>
          <p:cNvSpPr/>
          <p:nvPr/>
        </p:nvSpPr>
        <p:spPr>
          <a:xfrm>
            <a:off x="812780" y="3299029"/>
            <a:ext cx="38099" cy="1790700"/>
          </a:xfrm>
          <a:prstGeom prst="rect">
            <a:avLst/>
          </a:prstGeom>
          <a:solidFill>
            <a:srgbClr val="1B6FA8"/>
          </a:solidFill>
          <a:ln/>
        </p:spPr>
      </p:sp>
      <p:sp>
        <p:nvSpPr>
          <p:cNvPr id="8" name="Text 5"/>
          <p:cNvSpPr/>
          <p:nvPr/>
        </p:nvSpPr>
        <p:spPr>
          <a:xfrm>
            <a:off x="977876" y="3400629"/>
            <a:ext cx="10274043" cy="16002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écart aux exigences est dit, chiffres à l’appui ; ce sont des avertissements, jamais un refus.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173</a:t>
            </a:r>
            <a:endParaRPr lang="en-US" sz="11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saisie jamais perdue</a:t>
            </a:r>
            <a:endParaRPr lang="en-US" sz="2600" dirty="0"/>
          </a:p>
        </p:txBody>
      </p:sp>
      <p:sp>
        <p:nvSpPr>
          <p:cNvPr id="4" name="Shape 2"/>
          <p:cNvSpPr/>
          <p:nvPr/>
        </p:nvSpPr>
        <p:spPr>
          <a:xfrm>
            <a:off x="800080" y="1193800"/>
            <a:ext cx="10591535" cy="798068"/>
          </a:xfrm>
          <a:prstGeom prst="rect">
            <a:avLst/>
          </a:prstGeom>
          <a:solidFill>
            <a:srgbClr val="FCFCFA"/>
          </a:solidFill>
          <a:ln w="9525">
            <a:solidFill>
              <a:srgbClr val="D5DCE4"/>
            </a:solidFill>
            <a:prstDash val="solid"/>
          </a:ln>
        </p:spPr>
      </p:sp>
      <p:pic>
        <p:nvPicPr>
          <p:cNvPr id="5" name="Image 0" descr="Une saisie jamais perdue">    </p:cNvPr>
          <p:cNvPicPr>
            <a:picLocks noChangeAspect="1"/>
          </p:cNvPicPr>
          <p:nvPr/>
        </p:nvPicPr>
        <p:blipFill>
          <a:blip r:embed="rId1"/>
          <a:stretch>
            <a:fillRect/>
          </a:stretch>
        </p:blipFill>
        <p:spPr>
          <a:xfrm>
            <a:off x="812780" y="1206500"/>
            <a:ext cx="10566136" cy="772668"/>
          </a:xfrm>
          <a:prstGeom prst="rect">
            <a:avLst/>
          </a:prstGeom>
        </p:spPr>
      </p:pic>
      <p:sp>
        <p:nvSpPr>
          <p:cNvPr id="6" name="Shape 3"/>
          <p:cNvSpPr/>
          <p:nvPr/>
        </p:nvSpPr>
        <p:spPr>
          <a:xfrm>
            <a:off x="812780" y="2131568"/>
            <a:ext cx="10566136" cy="1517650"/>
          </a:xfrm>
          <a:prstGeom prst="rect">
            <a:avLst/>
          </a:prstGeom>
          <a:solidFill>
            <a:srgbClr val="FCFCFA"/>
          </a:solidFill>
          <a:ln w="9525">
            <a:solidFill>
              <a:srgbClr val="D5DCE4"/>
            </a:solidFill>
            <a:prstDash val="solid"/>
          </a:ln>
        </p:spPr>
      </p:sp>
      <p:sp>
        <p:nvSpPr>
          <p:cNvPr id="7" name="Shape 4"/>
          <p:cNvSpPr/>
          <p:nvPr/>
        </p:nvSpPr>
        <p:spPr>
          <a:xfrm>
            <a:off x="812780" y="2131568"/>
            <a:ext cx="38099" cy="1517650"/>
          </a:xfrm>
          <a:prstGeom prst="rect">
            <a:avLst/>
          </a:prstGeom>
          <a:solidFill>
            <a:srgbClr val="1B6FA8"/>
          </a:solidFill>
          <a:ln/>
        </p:spPr>
      </p:sp>
      <p:sp>
        <p:nvSpPr>
          <p:cNvPr id="8" name="Text 5"/>
          <p:cNvSpPr/>
          <p:nvPr/>
        </p:nvSpPr>
        <p:spPr>
          <a:xfrm>
            <a:off x="977876" y="2233168"/>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Page fermée ou rechargée : la saisie est reprise.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Elle est gardée sur le poste du candidat seulement, jamais envoyée, et effacée au dépôt.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174</a:t>
            </a:r>
            <a:endParaRPr lang="en-US" sz="11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dépôt scellé</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L’offre est chiffrée dans le navigateur de l’entreprise avec les clés de la commission. La plateforme sait qui a déposé, quand et pour quel lot ; jamais un prix.</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175</a:t>
            </a:r>
            <a:endParaRPr lang="en-US" sz="11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remplies en ligne</a:t>
            </a:r>
            <a:endParaRPr lang="en-US" sz="2600" dirty="0"/>
          </a:p>
        </p:txBody>
      </p:sp>
      <p:sp>
        <p:nvSpPr>
          <p:cNvPr id="4" name="Shape 2"/>
          <p:cNvSpPr/>
          <p:nvPr/>
        </p:nvSpPr>
        <p:spPr>
          <a:xfrm>
            <a:off x="1856694" y="1193800"/>
            <a:ext cx="8478308" cy="3327400"/>
          </a:xfrm>
          <a:prstGeom prst="rect">
            <a:avLst/>
          </a:prstGeom>
          <a:solidFill>
            <a:srgbClr val="FCFCFA"/>
          </a:solidFill>
          <a:ln w="9525">
            <a:solidFill>
              <a:srgbClr val="D5DCE4"/>
            </a:solidFill>
            <a:prstDash val="solid"/>
          </a:ln>
        </p:spPr>
      </p:sp>
      <p:pic>
        <p:nvPicPr>
          <p:cNvPr id="5" name="Image 0" descr="Les pièces remplies en ligne">    </p:cNvPr>
          <p:cNvPicPr>
            <a:picLocks noChangeAspect="1"/>
          </p:cNvPicPr>
          <p:nvPr/>
        </p:nvPicPr>
        <p:blipFill>
          <a:blip r:embed="rId1"/>
          <a:stretch>
            <a:fillRect/>
          </a:stretch>
        </p:blipFill>
        <p:spPr>
          <a:xfrm>
            <a:off x="1869393" y="1206500"/>
            <a:ext cx="8452909"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bordereau, la conformité et le calendrier sont marqués « Remplie en ligne » ; les autres pièces se joignent.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reçu des frais déjà validé n’est pas redemandé.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176</a:t>
            </a:r>
            <a:endParaRPr lang="en-US" sz="11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dépôt sans formulaires</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dépôt sans formulaires">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procédure sans formulaires : les montants de l’acte d’engagement se saisissent.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temps restant s’affiche à l’horloge du serveur.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177</a:t>
            </a:r>
            <a:endParaRPr lang="en-US" sz="11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puis le scellement</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pièces, puis le scellement">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pièce attendue est contrôlée (type, taille) ; puis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Sceller et déposer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l’offre est chiffrée sur le poste, pour les détenteurs des clés de la procédure.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178</a:t>
            </a:r>
            <a:endParaRPr lang="en-US" sz="11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L’accusé de dépôt</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ccusé de dépôt">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L’heure du dépôt, le numéro d’arrivée et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l’offre ; l’accusé en PDF.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Personne ne peut lire l’offre avant la séance.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179</a:t>
            </a:r>
            <a:endParaRPr lang="en-US" sz="11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Déposer l’enveloppe technique</a:t>
            </a:r>
            <a:endParaRPr lang="en-US" sz="2600" dirty="0"/>
          </a:p>
        </p:txBody>
      </p:sp>
      <p:sp>
        <p:nvSpPr>
          <p:cNvPr id="4" name="Shape 2"/>
          <p:cNvSpPr/>
          <p:nvPr/>
        </p:nvSpPr>
        <p:spPr>
          <a:xfrm>
            <a:off x="800080" y="1193800"/>
            <a:ext cx="3699441" cy="5105400"/>
          </a:xfrm>
          <a:prstGeom prst="rect">
            <a:avLst/>
          </a:prstGeom>
          <a:solidFill>
            <a:srgbClr val="FCFCFA"/>
          </a:solidFill>
          <a:ln w="9525">
            <a:solidFill>
              <a:srgbClr val="D5DCE4"/>
            </a:solidFill>
            <a:prstDash val="solid"/>
          </a:ln>
        </p:spPr>
      </p:sp>
      <p:pic>
        <p:nvPicPr>
          <p:cNvPr id="5" name="Image 0" descr="Déposer l’enveloppe technique">    </p:cNvPr>
          <p:cNvPicPr>
            <a:picLocks noChangeAspect="1"/>
          </p:cNvPicPr>
          <p:nvPr/>
        </p:nvPicPr>
        <p:blipFill>
          <a:blip r:embed="rId1"/>
          <a:stretch>
            <a:fillRect/>
          </a:stretch>
        </p:blipFill>
        <p:spPr>
          <a:xfrm>
            <a:off x="812780" y="1206500"/>
            <a:ext cx="3674042" cy="5080000"/>
          </a:xfrm>
          <a:prstGeom prst="rect">
            <a:avLst/>
          </a:prstGeom>
        </p:spPr>
      </p:pic>
      <p:sp>
        <p:nvSpPr>
          <p:cNvPr id="6" name="Shape 3"/>
          <p:cNvSpPr/>
          <p:nvPr/>
        </p:nvSpPr>
        <p:spPr>
          <a:xfrm>
            <a:off x="4664617" y="1206500"/>
            <a:ext cx="6714299" cy="5080000"/>
          </a:xfrm>
          <a:prstGeom prst="rect">
            <a:avLst/>
          </a:prstGeom>
          <a:solidFill>
            <a:srgbClr val="FCFCFA"/>
          </a:solidFill>
          <a:ln w="9525">
            <a:solidFill>
              <a:srgbClr val="D5DCE4"/>
            </a:solidFill>
            <a:prstDash val="solid"/>
          </a:ln>
        </p:spPr>
      </p:sp>
      <p:sp>
        <p:nvSpPr>
          <p:cNvPr id="7" name="Shape 4"/>
          <p:cNvSpPr/>
          <p:nvPr/>
        </p:nvSpPr>
        <p:spPr>
          <a:xfrm>
            <a:off x="4664617" y="1206500"/>
            <a:ext cx="38099" cy="5080000"/>
          </a:xfrm>
          <a:prstGeom prst="rect">
            <a:avLst/>
          </a:prstGeom>
          <a:solidFill>
            <a:srgbClr val="1B6FA8"/>
          </a:solidFill>
          <a:ln/>
        </p:spPr>
      </p:sp>
      <p:sp>
        <p:nvSpPr>
          <p:cNvPr id="8" name="Text 5"/>
          <p:cNvSpPr/>
          <p:nvPr/>
        </p:nvSpPr>
        <p:spPr>
          <a:xfrm>
            <a:off x="4829713" y="1308100"/>
            <a:ext cx="6422206"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invité.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Deux enveloppes, déposées l’une après l’autre :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technique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ne demande ni ne scelle aucun montant, l’écran le rappelle.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180</a:t>
            </a:r>
            <a:endParaRPr lang="en-US" sz="11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L’accusé d’une proposition complète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ccusé d’une proposition complèt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invité.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L’accusé de l’enveloppe financière porte l’empreinte de l’enveloppe technique : la proposition est complète.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181</a:t>
            </a:r>
            <a:endParaRPr lang="en-US" sz="11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Mes offres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s offr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offre déposée avec sa date, son numéro d’arrivée, sa taille,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son accusé en PDF ; une proposition de prestations intellectuelles en deux enveloppes.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Avant la date limite, et si la fiche le permet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remplacer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retirer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 offre.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bas, les demandes reçues pendant l’évaluation et le résultat (parties 08 et 09).</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182</a:t>
            </a:r>
            <a:endParaRPr lang="en-US" sz="11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registres de la PRMP</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 PRMP suit les dépôts sans jamais en connaître le contenu. Depuis le 14/10, les tentatives de dépôt après l’échéance sont refusées et consignées (art. 44).</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183</a:t>
            </a:r>
            <a:endParaRPr lang="en-US" sz="11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registre, avant l’échéance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registre, avant l’échéanc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Avant la date limite, la PRMP ne connaît que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nombre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d’offres déposées. (Capture du 08/10 : aucune procédure n’est plus ouverte aujourd’hui.)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184</a:t>
            </a:r>
            <a:endParaRPr lang="en-US" sz="11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registre complet, après l’échéance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egistre complet, après l’échéanc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dépôts par numéro d’arrivée : entreprise, NIF, lot, date de dépôt (ou de retrait), état et empreinte.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offre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remplacée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retirée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reste au registre ; elle ne sera jamais ouverte.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185</a:t>
            </a:r>
            <a:endParaRPr lang="en-US" sz="11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tentatives refusées hors délai</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tentatives refusées hors délai">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Sous le registre, la rubrique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Tentatives de dépôt refusées hors délai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chaque tentative après la date limite, datée à la seconde par le serveur, avec l’entreprise, le NIF, le lot et le geste refusé.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aucune tentative : « Aucune tentative après la date limite. » Les mêmes tentatives sont énumérées au PV d’ouverture.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186</a:t>
            </a:r>
            <a:endParaRPr lang="en-US" sz="11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offre illisible jusqu’à la séance</a:t>
            </a:r>
            <a:endParaRPr lang="en-US" sz="1500" dirty="0"/>
          </a:p>
        </p:txBody>
      </p:sp>
      <p:sp>
        <p:nvSpPr>
          <p:cNvPr id="7" name="Text 5"/>
          <p:cNvSpPr/>
          <p:nvPr/>
        </p:nvSpPr>
        <p:spPr>
          <a:xfrm>
            <a:off x="952476"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L’offre est scellée sur le poste de l’entreprise avec les clés de la commission : la plateforme ne voit jamais un prix.</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 temps du serveur fait foi</a:t>
            </a:r>
            <a:endParaRPr lang="en-US" sz="1500" dirty="0"/>
          </a:p>
        </p:txBody>
      </p:sp>
      <p:sp>
        <p:nvSpPr>
          <p:cNvPr id="11" name="Text 9"/>
          <p:cNvSpPr/>
          <p:nvPr/>
        </p:nvSpPr>
        <p:spPr>
          <a:xfrm>
            <a:off x="4525320"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Ouverture des dépôts, date limite, dépôt, retrait : tout est daté par l’horloge du serveur, affichée au candidat.</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Aucun dépôt après l’échéance</a:t>
            </a:r>
            <a:endParaRPr lang="en-US" sz="1500" dirty="0"/>
          </a:p>
        </p:txBody>
      </p:sp>
      <p:sp>
        <p:nvSpPr>
          <p:cNvPr id="15" name="Text 13"/>
          <p:cNvSpPr/>
          <p:nvPr/>
        </p:nvSpPr>
        <p:spPr>
          <a:xfrm>
            <a:off x="8098164"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Toute tentative tardive est refusée, datée et consignée ; le registre et le PV d’ouverture les énumèrent (art. 44).</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preuve pour chaque geste</a:t>
            </a:r>
            <a:endParaRPr lang="en-US" sz="1500" dirty="0"/>
          </a:p>
        </p:txBody>
      </p:sp>
      <p:sp>
        <p:nvSpPr>
          <p:cNvPr id="19" name="Text 17"/>
          <p:cNvSpPr/>
          <p:nvPr/>
        </p:nvSpPr>
        <p:spPr>
          <a:xfrm>
            <a:off x="952476"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Accusé portant l’empreinte de l’offre, registre des retraits, registre des dépôts avec les offres remplacées et retirées.</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L’égalité d’information</a:t>
            </a:r>
            <a:endParaRPr lang="en-US" sz="1500" dirty="0"/>
          </a:p>
        </p:txBody>
      </p:sp>
      <p:sp>
        <p:nvSpPr>
          <p:cNvPr id="23" name="Text 21"/>
          <p:cNvSpPr/>
          <p:nvPr/>
        </p:nvSpPr>
        <p:spPr>
          <a:xfrm>
            <a:off x="4525320"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réponses aux questions sont diffusées à tous les candidats qui ont retiré le dossier, sans le nom de l’auteur (art. 35-II).</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Les frais de dossier contrôlés</a:t>
            </a:r>
            <a:endParaRPr lang="en-US" sz="1500" dirty="0"/>
          </a:p>
        </p:txBody>
      </p:sp>
      <p:sp>
        <p:nvSpPr>
          <p:cNvPr id="27" name="Text 25"/>
          <p:cNvSpPr/>
          <p:nvPr/>
        </p:nvSpPr>
        <p:spPr>
          <a:xfrm>
            <a:off x="8098164"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Pas de retrait ni de dépôt sans reçu validé par la PRMP ; tout refus est motivé et notifié.</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187</a:t>
            </a:r>
            <a:endParaRPr lang="en-US" sz="11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07</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La séance d’ouverture</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Après la date limite, la commission d’appel d’offres réunit ses parts de clé : toutes les offres s’ouvrent ensemble, sont lues, et le PV d’ouverture est signé en ligne au quorum de la commission.</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Aucune offre ne peut être ouverte avant l’heure, ni seule : il faut le quorum des parts de clé, et toutes les offres s’ouvrent ensemble, dans un même geste.</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La lecture est faite par l’application et la même pour tous : montants recalculés, garantie, frais de dossier, pièces manquantes, alertes — une information pour la commission, jamais un rejet automatique.</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Depuis le 10/10, la commission ne délibère qu’à son quorum, président ou représentant compris : un PV d’ouverture ne se clôt pas sans lui, et le quorum constaté est imprimé au PV.</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L’application de bout en bout · 188</a:t>
            </a:r>
            <a:endParaRPr lang="en-US" sz="11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 SÉANCE D’OUVERTURE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 la date limite au PV signé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 responsable de la procédure conduit la séance ; les membres de la commission apportent leurs parts depuis leur poste ; la PRMP suit la lecture sans ouvrir aucune pièce.</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RESPONSABLE DE LA PROCÉDURE</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Attendre l’heure</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séance ne s’ouvre qu’à l’heure d’ouverture fixée par la fiche, une fois la date limite passée.</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RESPONSABLE DE LA PROCÉDURE</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Ouvrir et consigner les présents</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responsable ouvre la séance et enregistre les membres et les autres présents.</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MEMBRES, DÉPOSITAIRE</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Apporter les parts</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Chaque membre déverrouille sa clé sur son poste ; la part de secours supplée, sur demande motivée.</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APPLICATION</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Ouvrir ensemble</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Au quorum des parts, toutes les offres s’ouvrent, leur intégrité est vérifiée.</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COMMISSION</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Lire les offres</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Montants, délai, validité, garantie, rabais, frais de dossier, alertes, offre par offre.</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MEMBRES, PRÉSIDENT</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Signer le PV</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Chaque membre présent signe en ligne ; la séance se clôt au quorum de la commission et l’extrait est publié.</a:t>
            </a:r>
            <a:endParaRPr lang="en-US" sz="1150" dirty="0"/>
          </a:p>
        </p:txBody>
      </p:sp>
      <p:sp>
        <p:nvSpPr>
          <p:cNvPr id="34" name="Text 3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189</a:t>
            </a:r>
            <a:endParaRPr lang="en-US" sz="11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 SÉANCE D’OUVERTURE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Avant l’heure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Les captures de la séance en direct sont celles des recettes du 05 au 09/10 : toutes les séances sont closes aujourd’hui, l’ouverture et l’apport des parts ne se reproduisent plus.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190</a:t>
            </a:r>
            <a:endParaRPr lang="en-US" sz="11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séance, avant l’heure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 séance, avant l’he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séance ne s’ouvre qu’</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après la date limite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l’heure d’ouverture fixée par la fiche : le serveur refuse avant.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rappel est envoyé la veille, puis une heure avant.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191</a:t>
            </a:r>
            <a:endParaRPr lang="en-US" sz="11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membre attend l’ouverture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membre attend l’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Un membre de la commission d’appel d’offres.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apportera ses parts depuis son espace, avec sa phrase secrète.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192</a:t>
            </a:r>
            <a:endParaRPr lang="en-US" sz="11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COMMISSION D’APPEL D’OFFRES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commission et le représentant du président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mmission et le représentant du présiden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commission telle que la PRMP l’a désignée : sa décision, ses membres, leur origine et leur fonction.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président peut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désigner son représentant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pour un contexte précis (séance d’ouverture, rapport d’évaluation…) : le quorum exige le président ou son représentant ; sans désignation, il est lui-même requis.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193</a:t>
            </a:r>
            <a:endParaRPr lang="en-US" sz="11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 SÉANCE D’OUVERTURE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L’ouverture au quorum des parts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Aucune offre ne s’ouvre seule : il faut le nombre de parts fixé à la cérémonie des clés.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194</a:t>
            </a:r>
            <a:endParaRPr lang="en-US" sz="11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L’ouverture et les présences</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ouverture et les présences">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responsable ouvre la séance, coche les présents et ajoute les autres présents avec leur qualité.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195</a:t>
            </a:r>
            <a:endParaRPr lang="en-US" sz="11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Apporter ses parts</a:t>
            </a:r>
            <a:endParaRPr lang="en-US" sz="2600" dirty="0"/>
          </a:p>
        </p:txBody>
      </p:sp>
      <p:sp>
        <p:nvSpPr>
          <p:cNvPr id="4" name="Shape 2"/>
          <p:cNvSpPr/>
          <p:nvPr/>
        </p:nvSpPr>
        <p:spPr>
          <a:xfrm>
            <a:off x="800080" y="1193800"/>
            <a:ext cx="10591535" cy="1997553"/>
          </a:xfrm>
          <a:prstGeom prst="rect">
            <a:avLst/>
          </a:prstGeom>
          <a:solidFill>
            <a:srgbClr val="FCFCFA"/>
          </a:solidFill>
          <a:ln w="9525">
            <a:solidFill>
              <a:srgbClr val="D5DCE4"/>
            </a:solidFill>
            <a:prstDash val="solid"/>
          </a:ln>
        </p:spPr>
      </p:sp>
      <p:pic>
        <p:nvPicPr>
          <p:cNvPr id="5" name="Image 0" descr="Apporter ses parts">    </p:cNvPr>
          <p:cNvPicPr>
            <a:picLocks noChangeAspect="1"/>
          </p:cNvPicPr>
          <p:nvPr/>
        </p:nvPicPr>
        <p:blipFill>
          <a:blip r:embed="rId1"/>
          <a:stretch>
            <a:fillRect/>
          </a:stretch>
        </p:blipFill>
        <p:spPr>
          <a:xfrm>
            <a:off x="812780" y="1206500"/>
            <a:ext cx="10566136" cy="1972153"/>
          </a:xfrm>
          <a:prstGeom prst="rect">
            <a:avLst/>
          </a:prstGeom>
        </p:spPr>
      </p:pic>
      <p:sp>
        <p:nvSpPr>
          <p:cNvPr id="6" name="Shape 3"/>
          <p:cNvSpPr/>
          <p:nvPr/>
        </p:nvSpPr>
        <p:spPr>
          <a:xfrm>
            <a:off x="812780" y="3331053"/>
            <a:ext cx="10566136" cy="1993900"/>
          </a:xfrm>
          <a:prstGeom prst="rect">
            <a:avLst/>
          </a:prstGeom>
          <a:solidFill>
            <a:srgbClr val="FCFCFA"/>
          </a:solidFill>
          <a:ln w="9525">
            <a:solidFill>
              <a:srgbClr val="D5DCE4"/>
            </a:solidFill>
            <a:prstDash val="solid"/>
          </a:ln>
        </p:spPr>
      </p:sp>
      <p:sp>
        <p:nvSpPr>
          <p:cNvPr id="7" name="Shape 4"/>
          <p:cNvSpPr/>
          <p:nvPr/>
        </p:nvSpPr>
        <p:spPr>
          <a:xfrm>
            <a:off x="812780" y="3331053"/>
            <a:ext cx="38099" cy="1993900"/>
          </a:xfrm>
          <a:prstGeom prst="rect">
            <a:avLst/>
          </a:prstGeom>
          <a:solidFill>
            <a:srgbClr val="1B6FA8"/>
          </a:solidFill>
          <a:ln/>
        </p:spPr>
      </p:sp>
      <p:sp>
        <p:nvSpPr>
          <p:cNvPr id="8" name="Text 5"/>
          <p:cNvSpPr/>
          <p:nvPr/>
        </p:nvSpPr>
        <p:spPr>
          <a:xfrm>
            <a:off x="977876" y="3432653"/>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Sa phrase déverrouille sa clé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sur son poste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déchiffre sa part de chaque offre ; seules ces parts partent vers le serveur.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196</a:t>
            </a:r>
            <a:endParaRPr lang="en-US" sz="11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quorum des parts se remplit</a:t>
            </a:r>
            <a:endParaRPr lang="en-US" sz="2600" dirty="0"/>
          </a:p>
        </p:txBody>
      </p:sp>
      <p:sp>
        <p:nvSpPr>
          <p:cNvPr id="4" name="Shape 2"/>
          <p:cNvSpPr/>
          <p:nvPr/>
        </p:nvSpPr>
        <p:spPr>
          <a:xfrm>
            <a:off x="800080" y="1193800"/>
            <a:ext cx="10591535" cy="1065756"/>
          </a:xfrm>
          <a:prstGeom prst="rect">
            <a:avLst/>
          </a:prstGeom>
          <a:solidFill>
            <a:srgbClr val="FCFCFA"/>
          </a:solidFill>
          <a:ln w="9525">
            <a:solidFill>
              <a:srgbClr val="D5DCE4"/>
            </a:solidFill>
            <a:prstDash val="solid"/>
          </a:ln>
        </p:spPr>
      </p:sp>
      <p:pic>
        <p:nvPicPr>
          <p:cNvPr id="5" name="Image 0" descr="Le quorum des parts se remplit">    </p:cNvPr>
          <p:cNvPicPr>
            <a:picLocks noChangeAspect="1"/>
          </p:cNvPicPr>
          <p:nvPr/>
        </p:nvPicPr>
        <p:blipFill>
          <a:blip r:embed="rId1"/>
          <a:stretch>
            <a:fillRect/>
          </a:stretch>
        </p:blipFill>
        <p:spPr>
          <a:xfrm>
            <a:off x="812780" y="1206500"/>
            <a:ext cx="10566136" cy="1040356"/>
          </a:xfrm>
          <a:prstGeom prst="rect">
            <a:avLst/>
          </a:prstGeom>
        </p:spPr>
      </p:pic>
      <p:sp>
        <p:nvSpPr>
          <p:cNvPr id="6" name="Shape 3"/>
          <p:cNvSpPr/>
          <p:nvPr/>
        </p:nvSpPr>
        <p:spPr>
          <a:xfrm>
            <a:off x="812780" y="2399256"/>
            <a:ext cx="10566136" cy="1993900"/>
          </a:xfrm>
          <a:prstGeom prst="rect">
            <a:avLst/>
          </a:prstGeom>
          <a:solidFill>
            <a:srgbClr val="FCFCFA"/>
          </a:solidFill>
          <a:ln w="9525">
            <a:solidFill>
              <a:srgbClr val="D5DCE4"/>
            </a:solidFill>
            <a:prstDash val="solid"/>
          </a:ln>
        </p:spPr>
      </p:sp>
      <p:sp>
        <p:nvSpPr>
          <p:cNvPr id="7" name="Shape 4"/>
          <p:cNvSpPr/>
          <p:nvPr/>
        </p:nvSpPr>
        <p:spPr>
          <a:xfrm>
            <a:off x="812780" y="2399256"/>
            <a:ext cx="38099" cy="1993900"/>
          </a:xfrm>
          <a:prstGeom prst="rect">
            <a:avLst/>
          </a:prstGeom>
          <a:solidFill>
            <a:srgbClr val="1B6FA8"/>
          </a:solidFill>
          <a:ln/>
        </p:spPr>
      </p:sp>
      <p:sp>
        <p:nvSpPr>
          <p:cNvPr id="8" name="Text 5"/>
          <p:cNvSpPr/>
          <p:nvPr/>
        </p:nvSpPr>
        <p:spPr>
          <a:xfrm>
            <a:off x="977876" y="2500856"/>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Quorum : 1 / 2 » : les offres s’ouvriront dès que le quorum des parts sera atteint.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membre absent peut être suppléé par la part de secours, apportée par le dépositaire.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197</a:t>
            </a:r>
            <a:endParaRPr lang="en-US" sz="11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offres s’ouvrent ensemble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Toutes les offres s’ouvrent ensembl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 quorum, chaque offre est vérifiée par son empreinte, déchiffrée et comparée aux pièces attendues.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offres retirées ou remplacées ne s’ouvrent jamais.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198</a:t>
            </a:r>
            <a:endParaRPr lang="en-US" sz="11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 SÉANCE D’OUVERTURE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La lecture des offres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L’application lit chaque offre de la même manière ; ce qu’elle relève est une alerte pour la commission, jamais un rejet.</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199</a:t>
            </a:r>
            <a:endParaRPr lang="en-US" sz="11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lecture d’une offre remplie : fournitures</a:t>
            </a:r>
            <a:endParaRPr lang="en-US" sz="2600" dirty="0"/>
          </a:p>
        </p:txBody>
      </p:sp>
      <p:sp>
        <p:nvSpPr>
          <p:cNvPr id="4" name="Shape 2"/>
          <p:cNvSpPr/>
          <p:nvPr/>
        </p:nvSpPr>
        <p:spPr>
          <a:xfrm>
            <a:off x="1687917" y="1193800"/>
            <a:ext cx="8815862" cy="3327400"/>
          </a:xfrm>
          <a:prstGeom prst="rect">
            <a:avLst/>
          </a:prstGeom>
          <a:solidFill>
            <a:srgbClr val="FCFCFA"/>
          </a:solidFill>
          <a:ln w="9525">
            <a:solidFill>
              <a:srgbClr val="D5DCE4"/>
            </a:solidFill>
            <a:prstDash val="solid"/>
          </a:ln>
        </p:spPr>
      </p:sp>
      <p:pic>
        <p:nvPicPr>
          <p:cNvPr id="5" name="Image 0" descr="La lecture d’une offre remplie : fournitures">    </p:cNvPr>
          <p:cNvPicPr>
            <a:picLocks noChangeAspect="1"/>
          </p:cNvPicPr>
          <p:nvPr/>
        </p:nvPicPr>
        <p:blipFill>
          <a:blip r:embed="rId1"/>
          <a:stretch>
            <a:fillRect/>
          </a:stretch>
        </p:blipFill>
        <p:spPr>
          <a:xfrm>
            <a:off x="1700616" y="1206500"/>
            <a:ext cx="8790462"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totaux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recalculés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par le serveur ; les alertes (non-conformité, livraison hors délai) ; le bordereau et la conformité remplis, en PDF.</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200</a:t>
            </a:r>
            <a:endParaRPr lang="en-US" sz="11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lecture d’une offre remplie : travaux</a:t>
            </a:r>
            <a:endParaRPr lang="en-US" sz="2600" dirty="0"/>
          </a:p>
        </p:txBody>
      </p:sp>
      <p:sp>
        <p:nvSpPr>
          <p:cNvPr id="4" name="Shape 2"/>
          <p:cNvSpPr/>
          <p:nvPr/>
        </p:nvSpPr>
        <p:spPr>
          <a:xfrm>
            <a:off x="800080" y="1193800"/>
            <a:ext cx="7327717" cy="4644231"/>
          </a:xfrm>
          <a:prstGeom prst="rect">
            <a:avLst/>
          </a:prstGeom>
          <a:solidFill>
            <a:srgbClr val="FCFCFA"/>
          </a:solidFill>
          <a:ln w="9525">
            <a:solidFill>
              <a:srgbClr val="D5DCE4"/>
            </a:solidFill>
            <a:prstDash val="solid"/>
          </a:ln>
        </p:spPr>
      </p:sp>
      <p:pic>
        <p:nvPicPr>
          <p:cNvPr id="5" name="Image 0" descr="La lecture d’une offre remplie : travaux">    </p:cNvPr>
          <p:cNvPicPr>
            <a:picLocks noChangeAspect="1"/>
          </p:cNvPicPr>
          <p:nvPr/>
        </p:nvPicPr>
        <p:blipFill>
          <a:blip r:embed="rId1"/>
          <a:stretch>
            <a:fillRect/>
          </a:stretch>
        </p:blipFill>
        <p:spPr>
          <a:xfrm>
            <a:off x="812780" y="1206500"/>
            <a:ext cx="7302317" cy="4618831"/>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offre en défaut : chiffre d’affaires, liquidité, références, personnel, matériel, sous-détail — des alertes, jamais un rejet.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201</a:t>
            </a:r>
            <a:endParaRPr lang="en-US" sz="11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frais de dossier, lus en séance</a:t>
            </a:r>
            <a:endParaRPr lang="en-US" sz="2600" dirty="0"/>
          </a:p>
        </p:txBody>
      </p:sp>
      <p:sp>
        <p:nvSpPr>
          <p:cNvPr id="4" name="Shape 2"/>
          <p:cNvSpPr/>
          <p:nvPr/>
        </p:nvSpPr>
        <p:spPr>
          <a:xfrm>
            <a:off x="1731362" y="1193800"/>
            <a:ext cx="8728971" cy="3327400"/>
          </a:xfrm>
          <a:prstGeom prst="rect">
            <a:avLst/>
          </a:prstGeom>
          <a:solidFill>
            <a:srgbClr val="FCFCFA"/>
          </a:solidFill>
          <a:ln w="9525">
            <a:solidFill>
              <a:srgbClr val="D5DCE4"/>
            </a:solidFill>
            <a:prstDash val="solid"/>
          </a:ln>
        </p:spPr>
      </p:sp>
      <p:pic>
        <p:nvPicPr>
          <p:cNvPr id="5" name="Image 0" descr="Les frais de dossier, lus en séance">    </p:cNvPr>
          <p:cNvPicPr>
            <a:picLocks noChangeAspect="1"/>
          </p:cNvPicPr>
          <p:nvPr/>
        </p:nvPicPr>
        <p:blipFill>
          <a:blip r:embed="rId1"/>
          <a:stretch>
            <a:fillRect/>
          </a:stretch>
        </p:blipFill>
        <p:spPr>
          <a:xfrm>
            <a:off x="1744062" y="1206500"/>
            <a:ext cx="8703572"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ligne « Frais de dossier » de chaque offre ; sans reçu validé, l’alerte « Frais de dossier non réglés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202</a:t>
            </a:r>
            <a:endParaRPr lang="en-US" sz="11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lecture, projetée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 lecture, projeté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 pour la salle.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Offre par offre : soumissionnaire, montants, délai, garantie, pièces manquantes, alertes — en grand pour la salle.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203</a:t>
            </a:r>
            <a:endParaRPr lang="en-US" sz="11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COMMISSION D’APPEL D’OFFRES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pour la commission seule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ièces, pour la commission seu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Un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lecture de chaque offre ouverte : NIF et état de sa vérification, montants hors taxes et toutes taxes, délai, validité, rabais, garantie.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Seuls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membres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ouvrent les pièces : acte d’engagement signé, reçu des frais de dossier, garantie de soumission.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204</a:t>
            </a:r>
            <a:endParaRPr lang="en-US" sz="110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séance close, vue par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séance close, vue par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en lecture.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L’heure d’ouverture, le quorum des parts atteint,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part de secours employée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les membres présents et l’observateur de la PRMP ; les quatre offres reçues et leur état.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garantie lue avec son montant et son émetteur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 Garantie insuffisante »</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pour 800 000 Ar face au minimum de 1 600 000 Ar fixé par la fiche — une alerte, pas un rejet.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dossier de marché étant soumis à la Commission, l’étape est close : la séance ne se modifie plus (partie 08).</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205</a:t>
            </a:r>
            <a:endParaRPr lang="en-US" sz="110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 SÉANCE D’OUVERTURE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PV d’ouverture, signé au quorum de la commission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PV est signé en ligne par chaque membre présent. Depuis le 10/10 (manuel révisé), la séance ne se clôt qu’au quorum de la commission, président ou représentant compris.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206</a:t>
            </a:r>
            <a:endParaRPr lang="en-US" sz="110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PV d’ouverture, à signer</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PV d’ouverture, à signer">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responsable produit le PV ; il attend la signature de chaque membre présent.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Capture du 09/10 : l’écran porte aujourd’hui, en plus, le quorum de la commission (voir ci-après).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207</a:t>
            </a:r>
            <a:endParaRPr lang="en-US" sz="11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Signer le PV en ligne</a:t>
            </a:r>
            <a:endParaRPr lang="en-US" sz="2600" dirty="0"/>
          </a:p>
        </p:txBody>
      </p:sp>
      <p:sp>
        <p:nvSpPr>
          <p:cNvPr id="4" name="Shape 2"/>
          <p:cNvSpPr/>
          <p:nvPr/>
        </p:nvSpPr>
        <p:spPr>
          <a:xfrm>
            <a:off x="800080" y="1193800"/>
            <a:ext cx="10591535" cy="1500216"/>
          </a:xfrm>
          <a:prstGeom prst="rect">
            <a:avLst/>
          </a:prstGeom>
          <a:solidFill>
            <a:srgbClr val="FCFCFA"/>
          </a:solidFill>
          <a:ln w="9525">
            <a:solidFill>
              <a:srgbClr val="D5DCE4"/>
            </a:solidFill>
            <a:prstDash val="solid"/>
          </a:ln>
        </p:spPr>
      </p:sp>
      <p:pic>
        <p:nvPicPr>
          <p:cNvPr id="5" name="Image 0" descr="Signer le PV en ligne">    </p:cNvPr>
          <p:cNvPicPr>
            <a:picLocks noChangeAspect="1"/>
          </p:cNvPicPr>
          <p:nvPr/>
        </p:nvPicPr>
        <p:blipFill>
          <a:blip r:embed="rId1"/>
          <a:stretch>
            <a:fillRect/>
          </a:stretch>
        </p:blipFill>
        <p:spPr>
          <a:xfrm>
            <a:off x="812780" y="1206500"/>
            <a:ext cx="10566136" cy="1474816"/>
          </a:xfrm>
          <a:prstGeom prst="rect">
            <a:avLst/>
          </a:prstGeom>
        </p:spPr>
      </p:pic>
      <p:sp>
        <p:nvSpPr>
          <p:cNvPr id="6" name="Shape 3"/>
          <p:cNvSpPr/>
          <p:nvPr/>
        </p:nvSpPr>
        <p:spPr>
          <a:xfrm>
            <a:off x="812780" y="2833716"/>
            <a:ext cx="10566136" cy="1993900"/>
          </a:xfrm>
          <a:prstGeom prst="rect">
            <a:avLst/>
          </a:prstGeom>
          <a:solidFill>
            <a:srgbClr val="FCFCFA"/>
          </a:solidFill>
          <a:ln w="9525">
            <a:solidFill>
              <a:srgbClr val="D5DCE4"/>
            </a:solidFill>
            <a:prstDash val="solid"/>
          </a:ln>
        </p:spPr>
      </p:sp>
      <p:sp>
        <p:nvSpPr>
          <p:cNvPr id="7" name="Shape 4"/>
          <p:cNvSpPr/>
          <p:nvPr/>
        </p:nvSpPr>
        <p:spPr>
          <a:xfrm>
            <a:off x="812780" y="2833716"/>
            <a:ext cx="38099" cy="1993900"/>
          </a:xfrm>
          <a:prstGeom prst="rect">
            <a:avLst/>
          </a:prstGeom>
          <a:solidFill>
            <a:srgbClr val="1B6FA8"/>
          </a:solidFill>
          <a:ln/>
        </p:spPr>
      </p:sp>
      <p:sp>
        <p:nvSpPr>
          <p:cNvPr id="8" name="Text 5"/>
          <p:cNvSpPr/>
          <p:nvPr/>
        </p:nvSpPr>
        <p:spPr>
          <a:xfrm>
            <a:off x="977876" y="2935316"/>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Relire le PV, puis signer : la signature est horodatée et imprimée au PV.</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président peut constater l’empêchement d’un membre, avec un motif, tant que le quorum reste atteignable.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208</a:t>
            </a:r>
            <a:endParaRPr lang="en-US" sz="110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PV signé, quorum atteint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V signé, quorum attein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séance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enveloppes techniques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d’une consultation de prestations intellectuelles : les offres sont lues sans aucun montant.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Quorum atteint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2 sur 2 requis (majorité des membres désignés) · président signataire » ; chaque signature électronique datée.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PV s’enregistre en PDF ; l’évaluation des offres s’ouvre.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209</a:t>
            </a:r>
            <a:endParaRPr lang="en-US" sz="11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seconde séance : les enveloppes financières</a:t>
            </a:r>
            <a:endParaRPr lang="en-US" sz="2600" dirty="0"/>
          </a:p>
        </p:txBody>
      </p:sp>
      <p:sp>
        <p:nvSpPr>
          <p:cNvPr id="4" name="Shape 2"/>
          <p:cNvSpPr/>
          <p:nvPr/>
        </p:nvSpPr>
        <p:spPr>
          <a:xfrm>
            <a:off x="2274656" y="1193800"/>
            <a:ext cx="7642382" cy="3327400"/>
          </a:xfrm>
          <a:prstGeom prst="rect">
            <a:avLst/>
          </a:prstGeom>
          <a:solidFill>
            <a:srgbClr val="FCFCFA"/>
          </a:solidFill>
          <a:ln w="9525">
            <a:solidFill>
              <a:srgbClr val="D5DCE4"/>
            </a:solidFill>
            <a:prstDash val="solid"/>
          </a:ln>
        </p:spPr>
      </p:sp>
      <p:pic>
        <p:nvPicPr>
          <p:cNvPr id="5" name="Image 0" descr="La seconde séance : les enveloppes financières">    </p:cNvPr>
          <p:cNvPicPr>
            <a:picLocks noChangeAspect="1"/>
          </p:cNvPicPr>
          <p:nvPr/>
        </p:nvPicPr>
        <p:blipFill>
          <a:blip r:embed="rId1"/>
          <a:stretch>
            <a:fillRect/>
          </a:stretch>
        </p:blipFill>
        <p:spPr>
          <a:xfrm>
            <a:off x="2287356" y="1206500"/>
            <a:ext cx="7616983"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Après l’arrêt de l’évaluation technique, seules s’ouvrent les enveloppes financières des propositions qualifiées, avec les mêmes clés ; les autres restent scellées, avec leur motif.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Montants lus, présents, observations ; le PV se signe comme celui de la première séance.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210</a:t>
            </a:r>
            <a:endParaRPr lang="en-US" sz="110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procédure publique, après la séance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procédure publique, après la séanc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Toute entreprise,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procédure passe à « close » : les dépôts sont clos.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Quand la fiche le prévoit,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extrait du PV d’ouverture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les alertes) se lit ici dès la dernière signature, puis le résultat de l’appel d’offres.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211</a:t>
            </a:r>
            <a:endParaRPr lang="en-US" sz="110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 SÉANCE D’OUVERTURE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Pas d’ouverture avant l’heure</a:t>
            </a:r>
            <a:endParaRPr lang="en-US" sz="1500" dirty="0"/>
          </a:p>
        </p:txBody>
      </p:sp>
      <p:sp>
        <p:nvSpPr>
          <p:cNvPr id="7" name="Text 5"/>
          <p:cNvSpPr/>
          <p:nvPr/>
        </p:nvSpPr>
        <p:spPr>
          <a:xfrm>
            <a:off x="952476"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Avant l’heure d’ouverture et la date limite, personne ne reçoit rien, pas même les parts chiffrées.</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Toutes ensemble, ou aucune</a:t>
            </a:r>
            <a:endParaRPr lang="en-US" sz="1500" dirty="0"/>
          </a:p>
        </p:txBody>
      </p:sp>
      <p:sp>
        <p:nvSpPr>
          <p:cNvPr id="11" name="Text 9"/>
          <p:cNvSpPr/>
          <p:nvPr/>
        </p:nvSpPr>
        <p:spPr>
          <a:xfrm>
            <a:off x="4525320"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Au quorum des parts de clé, toutes les offres s’ouvrent dans un même geste ; aucune ne s’ouvre avant les autres.</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L’intégrité vérifiée</a:t>
            </a:r>
            <a:endParaRPr lang="en-US" sz="1500" dirty="0"/>
          </a:p>
        </p:txBody>
      </p:sp>
      <p:sp>
        <p:nvSpPr>
          <p:cNvPr id="15" name="Text 13"/>
          <p:cNvSpPr/>
          <p:nvPr/>
        </p:nvSpPr>
        <p:spPr>
          <a:xfrm>
            <a:off x="8098164"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L’empreinte de chaque offre est recalculée ; une offre altérée est signalée, une offre retirée ou remplacée ne s’ouvre jamais.</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lecture identique pour tous</a:t>
            </a:r>
            <a:endParaRPr lang="en-US" sz="1500" dirty="0"/>
          </a:p>
        </p:txBody>
      </p:sp>
      <p:sp>
        <p:nvSpPr>
          <p:cNvPr id="19" name="Text 17"/>
          <p:cNvSpPr/>
          <p:nvPr/>
        </p:nvSpPr>
        <p:spPr>
          <a:xfrm>
            <a:off x="952476"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Montants recalculés, garantie, frais, pièces : relevés par l’application, en alertes pour la commission, jamais en rejet.</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Les pièces réservées à la commission</a:t>
            </a:r>
            <a:endParaRPr lang="en-US" sz="1500" dirty="0"/>
          </a:p>
        </p:txBody>
      </p:sp>
      <p:sp>
        <p:nvSpPr>
          <p:cNvPr id="23" name="Text 21"/>
          <p:cNvSpPr/>
          <p:nvPr/>
        </p:nvSpPr>
        <p:spPr>
          <a:xfrm>
            <a:off x="4525320"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Seuls les membres ouvrent les pièces ; la PRMP et le responsable lisent ce qui est lu en séance.</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PV au quorum de la commission</a:t>
            </a:r>
            <a:endParaRPr lang="en-US" sz="1500" dirty="0"/>
          </a:p>
        </p:txBody>
      </p:sp>
      <p:sp>
        <p:nvSpPr>
          <p:cNvPr id="27" name="Text 25"/>
          <p:cNvSpPr/>
          <p:nvPr/>
        </p:nvSpPr>
        <p:spPr>
          <a:xfrm>
            <a:off x="8098164"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Signatures électroniques datées, empêchements motivés, quorum constaté imprimé au PV ; extrait publié à la dernière signature.</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212</a:t>
            </a:r>
            <a:endParaRPr lang="en-US" sz="110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08</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Évaluer les offres</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La commission d’appel d’offres évalue les offres en ligne, lot par lot et étape par étape, selon le guide d’évaluation : chaque décision est motivée et signée, le calcul est fait par l’application, et le rapport ne se produit qu’au quorum.</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L’évaluation se conduit dans l’application, sur les offres scellées elles-mêmes : la commission confirme ou corrige ce que la séance a établi, elle ne ressaisit rien.</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 montant évalué n’est jamais saisi à la main : l’application le calcule, hors taxes ; une correction qui sort de son calcul doit être motivée et elle est signalée au contrôle de la Commission.</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Dès que le dossier de marché est soumis à la Commission, l’évaluation est close : ce que la Commission examine ne peut plus changer, sauf reprise motivée et tracée.</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L’application de bout en bout · 213</a:t>
            </a:r>
            <a:endParaRPr lang="en-US" sz="110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PV d’ouverture signé au rapport d’évaluation</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lot traverse quatre étapes, que le président de la commission arrête l’une après l’autre ; le rapport réunit tous les lots. En prestations intellectuelles, l’évaluation technique, la seconde séance et la négociation prennent la place du montant évalué et de la post-qualification.</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RESPONSABLE DE LA PROCÉDURE, LES MEMBRES</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Ouvrir et déclarer</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L’évaluation s’ouvre une fois le PV d’ouverture signé ; chaque membre déclare d’abord n’avoir aucun conflit d’intérêts.</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COMMISSION ; LA PRMP POUR LES PRÉCISIONS</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Examen préliminaire</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Une grille de neuf vérifications par offre, pré-remplie depuis la séance ; la commission retient ou écarte, avec motif et clause du DAO.</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COMMISSION</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Montant évalué et classement</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Corrections, rabais, préférence et critères du DAO : l’application calcule le montant hors taxes et classe.</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COMMISSION ; LA PRMP POUR LA DEMANDE</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Offres anormales</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Des indicateurs de prix ; aucun rejet sans demande écrite de justification.</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COMMISSION</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Post-qualification</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premier classé, critère par critère ; s’il échoue, le suivant ; le lot reçoit sa proposition d’attribution.</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LE RESPONSABLE, LES MEMBRES</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Rapport signé</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 rapport, produit quand tout est arrêté, est signé par les membres au quorum : l’évaluation est close.</a:t>
            </a:r>
            <a:endParaRPr lang="en-US" sz="1150" dirty="0"/>
          </a:p>
        </p:txBody>
      </p:sp>
      <p:sp>
        <p:nvSpPr>
          <p:cNvPr id="34" name="Text 3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214</a:t>
            </a:r>
            <a:endParaRPr lang="en-US" sz="110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Ouvrir l’évaluation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L’évaluation ne commence qu’une fois le PV d’ouverture signé de tous. Chaque membre s’engage d’abord, une fois pour toutes, sur l’absence de conflit d’intérêts et sur la confidentialité.</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215</a:t>
            </a:r>
            <a:endParaRPr lang="en-US" sz="110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OUVRIR · RESPONSABLE DE LA PROCÉDURE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L’évaluation, avant son 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évaluation, avant son 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Elle s’ouvre quand le PV d’ouverture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signé de tous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avant, l’application le refuse et l’écran le dit.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fois ouverte, les membres de la commission et la PRMP en sont avertis.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216</a:t>
            </a:r>
            <a:endParaRPr lang="en-US" sz="110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OUVRIR · MEMBRE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L’entrée depuis l’espace de la commission</a:t>
            </a:r>
            <a:endParaRPr lang="en-US" sz="2600" dirty="0"/>
          </a:p>
        </p:txBody>
      </p:sp>
      <p:sp>
        <p:nvSpPr>
          <p:cNvPr id="4" name="Shape 2"/>
          <p:cNvSpPr/>
          <p:nvPr/>
        </p:nvSpPr>
        <p:spPr>
          <a:xfrm>
            <a:off x="800080" y="1193800"/>
            <a:ext cx="10591535" cy="1060328"/>
          </a:xfrm>
          <a:prstGeom prst="rect">
            <a:avLst/>
          </a:prstGeom>
          <a:solidFill>
            <a:srgbClr val="FCFCFA"/>
          </a:solidFill>
          <a:ln w="9525">
            <a:solidFill>
              <a:srgbClr val="D5DCE4"/>
            </a:solidFill>
            <a:prstDash val="solid"/>
          </a:ln>
        </p:spPr>
      </p:sp>
      <p:pic>
        <p:nvPicPr>
          <p:cNvPr id="5" name="Image 0" descr="L’entrée depuis l’espace de la commission">    </p:cNvPr>
          <p:cNvPicPr>
            <a:picLocks noChangeAspect="1"/>
          </p:cNvPicPr>
          <p:nvPr/>
        </p:nvPicPr>
        <p:blipFill>
          <a:blip r:embed="rId1"/>
          <a:stretch>
            <a:fillRect/>
          </a:stretch>
        </p:blipFill>
        <p:spPr>
          <a:xfrm>
            <a:off x="812780" y="1206500"/>
            <a:ext cx="10566136" cy="1034928"/>
          </a:xfrm>
          <a:prstGeom prst="rect">
            <a:avLst/>
          </a:prstGeom>
        </p:spPr>
      </p:pic>
      <p:sp>
        <p:nvSpPr>
          <p:cNvPr id="6" name="Shape 3"/>
          <p:cNvSpPr/>
          <p:nvPr/>
        </p:nvSpPr>
        <p:spPr>
          <a:xfrm>
            <a:off x="812780" y="2393828"/>
            <a:ext cx="10566136" cy="1993900"/>
          </a:xfrm>
          <a:prstGeom prst="rect">
            <a:avLst/>
          </a:prstGeom>
          <a:solidFill>
            <a:srgbClr val="FCFCFA"/>
          </a:solidFill>
          <a:ln w="9525">
            <a:solidFill>
              <a:srgbClr val="D5DCE4"/>
            </a:solidFill>
            <a:prstDash val="solid"/>
          </a:ln>
        </p:spPr>
      </p:sp>
      <p:sp>
        <p:nvSpPr>
          <p:cNvPr id="7" name="Shape 4"/>
          <p:cNvSpPr/>
          <p:nvPr/>
        </p:nvSpPr>
        <p:spPr>
          <a:xfrm>
            <a:off x="812780" y="2393828"/>
            <a:ext cx="38099" cy="1993900"/>
          </a:xfrm>
          <a:prstGeom prst="rect">
            <a:avLst/>
          </a:prstGeom>
          <a:solidFill>
            <a:srgbClr val="1B6FA8"/>
          </a:solidFill>
          <a:ln/>
        </p:spPr>
      </p:sp>
      <p:sp>
        <p:nvSpPr>
          <p:cNvPr id="8" name="Text 5"/>
          <p:cNvSpPr/>
          <p:nvPr/>
        </p:nvSpPr>
        <p:spPr>
          <a:xfrm>
            <a:off x="977876" y="2495428"/>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d’appel d’offres.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de la procédure, « Ouvrir l’évaluation » conduit à l’écran de travail de la commission.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Mes procédures » compte les évaluations en cours et les rapports à signer.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217</a:t>
            </a:r>
            <a:endParaRPr lang="en-US" sz="110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OUVRIR · MEMBRE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déclaration préalable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 déclaration préalabl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Chaque membre, président compris.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Absence de conflit d’intérêts (art. 21-d) et engagement de confidentialité (art. 12-V)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avant toute décision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elle ne se reprend pas.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membre qui déclare un conflit lit l’évaluation, mais n’y décide rien.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218</a:t>
            </a:r>
            <a:endParaRPr lang="en-US" sz="110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OUVRIR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L’évaluation vue par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valuation vue par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qui lit l’évaluation de sa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déclarations datées des membres, puis un onglet par lot et ses étapes, « arrêtée » ou en 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offres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non évaluées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sont nommées avec leur raison : remplacée par une offre ultérieure, ou retirée par le soumissionnaire.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tout reste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confidentiel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jusqu’à l’information des candidats (art. 12-V, 35-V).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219</a:t>
            </a:r>
            <a:endParaRPr lang="en-US" sz="110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L’examen préliminaire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Recevabilité, éligibilité et conformité pour l’essentiel (art. 43 et 46). L’application prépare la grille à partir de ce que la séance a constaté ; la commission décide, offre par offre.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220</a:t>
            </a:r>
            <a:endParaRPr lang="en-US" sz="110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EXAMEN PRÉLIMINAIRE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grille de l’offre, et sa décision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grille de l’offre, et sa déci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 le président arrête l’étape.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Neuf vérifications, chacune avec « ce que la séance a établi » et une proposition ; la commission confirme ou corrige.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l’offre n° 2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écartée — non conforme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garantie de 800 000 Ar pour un minimum de 1 600 000 Ar, avec la clause du DAO visée (DPAO 6.6).</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décision porte son auteur et son heure ; l’étape arrêtée porte celui qui l’a arrêtée.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221</a:t>
            </a:r>
            <a:endParaRPr lang="en-US" sz="110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EXAMEN PRÉLIMINAIRE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Demander une précision au candidat</a:t>
            </a:r>
            <a:endParaRPr lang="en-US" sz="2600" dirty="0"/>
          </a:p>
        </p:txBody>
      </p:sp>
      <p:sp>
        <p:nvSpPr>
          <p:cNvPr id="4" name="Shape 2"/>
          <p:cNvSpPr/>
          <p:nvPr/>
        </p:nvSpPr>
        <p:spPr>
          <a:xfrm>
            <a:off x="800080" y="1193800"/>
            <a:ext cx="10591535" cy="1892706"/>
          </a:xfrm>
          <a:prstGeom prst="rect">
            <a:avLst/>
          </a:prstGeom>
          <a:solidFill>
            <a:srgbClr val="FCFCFA"/>
          </a:solidFill>
          <a:ln w="9525">
            <a:solidFill>
              <a:srgbClr val="D5DCE4"/>
            </a:solidFill>
            <a:prstDash val="solid"/>
          </a:ln>
        </p:spPr>
      </p:sp>
      <p:pic>
        <p:nvPicPr>
          <p:cNvPr id="5" name="Image 0" descr="Demander une précision au candidat">    </p:cNvPr>
          <p:cNvPicPr>
            <a:picLocks noChangeAspect="1"/>
          </p:cNvPicPr>
          <p:nvPr/>
        </p:nvPicPr>
        <p:blipFill>
          <a:blip r:embed="rId1"/>
          <a:stretch>
            <a:fillRect/>
          </a:stretch>
        </p:blipFill>
        <p:spPr>
          <a:xfrm>
            <a:off x="812780" y="1206500"/>
            <a:ext cx="10566136" cy="1867306"/>
          </a:xfrm>
          <a:prstGeom prst="rect">
            <a:avLst/>
          </a:prstGeom>
        </p:spPr>
      </p:pic>
      <p:sp>
        <p:nvSpPr>
          <p:cNvPr id="6" name="Shape 3"/>
          <p:cNvSpPr/>
          <p:nvPr/>
        </p:nvSpPr>
        <p:spPr>
          <a:xfrm>
            <a:off x="812780" y="3226206"/>
            <a:ext cx="10566136" cy="1993900"/>
          </a:xfrm>
          <a:prstGeom prst="rect">
            <a:avLst/>
          </a:prstGeom>
          <a:solidFill>
            <a:srgbClr val="FCFCFA"/>
          </a:solidFill>
          <a:ln w="9525">
            <a:solidFill>
              <a:srgbClr val="D5DCE4"/>
            </a:solidFill>
            <a:prstDash val="solid"/>
          </a:ln>
        </p:spPr>
      </p:sp>
      <p:sp>
        <p:nvSpPr>
          <p:cNvPr id="7" name="Shape 4"/>
          <p:cNvSpPr/>
          <p:nvPr/>
        </p:nvSpPr>
        <p:spPr>
          <a:xfrm>
            <a:off x="812780" y="3226206"/>
            <a:ext cx="38099" cy="1993900"/>
          </a:xfrm>
          <a:prstGeom prst="rect">
            <a:avLst/>
          </a:prstGeom>
          <a:solidFill>
            <a:srgbClr val="1B6FA8"/>
          </a:solidFill>
          <a:ln/>
        </p:spPr>
      </p:sp>
      <p:sp>
        <p:nvSpPr>
          <p:cNvPr id="8" name="Text 5"/>
          <p:cNvSpPr/>
          <p:nvPr/>
        </p:nvSpPr>
        <p:spPr>
          <a:xfrm>
            <a:off x="977876" y="3327806"/>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Art. 35-VI : la PRMP pose sa question par écrit, avec un délai (celui de la fiche par défaut).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précision ne sert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jamais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compléter une pièce essentielle ni à changer le prix.</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222</a:t>
            </a:r>
            <a:endParaRPr lang="en-US" sz="110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EXAMEN PRÉLIMINAIRE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Répondre depuis « Mes offres »</a:t>
            </a:r>
            <a:endParaRPr lang="en-US" sz="2600" dirty="0"/>
          </a:p>
        </p:txBody>
      </p:sp>
      <p:sp>
        <p:nvSpPr>
          <p:cNvPr id="4" name="Shape 2"/>
          <p:cNvSpPr/>
          <p:nvPr/>
        </p:nvSpPr>
        <p:spPr>
          <a:xfrm>
            <a:off x="915246" y="1193800"/>
            <a:ext cx="10361203" cy="3327400"/>
          </a:xfrm>
          <a:prstGeom prst="rect">
            <a:avLst/>
          </a:prstGeom>
          <a:solidFill>
            <a:srgbClr val="FCFCFA"/>
          </a:solidFill>
          <a:ln w="9525">
            <a:solidFill>
              <a:srgbClr val="D5DCE4"/>
            </a:solidFill>
            <a:prstDash val="solid"/>
          </a:ln>
        </p:spPr>
      </p:sp>
      <p:pic>
        <p:nvPicPr>
          <p:cNvPr id="5" name="Image 0" descr="Répondre depuis « Mes offres »">    </p:cNvPr>
          <p:cNvPicPr>
            <a:picLocks noChangeAspect="1"/>
          </p:cNvPicPr>
          <p:nvPr/>
        </p:nvPicPr>
        <p:blipFill>
          <a:blip r:embed="rId1"/>
          <a:stretch>
            <a:fillRect/>
          </a:stretch>
        </p:blipFill>
        <p:spPr>
          <a:xfrm>
            <a:off x="927946" y="1206500"/>
            <a:ext cx="10335803"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interrogé.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demande arrive par notification et par courriel ; le candidat répond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une fois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dans le délai, par un texte et, s’il le veut, une pièce.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demande et la réponse sont jointes au rapport.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223</a:t>
            </a:r>
            <a:endParaRPr lang="en-US" sz="110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montant évalué et le classement</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Les offres se comparent hors taxes, sur un montant que l’application calcule à partir du bordereau scellé. La commission retient les corrections proposées ; elle ne fixe jamais un montant à la main.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224</a:t>
            </a:r>
            <a:endParaRPr lang="en-US" sz="110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MONTANT ÉVALUÉ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montant évalué et le tableau du guide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montant évalué et le tableau du guid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l’offre n° 4 : prix lu 168 000 000 Ar HT, prix corrigé 167 500 000 Ar, rabais 1 500 000 Ar,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montant évalué 166 000 000 Ar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rang 1.</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tableau d’évaluation du guide : une ligne par offre, du prix lu au montant évalué, au rang et à la qualification ; l’offre écartée y garde son motif.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Tous les montants en ariary, hors taxes.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225</a:t>
            </a:r>
            <a:endParaRPr lang="en-US" sz="110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MONTANT ÉVALUÉ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corrections, dont une hors calcul</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orrections, dont une hors calcul">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prix unitaire prévaut sur le total, les lettres sur les chiffres : ces corrections ne peuvent que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reprendre celles que l’application a calculées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erreur de report du sous-total, que l’application ne calcule pas, se lit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Hors calcul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elle exige un motif et sera signalée au contrôle du dossier de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Rabais lu sur l’acte d’engagement, marge de préférence et critères additionnels du DAO — eux seuls —, refus de la correction par le candidat.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226</a:t>
            </a:r>
            <a:endParaRPr lang="en-US" sz="110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offres anormales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L’application donne des indicateurs ; la commission apprécie. Aucune offre n’est rejetée pour son prix sans demande écrite de justification.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227</a:t>
            </a:r>
            <a:endParaRPr lang="en-US" sz="110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OFFRES ANORMALES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indicateurs de prix</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indicateurs de prix">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chaque offre classée : l’écart à l’estimation du plan et à la moyenne des offres ; ici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+10,7 %</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sur une estimation de 150 000 000 Ar.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Sans méthode fixée par le DAO, la commission motive son appréciation au cas par cas : ce sont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indicateurs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jamais une décision.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L’offre est jugée « non suspectée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228</a:t>
            </a:r>
            <a:endParaRPr lang="en-US" sz="110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OFFRES ANORMALES · PRMP ET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offre maintenue après justification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Une offre maintenue après justifica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demande ; le candidat répond ; la commission décide.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méthode du DAO est rappelée en clair : moyenne de référence, seuils de 20 % au-dessus et de 10 % au-dessous.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justification demandée, son échéance, la réponse du candidat : la commission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maintient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l’offre, motif à l’appui.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Faute de réponse à l’échéance, l’offre porterait la mention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Défaut de réponse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silence vaut refus de justifier (art. 48).</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229</a:t>
            </a:r>
            <a:endParaRPr lang="en-US" sz="110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La post-qualification et la proposition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 commission vérifie que le mieux classé a les capacités exigées par le DAO, et lui seul tant qu’il n’échoue pas. Le lot reçoit alors sa proposition d’attribution.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230</a:t>
            </a:r>
            <a:endParaRPr lang="en-US" sz="110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POST-QUALIFICATION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post-qualification et la proposition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post-qualification et la proposi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 le président arrête l’étape.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proposition d’attribution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 lot : offre n° 4, 166 000 000 Ar HT (prix corrigé, rabais déduit), délai de 3 mois tiré de l’acte d’engagement.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Critère par critère : l’exigence du DAO, le constat de séance, la décision et son motif ; les capacités déclarées se lisent en PDF.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offre non qualifiée est écartée avec motif et clause : le tour passe à la suivante.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231</a:t>
            </a:r>
            <a:endParaRPr lang="en-US" sz="110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rapport d’évaluation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rapport suit le plan du guide. Il se produit quand tout est arrêté et ne vaut qu’au quorum : sa signature par les membres tient lieu de PV de validation.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232</a:t>
            </a:r>
            <a:endParaRPr lang="en-US" sz="110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RAPPORT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rapport signé, au quorum</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apport signé, au quorum">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signent ; le président est toujours requis.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Signé de tous » : produit et signé le même jour, lisible en PDF et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signature est datée ; un membre y porte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observation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va au rapport.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Quorum atteint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2 sur 2 requis (majorité des membres désignés), président signataire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233</a:t>
            </a:r>
            <a:endParaRPr lang="en-US" sz="110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RAPPORT · MEMBRE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Signer, avec une observation</a:t>
            </a:r>
            <a:endParaRPr lang="en-US" sz="2600" dirty="0"/>
          </a:p>
        </p:txBody>
      </p:sp>
      <p:sp>
        <p:nvSpPr>
          <p:cNvPr id="4" name="Shape 2"/>
          <p:cNvSpPr/>
          <p:nvPr/>
        </p:nvSpPr>
        <p:spPr>
          <a:xfrm>
            <a:off x="997916" y="1193800"/>
            <a:ext cx="10195862" cy="3327400"/>
          </a:xfrm>
          <a:prstGeom prst="rect">
            <a:avLst/>
          </a:prstGeom>
          <a:solidFill>
            <a:srgbClr val="FCFCFA"/>
          </a:solidFill>
          <a:ln w="9525">
            <a:solidFill>
              <a:srgbClr val="D5DCE4"/>
            </a:solidFill>
            <a:prstDash val="solid"/>
          </a:ln>
        </p:spPr>
      </p:sp>
      <p:pic>
        <p:nvPicPr>
          <p:cNvPr id="5" name="Image 0" descr="Signer, avec une observation">    </p:cNvPr>
          <p:cNvPicPr>
            <a:picLocks noChangeAspect="1"/>
          </p:cNvPicPr>
          <p:nvPr/>
        </p:nvPicPr>
        <p:blipFill>
          <a:blip r:embed="rId1"/>
          <a:stretch>
            <a:fillRect/>
          </a:stretch>
        </p:blipFill>
        <p:spPr>
          <a:xfrm>
            <a:off x="1010616" y="1206500"/>
            <a:ext cx="10170463"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Chaque membre qui n’a pas déclaré de conflit.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membre relit le rapport, puis signe : signature électronique simple, horodatée.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désaccord, il porte son observation au rapport ; un empêchement est constaté par le président, avec un motif.</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234</a:t>
            </a:r>
            <a:endParaRPr lang="en-US" sz="110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RAPPORT · DOCUMENT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rapport, sur le plan du guide</a:t>
            </a:r>
            <a:endParaRPr lang="en-US" sz="2600" dirty="0"/>
          </a:p>
        </p:txBody>
      </p:sp>
      <p:sp>
        <p:nvSpPr>
          <p:cNvPr id="4" name="Shape 2"/>
          <p:cNvSpPr/>
          <p:nvPr/>
        </p:nvSpPr>
        <p:spPr>
          <a:xfrm>
            <a:off x="800080" y="1193800"/>
            <a:ext cx="3616625" cy="5105400"/>
          </a:xfrm>
          <a:prstGeom prst="rect">
            <a:avLst/>
          </a:prstGeom>
          <a:solidFill>
            <a:srgbClr val="FCFCFA"/>
          </a:solidFill>
          <a:ln w="9525">
            <a:solidFill>
              <a:srgbClr val="D5DCE4"/>
            </a:solidFill>
            <a:prstDash val="solid"/>
          </a:ln>
        </p:spPr>
      </p:sp>
      <p:pic>
        <p:nvPicPr>
          <p:cNvPr id="5" name="Image 0" descr="Le rapport, sur le plan du guide">    </p:cNvPr>
          <p:cNvPicPr>
            <a:picLocks noChangeAspect="1"/>
          </p:cNvPicPr>
          <p:nvPr/>
        </p:nvPicPr>
        <p:blipFill>
          <a:blip r:embed="rId1"/>
          <a:stretch>
            <a:fillRect/>
          </a:stretch>
        </p:blipFill>
        <p:spPr>
          <a:xfrm>
            <a:off x="812780" y="1206500"/>
            <a:ext cx="3591226" cy="5080000"/>
          </a:xfrm>
          <a:prstGeom prst="rect">
            <a:avLst/>
          </a:prstGeom>
        </p:spPr>
      </p:pic>
      <p:sp>
        <p:nvSpPr>
          <p:cNvPr id="6" name="Shape 3"/>
          <p:cNvSpPr/>
          <p:nvPr/>
        </p:nvSpPr>
        <p:spPr>
          <a:xfrm>
            <a:off x="4581801" y="1206500"/>
            <a:ext cx="6797115" cy="5080000"/>
          </a:xfrm>
          <a:prstGeom prst="rect">
            <a:avLst/>
          </a:prstGeom>
          <a:solidFill>
            <a:srgbClr val="FCFCFA"/>
          </a:solidFill>
          <a:ln w="9525">
            <a:solidFill>
              <a:srgbClr val="D5DCE4"/>
            </a:solidFill>
            <a:prstDash val="solid"/>
          </a:ln>
        </p:spPr>
      </p:sp>
      <p:sp>
        <p:nvSpPr>
          <p:cNvPr id="7" name="Shape 4"/>
          <p:cNvSpPr/>
          <p:nvPr/>
        </p:nvSpPr>
        <p:spPr>
          <a:xfrm>
            <a:off x="4581801" y="1206500"/>
            <a:ext cx="38099" cy="5080000"/>
          </a:xfrm>
          <a:prstGeom prst="rect">
            <a:avLst/>
          </a:prstGeom>
          <a:solidFill>
            <a:srgbClr val="1B6FA8"/>
          </a:solidFill>
          <a:ln/>
        </p:spPr>
      </p:sp>
      <p:sp>
        <p:nvSpPr>
          <p:cNvPr id="8" name="Text 5"/>
          <p:cNvSpPr/>
          <p:nvPr/>
        </p:nvSpPr>
        <p:spPr>
          <a:xfrm>
            <a:off x="4746897" y="1308100"/>
            <a:ext cx="6505022"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Produit par l’application ; non public.</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Références et commission, plis reçus, puis lot par lot : examen préliminaire, corrections, montant évalué et classement, offres anormales, post-qualification, proposition d’attribution.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Puis les signatures et les annexes : déclarations des membres, échanges avec les candidats.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235</a:t>
            </a:r>
            <a:endParaRPr lang="en-US" sz="110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CLOSE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L’étape close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tape clo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qui lisent l’évaluation.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Étape close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dossier de marché n° 100372 (lot 1) est soumis à la Commission ; la séance, l’évaluation et l’AMI de la procédure ne se modifient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une reprise de l’évaluation après avis défavorable, ou une réattribution, les rouvre ; la PRMP ouvre le dossier de marché d’un clic.</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lectures restent ouvertes : rapport, PV, PDF et Word.</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236</a:t>
            </a:r>
            <a:endParaRPr lang="en-US" sz="110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prestations intellectuelles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Pour une consultation de prestations intellectuelles, la commission note d’abord les propositions techniques ; seules les enveloppes financières des propositions retenues s’ouvrent ensuite, puis la PRMP négocie avec le premier classé.</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237</a:t>
            </a:r>
            <a:endParaRPr lang="en-US" sz="110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grille technique d’un membre</a:t>
            </a:r>
            <a:endParaRPr lang="en-US" sz="2600" dirty="0"/>
          </a:p>
        </p:txBody>
      </p:sp>
      <p:sp>
        <p:nvSpPr>
          <p:cNvPr id="4" name="Shape 2"/>
          <p:cNvSpPr/>
          <p:nvPr/>
        </p:nvSpPr>
        <p:spPr>
          <a:xfrm>
            <a:off x="2275249" y="1193800"/>
            <a:ext cx="7641196" cy="3327400"/>
          </a:xfrm>
          <a:prstGeom prst="rect">
            <a:avLst/>
          </a:prstGeom>
          <a:solidFill>
            <a:srgbClr val="FCFCFA"/>
          </a:solidFill>
          <a:ln w="9525">
            <a:solidFill>
              <a:srgbClr val="D5DCE4"/>
            </a:solidFill>
            <a:prstDash val="solid"/>
          </a:ln>
        </p:spPr>
      </p:sp>
      <p:pic>
        <p:nvPicPr>
          <p:cNvPr id="5" name="Image 0" descr="La grille technique d’un membre">    </p:cNvPr>
          <p:cNvPicPr>
            <a:picLocks noChangeAspect="1"/>
          </p:cNvPicPr>
          <p:nvPr/>
        </p:nvPicPr>
        <p:blipFill>
          <a:blip r:embed="rId1"/>
          <a:stretch>
            <a:fillRect/>
          </a:stretch>
        </p:blipFill>
        <p:spPr>
          <a:xfrm>
            <a:off x="2287949" y="1206500"/>
            <a:ext cx="7615797"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Chaque membre sans conflit.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membre note chaque élément de la grille de la fiche et motive ; la moyenne, le minimum et le maximum s’affichent.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ligne est signalée quand la note la plus haute et la plus basse s’écartent de plus de 20 % du maximum.</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238</a:t>
            </a:r>
            <a:endParaRPr lang="en-US" sz="110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classement technique</a:t>
            </a:r>
            <a:endParaRPr lang="en-US" sz="2600" dirty="0"/>
          </a:p>
        </p:txBody>
      </p:sp>
      <p:sp>
        <p:nvSpPr>
          <p:cNvPr id="4" name="Shape 2"/>
          <p:cNvSpPr/>
          <p:nvPr/>
        </p:nvSpPr>
        <p:spPr>
          <a:xfrm>
            <a:off x="800080" y="1193800"/>
            <a:ext cx="10591535" cy="2855169"/>
          </a:xfrm>
          <a:prstGeom prst="rect">
            <a:avLst/>
          </a:prstGeom>
          <a:solidFill>
            <a:srgbClr val="FCFCFA"/>
          </a:solidFill>
          <a:ln w="9525">
            <a:solidFill>
              <a:srgbClr val="D5DCE4"/>
            </a:solidFill>
            <a:prstDash val="solid"/>
          </a:ln>
        </p:spPr>
      </p:sp>
      <p:pic>
        <p:nvPicPr>
          <p:cNvPr id="5" name="Image 0" descr="Le classement technique">    </p:cNvPr>
          <p:cNvPicPr>
            <a:picLocks noChangeAspect="1"/>
          </p:cNvPicPr>
          <p:nvPr/>
        </p:nvPicPr>
        <p:blipFill>
          <a:blip r:embed="rId1"/>
          <a:stretch>
            <a:fillRect/>
          </a:stretch>
        </p:blipFill>
        <p:spPr>
          <a:xfrm>
            <a:off x="812780" y="1206500"/>
            <a:ext cx="10566136" cy="2829769"/>
          </a:xfrm>
          <a:prstGeom prst="rect">
            <a:avLst/>
          </a:prstGeom>
        </p:spPr>
      </p:pic>
      <p:sp>
        <p:nvSpPr>
          <p:cNvPr id="6" name="Shape 3"/>
          <p:cNvSpPr/>
          <p:nvPr/>
        </p:nvSpPr>
        <p:spPr>
          <a:xfrm>
            <a:off x="812780" y="4188669"/>
            <a:ext cx="10566136" cy="1993900"/>
          </a:xfrm>
          <a:prstGeom prst="rect">
            <a:avLst/>
          </a:prstGeom>
          <a:solidFill>
            <a:srgbClr val="FCFCFA"/>
          </a:solidFill>
          <a:ln w="9525">
            <a:solidFill>
              <a:srgbClr val="D5DCE4"/>
            </a:solidFill>
            <a:prstDash val="solid"/>
          </a:ln>
        </p:spPr>
      </p:sp>
      <p:sp>
        <p:nvSpPr>
          <p:cNvPr id="7" name="Shape 4"/>
          <p:cNvSpPr/>
          <p:nvPr/>
        </p:nvSpPr>
        <p:spPr>
          <a:xfrm>
            <a:off x="812780" y="4188669"/>
            <a:ext cx="38099" cy="1993900"/>
          </a:xfrm>
          <a:prstGeom prst="rect">
            <a:avLst/>
          </a:prstGeom>
          <a:solidFill>
            <a:srgbClr val="1B6FA8"/>
          </a:solidFill>
          <a:ln/>
        </p:spPr>
      </p:sp>
      <p:sp>
        <p:nvSpPr>
          <p:cNvPr id="8" name="Text 5"/>
          <p:cNvSpPr/>
          <p:nvPr/>
        </p:nvSpPr>
        <p:spPr>
          <a:xfrm>
            <a:off x="977876" y="4290269"/>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commission ; le président arrête.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note technique, somme des moyennes ; les grilles reçues ou complètes ; le rang.</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Sous le score minimum, la proposition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éliminée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ici 67,5 points pour un minimum de 70.</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239</a:t>
            </a:r>
            <a:endParaRPr lang="en-US" sz="110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seconde séance et le classement financier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seconde séance et le classement financ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seconde séance n’ouvre que l’enveloppe financière de la proposition retenue ; l’enveloppe éliminée à l’évaluation technique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ne s’ouvre pas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raison est écrite.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Méthode qualité-coût, poids technique 0,8 et financier 0,2 : le classement est arrêté par le président.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240</a:t>
            </a:r>
            <a:endParaRPr lang="en-US" sz="110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saisie d’une enveloppe financière</a:t>
            </a:r>
            <a:endParaRPr lang="en-US" sz="2600" dirty="0"/>
          </a:p>
        </p:txBody>
      </p:sp>
      <p:sp>
        <p:nvSpPr>
          <p:cNvPr id="4" name="Shape 2"/>
          <p:cNvSpPr/>
          <p:nvPr/>
        </p:nvSpPr>
        <p:spPr>
          <a:xfrm>
            <a:off x="1616405" y="1193800"/>
            <a:ext cx="8958885" cy="3327400"/>
          </a:xfrm>
          <a:prstGeom prst="rect">
            <a:avLst/>
          </a:prstGeom>
          <a:solidFill>
            <a:srgbClr val="FCFCFA"/>
          </a:solidFill>
          <a:ln w="9525">
            <a:solidFill>
              <a:srgbClr val="D5DCE4"/>
            </a:solidFill>
            <a:prstDash val="solid"/>
          </a:ln>
        </p:spPr>
      </p:sp>
      <p:pic>
        <p:nvPicPr>
          <p:cNvPr id="5" name="Image 0" descr="La saisie d’une enveloppe financière">    </p:cNvPr>
          <p:cNvPicPr>
            <a:picLocks noChangeAspect="1"/>
          </p:cNvPicPr>
          <p:nvPr/>
        </p:nvPicPr>
        <p:blipFill>
          <a:blip r:embed="rId1"/>
          <a:stretch>
            <a:fillRect/>
          </a:stretch>
        </p:blipFill>
        <p:spPr>
          <a:xfrm>
            <a:off x="1629105" y="1206500"/>
            <a:ext cx="8933486"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Corrections arithmétiques et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dépenses remboursables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saisies par la commission : le montant comparé en découle.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Ces dépenses servent à comparer les propositions ; elles ne changent pas le prix du marché.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241</a:t>
            </a:r>
            <a:endParaRPr lang="en-US" sz="110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négociation à conclure</a:t>
            </a:r>
            <a:endParaRPr lang="en-US" sz="2600" dirty="0"/>
          </a:p>
        </p:txBody>
      </p:sp>
      <p:sp>
        <p:nvSpPr>
          <p:cNvPr id="4" name="Shape 2"/>
          <p:cNvSpPr/>
          <p:nvPr/>
        </p:nvSpPr>
        <p:spPr>
          <a:xfrm>
            <a:off x="2841550" y="1193800"/>
            <a:ext cx="6508596" cy="3327400"/>
          </a:xfrm>
          <a:prstGeom prst="rect">
            <a:avLst/>
          </a:prstGeom>
          <a:solidFill>
            <a:srgbClr val="FCFCFA"/>
          </a:solidFill>
          <a:ln w="9525">
            <a:solidFill>
              <a:srgbClr val="D5DCE4"/>
            </a:solidFill>
            <a:prstDash val="solid"/>
          </a:ln>
        </p:spPr>
      </p:sp>
      <p:pic>
        <p:nvPicPr>
          <p:cNvPr id="5" name="Image 0" descr="La négociation à conclure">    </p:cNvPr>
          <p:cNvPicPr>
            <a:picLocks noChangeAspect="1"/>
          </p:cNvPicPr>
          <p:nvPr/>
        </p:nvPicPr>
        <p:blipFill>
          <a:blip r:embed="rId1"/>
          <a:stretch>
            <a:fillRect/>
          </a:stretch>
        </p:blipFill>
        <p:spPr>
          <a:xfrm>
            <a:off x="2854249" y="1206500"/>
            <a:ext cx="6483197"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négociation se tient avec le premier classé, sur des points non substantiels (art. 42-IV).</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PRMP conclut : réussie, ou échouée et motivée ; le procès-verbal dit ce qui a été négocié et convenu.</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242</a:t>
            </a:r>
            <a:endParaRPr lang="en-US" sz="110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négociation réussie, le rapport à produire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négociation réussie, le rapport à produ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Prix lu et corrigé 2 400 000 000 Ar HT, dépenses remboursables 150 000 000 Ar : montant comparé 2 250 000 000 Ar, score combiné 89,6, rang 1.</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négociation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réussie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son PV se lit en PDF et en Word, et la proposition d’attribution en découle.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lot étant prêt, le responsable produit le rapport, avec ses observations facultatives.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243</a:t>
            </a:r>
            <a:endParaRPr lang="en-US" sz="110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décision motivée, signée, conservée</a:t>
            </a:r>
            <a:endParaRPr lang="en-US" sz="1500" dirty="0"/>
          </a:p>
        </p:txBody>
      </p:sp>
      <p:sp>
        <p:nvSpPr>
          <p:cNvPr id="7" name="Text 5"/>
          <p:cNvSpPr/>
          <p:nvPr/>
        </p:nvSpPr>
        <p:spPr>
          <a:xfrm>
            <a:off x="952476"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Chaque décision de la commission porte son auteur, son heure et son motif ; une décision corrigée laisse la précédente au registre, et le journal de l’évaluation garde tout.</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Pas de conflit d’intérêts caché</a:t>
            </a:r>
            <a:endParaRPr lang="en-US" sz="1500" dirty="0"/>
          </a:p>
        </p:txBody>
      </p:sp>
      <p:sp>
        <p:nvSpPr>
          <p:cNvPr id="11" name="Text 9"/>
          <p:cNvSpPr/>
          <p:nvPr/>
        </p:nvSpPr>
        <p:spPr>
          <a:xfrm>
            <a:off x="4525320"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Aucun membre ne décide avant d’avoir déclaré n’avoir aucun conflit et accepté la confidentialité ; celui qui déclare un conflit ne décide rien.</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montant calculé, jamais saisi</a:t>
            </a:r>
            <a:endParaRPr lang="en-US" sz="1500" dirty="0"/>
          </a:p>
        </p:txBody>
      </p:sp>
      <p:sp>
        <p:nvSpPr>
          <p:cNvPr id="15" name="Text 13"/>
          <p:cNvSpPr/>
          <p:nvPr/>
        </p:nvSpPr>
        <p:spPr>
          <a:xfrm>
            <a:off x="8098164"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montant évalué résulte du calcul de l’application, hors taxes ; une correction hors de ce calcul exige un motif et est signalée au contrôle de la Commission (art. 46-47).</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Pas de rejet sans justification demandée</a:t>
            </a:r>
            <a:endParaRPr lang="en-US" sz="1500" dirty="0"/>
          </a:p>
        </p:txBody>
      </p:sp>
      <p:sp>
        <p:nvSpPr>
          <p:cNvPr id="19" name="Text 17"/>
          <p:cNvSpPr/>
          <p:nvPr/>
        </p:nvSpPr>
        <p:spPr>
          <a:xfrm>
            <a:off x="952476"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Une offre anormale n’est rejetée qu’après une demande écrite de la PRMP, et la réponse du candidat ou l’échéance ; le silence est écrit comme un refus de justifier (art. 48).</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rapport au quorum</a:t>
            </a:r>
            <a:endParaRPr lang="en-US" sz="1500" dirty="0"/>
          </a:p>
        </p:txBody>
      </p:sp>
      <p:sp>
        <p:nvSpPr>
          <p:cNvPr id="23" name="Text 21"/>
          <p:cNvSpPr/>
          <p:nvPr/>
        </p:nvSpPr>
        <p:spPr>
          <a:xfrm>
            <a:off x="4525320"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rapport ne se produit et ne se clôt qu’au quorum fixé, président toujours requis ; le quorum constaté est imprimé au rapport, qui vaut PV de validation.</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évaluation figée sous contrôle</a:t>
            </a:r>
            <a:endParaRPr lang="en-US" sz="1500" dirty="0"/>
          </a:p>
        </p:txBody>
      </p:sp>
      <p:sp>
        <p:nvSpPr>
          <p:cNvPr id="27" name="Text 25"/>
          <p:cNvSpPr/>
          <p:nvPr/>
        </p:nvSpPr>
        <p:spPr>
          <a:xfrm>
            <a:off x="8098164"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Dès que le dossier de marché est soumis, la séance, l’évaluation et l’AMI ne se modifient plus ; seule une reprise ou une réattribution motivée et tracée les rouvre.</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244</a:t>
            </a:r>
            <a:endParaRPr lang="en-US" sz="110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09</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Attribuer et notifier</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Du rapport d’évaluation au marché notifié : le dossier de marché passe au contrôle de la Commission, puis la PRMP attribue, informe, attend, vérifie, signe, fait approuver et enregistrer, notifie et publie — chaque geste n’étant ouvert qu’une fois le précédent accompli et les délais de la loi tenus.</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Aucun marché issu d’une procédure en ligne n’échappe au contrôle a priori : chaque lot attribuable devient un dossier de marché, dont l’application produit elle-même le projet.</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Les délais légaux ne dépendent plus de la vigilance de chacun : délai d’attente, recours suspensifs, pièces de l’attributaire, original de l’acte d’engagement, approbation et enregistrement ferment la signature ou la notification tant qu’ils ne sont pas satisfaits.</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Les candidats sont informés en ligne et par courriel, avec les motifs tirés du rapport ; le résultat, puis l’avis d’attribution, paraissent sur la page publique de la procédure.</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L’application de bout en bout · 245</a:t>
            </a:r>
            <a:endParaRPr lang="en-US" sz="110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rapport signé au marché notifié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lot suit son propre chemin. Quand l’issue n’est pas l’attribution, la PRMP déclare le lot infructueux, reprend l’évaluation après un avis défavorable, réattribue après un retrait, ou demande à déclarer la procédure sans suite.</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PRMP OU SON UGPM</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Le dossier de marché</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Un dossier par lot attribuable, avec le projet de marché et les pièces jointes d’office, part au contrôle de la Commission.</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PRMP</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Attribuer</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Après l’avis favorable de la Commission, le lot va à l’offre proposée par la commission d’appel d’offres, et à elle seule.</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PRMP</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Informer et attendre</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Lettres signées électroniquement à chaque candidat évalué, affichage au siège, puis dix jours francs d’attente.</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L’ATTRIBUTAIRE ET LA PRMP</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Pièces, original et recours</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Attestations fiscale et sociale, original signé de l’acte d’engagement, recours déclarés et tranchés.</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PRMP</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Signer, approuver, enregistrer</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signature s’ouvre quand tout est réuni ; l’approbation et l’enregistrement suivent.</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LA PRMP</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Notifier et publier</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 marché notifié prend effet à sa réception ; l’avis d’attribution paraît dans les trente jours.</a:t>
            </a:r>
            <a:endParaRPr lang="en-US" sz="1150" dirty="0"/>
          </a:p>
        </p:txBody>
      </p:sp>
      <p:sp>
        <p:nvSpPr>
          <p:cNvPr id="34" name="Text 3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246</a:t>
            </a:r>
            <a:endParaRPr lang="en-US" sz="110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dossier de marché au contrôle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rapport signé, la PRMP crée un dossier de marché par lot attribuable. Il suit le circuit ordinaire de la Commission, qui l’examine sur une grille tirée du guide.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247</a:t>
            </a:r>
            <a:endParaRPr lang="en-US" sz="110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DOSSIER DE MARCHÉ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L’attribution, lot par lot</a:t>
            </a:r>
            <a:endParaRPr lang="en-US" sz="2600" dirty="0"/>
          </a:p>
        </p:txBody>
      </p:sp>
      <p:sp>
        <p:nvSpPr>
          <p:cNvPr id="4" name="Shape 2"/>
          <p:cNvSpPr/>
          <p:nvPr/>
        </p:nvSpPr>
        <p:spPr>
          <a:xfrm>
            <a:off x="800080" y="1193800"/>
            <a:ext cx="10591535" cy="1926041"/>
          </a:xfrm>
          <a:prstGeom prst="rect">
            <a:avLst/>
          </a:prstGeom>
          <a:solidFill>
            <a:srgbClr val="FCFCFA"/>
          </a:solidFill>
          <a:ln w="9525">
            <a:solidFill>
              <a:srgbClr val="D5DCE4"/>
            </a:solidFill>
            <a:prstDash val="solid"/>
          </a:ln>
        </p:spPr>
      </p:sp>
      <p:pic>
        <p:nvPicPr>
          <p:cNvPr id="5" name="Image 0" descr="L’attribution, lot par lot">    </p:cNvPr>
          <p:cNvPicPr>
            <a:picLocks noChangeAspect="1"/>
          </p:cNvPicPr>
          <p:nvPr/>
        </p:nvPicPr>
        <p:blipFill>
          <a:blip r:embed="rId1"/>
          <a:stretch>
            <a:fillRect/>
          </a:stretch>
        </p:blipFill>
        <p:spPr>
          <a:xfrm>
            <a:off x="812780" y="1206500"/>
            <a:ext cx="10566136" cy="1900641"/>
          </a:xfrm>
          <a:prstGeom prst="rect">
            <a:avLst/>
          </a:prstGeom>
        </p:spPr>
      </p:pic>
      <p:sp>
        <p:nvSpPr>
          <p:cNvPr id="6" name="Shape 3"/>
          <p:cNvSpPr/>
          <p:nvPr/>
        </p:nvSpPr>
        <p:spPr>
          <a:xfrm>
            <a:off x="812780" y="3259541"/>
            <a:ext cx="10566136" cy="2197100"/>
          </a:xfrm>
          <a:prstGeom prst="rect">
            <a:avLst/>
          </a:prstGeom>
          <a:solidFill>
            <a:srgbClr val="FCFCFA"/>
          </a:solidFill>
          <a:ln w="9525">
            <a:solidFill>
              <a:srgbClr val="D5DCE4"/>
            </a:solidFill>
            <a:prstDash val="solid"/>
          </a:ln>
        </p:spPr>
      </p:sp>
      <p:sp>
        <p:nvSpPr>
          <p:cNvPr id="7" name="Shape 4"/>
          <p:cNvSpPr/>
          <p:nvPr/>
        </p:nvSpPr>
        <p:spPr>
          <a:xfrm>
            <a:off x="812780" y="3259541"/>
            <a:ext cx="38099" cy="2197100"/>
          </a:xfrm>
          <a:prstGeom prst="rect">
            <a:avLst/>
          </a:prstGeom>
          <a:solidFill>
            <a:srgbClr val="1B6FA8"/>
          </a:solidFill>
          <a:ln/>
        </p:spPr>
      </p:sp>
      <p:sp>
        <p:nvSpPr>
          <p:cNvPr id="8" name="Text 5"/>
          <p:cNvSpPr/>
          <p:nvPr/>
        </p:nvSpPr>
        <p:spPr>
          <a:xfrm>
            <a:off x="977876" y="3361141"/>
            <a:ext cx="10274043" cy="20066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L’état du lot et la proposition du rapport : l’offre, le candidat, le montant hors taxes et le délai.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Créer le dossier de marché » : l’application y joint d’office le projet de marché, le DAO complet, le devis de l’offre, le PV d’ouverture et le rapport.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248</a:t>
            </a:r>
            <a:endParaRPr lang="en-US" sz="110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DOSSIER DE MARCHÉ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Deux lots, deux issues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eux lots, deux issu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Lot 1 : le dossier de marché est créé ; le projet de marché se lit en PDF ou en Word, et 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refait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tant que le marché n’est pas signé.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Lot 2 : aucune offre qualifiée, le rapport proposait l’infructuosité ; la PRMP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déclarée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motif, référence et date de sa décision, suite annoncée (relance de la procédure).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demande de déclaration sans suite reste accessible sous les lots.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249</a:t>
            </a:r>
            <a:endParaRPr lang="en-US" sz="110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DOSSIER DE MARCHÉ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dossier de marché, au contrôle de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ossier de marché, au contrôle de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suit ; la Commission examine.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dossier de marché de prestations intellectuelles (sous-type MPI) à l’étape de vérification, avec sa fin de traitement prévue.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jointes d’office : projet de marché, cahier des charges (DAO complet), PV d’ouverture, rapport d’analyse des offres, puis les pièces exigées du sous-type.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actes de gestion ne s’y déposent qu’une fois le marché contrôlé favorablement.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250</a:t>
            </a:r>
            <a:endParaRPr lang="en-US" sz="110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Attribuer et informer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L’avis favorable de la Commission ouvre l’attribution. La PRMP informe alors tous les candidats évalués ; le délai d’attente court depuis la réception présumée de cette information.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251</a:t>
            </a:r>
            <a:endParaRPr lang="en-US" sz="110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lot, après l’avis favorable de la Commission</a:t>
            </a:r>
            <a:endParaRPr lang="en-US" sz="2600" dirty="0"/>
          </a:p>
        </p:txBody>
      </p:sp>
      <p:sp>
        <p:nvSpPr>
          <p:cNvPr id="4" name="Shape 2"/>
          <p:cNvSpPr/>
          <p:nvPr/>
        </p:nvSpPr>
        <p:spPr>
          <a:xfrm>
            <a:off x="800080" y="1193800"/>
            <a:ext cx="10591535" cy="2646974"/>
          </a:xfrm>
          <a:prstGeom prst="rect">
            <a:avLst/>
          </a:prstGeom>
          <a:solidFill>
            <a:srgbClr val="FCFCFA"/>
          </a:solidFill>
          <a:ln w="9525">
            <a:solidFill>
              <a:srgbClr val="D5DCE4"/>
            </a:solidFill>
            <a:prstDash val="solid"/>
          </a:ln>
        </p:spPr>
      </p:sp>
      <p:pic>
        <p:nvPicPr>
          <p:cNvPr id="5" name="Image 0" descr="Le lot, après l’avis favorable de la Commission">    </p:cNvPr>
          <p:cNvPicPr>
            <a:picLocks noChangeAspect="1"/>
          </p:cNvPicPr>
          <p:nvPr/>
        </p:nvPicPr>
        <p:blipFill>
          <a:blip r:embed="rId1"/>
          <a:stretch>
            <a:fillRect/>
          </a:stretch>
        </p:blipFill>
        <p:spPr>
          <a:xfrm>
            <a:off x="812780" y="1206500"/>
            <a:ext cx="10566136" cy="2621574"/>
          </a:xfrm>
          <a:prstGeom prst="rect">
            <a:avLst/>
          </a:prstGeom>
        </p:spPr>
      </p:pic>
      <p:sp>
        <p:nvSpPr>
          <p:cNvPr id="6" name="Shape 3"/>
          <p:cNvSpPr/>
          <p:nvPr/>
        </p:nvSpPr>
        <p:spPr>
          <a:xfrm>
            <a:off x="812780" y="3980474"/>
            <a:ext cx="10566136" cy="1993900"/>
          </a:xfrm>
          <a:prstGeom prst="rect">
            <a:avLst/>
          </a:prstGeom>
          <a:solidFill>
            <a:srgbClr val="FCFCFA"/>
          </a:solidFill>
          <a:ln w="9525">
            <a:solidFill>
              <a:srgbClr val="D5DCE4"/>
            </a:solidFill>
            <a:prstDash val="solid"/>
          </a:ln>
        </p:spPr>
      </p:sp>
      <p:sp>
        <p:nvSpPr>
          <p:cNvPr id="7" name="Shape 4"/>
          <p:cNvSpPr/>
          <p:nvPr/>
        </p:nvSpPr>
        <p:spPr>
          <a:xfrm>
            <a:off x="812780" y="3980474"/>
            <a:ext cx="38099" cy="1993900"/>
          </a:xfrm>
          <a:prstGeom prst="rect">
            <a:avLst/>
          </a:prstGeom>
          <a:solidFill>
            <a:srgbClr val="1B6FA8"/>
          </a:solidFill>
          <a:ln/>
        </p:spPr>
      </p:sp>
      <p:sp>
        <p:nvSpPr>
          <p:cNvPr id="8" name="Text 5"/>
          <p:cNvSpPr/>
          <p:nvPr/>
        </p:nvSpPr>
        <p:spPr>
          <a:xfrm>
            <a:off x="977876" y="4082074"/>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elle seule.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de marché a reçu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la Commission : le lot peut être attribué.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Attribuer à l’offre proposée » : seule l’offre proposée par la commission d’appel d’offres peut l’être (art. 35-VII).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252</a:t>
            </a:r>
            <a:endParaRPr lang="en-US" sz="110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Informer les candidats</a:t>
            </a:r>
            <a:endParaRPr lang="en-US" sz="2600" dirty="0"/>
          </a:p>
        </p:txBody>
      </p:sp>
      <p:sp>
        <p:nvSpPr>
          <p:cNvPr id="4" name="Shape 2"/>
          <p:cNvSpPr/>
          <p:nvPr/>
        </p:nvSpPr>
        <p:spPr>
          <a:xfrm>
            <a:off x="800080" y="1193800"/>
            <a:ext cx="10591535" cy="2183381"/>
          </a:xfrm>
          <a:prstGeom prst="rect">
            <a:avLst/>
          </a:prstGeom>
          <a:solidFill>
            <a:srgbClr val="FCFCFA"/>
          </a:solidFill>
          <a:ln w="9525">
            <a:solidFill>
              <a:srgbClr val="D5DCE4"/>
            </a:solidFill>
            <a:prstDash val="solid"/>
          </a:ln>
        </p:spPr>
      </p:sp>
      <p:pic>
        <p:nvPicPr>
          <p:cNvPr id="5" name="Image 0" descr="Informer les candidats">    </p:cNvPr>
          <p:cNvPicPr>
            <a:picLocks noChangeAspect="1"/>
          </p:cNvPicPr>
          <p:nvPr/>
        </p:nvPicPr>
        <p:blipFill>
          <a:blip r:embed="rId1"/>
          <a:stretch>
            <a:fillRect/>
          </a:stretch>
        </p:blipFill>
        <p:spPr>
          <a:xfrm>
            <a:off x="812780" y="1206500"/>
            <a:ext cx="10566136" cy="2157981"/>
          </a:xfrm>
          <a:prstGeom prst="rect">
            <a:avLst/>
          </a:prstGeom>
        </p:spPr>
      </p:pic>
      <p:sp>
        <p:nvSpPr>
          <p:cNvPr id="6" name="Shape 3"/>
          <p:cNvSpPr/>
          <p:nvPr/>
        </p:nvSpPr>
        <p:spPr>
          <a:xfrm>
            <a:off x="812780" y="3516881"/>
            <a:ext cx="10566136" cy="2197100"/>
          </a:xfrm>
          <a:prstGeom prst="rect">
            <a:avLst/>
          </a:prstGeom>
          <a:solidFill>
            <a:srgbClr val="FCFCFA"/>
          </a:solidFill>
          <a:ln w="9525">
            <a:solidFill>
              <a:srgbClr val="D5DCE4"/>
            </a:solidFill>
            <a:prstDash val="solid"/>
          </a:ln>
        </p:spPr>
      </p:sp>
      <p:sp>
        <p:nvSpPr>
          <p:cNvPr id="7" name="Shape 4"/>
          <p:cNvSpPr/>
          <p:nvPr/>
        </p:nvSpPr>
        <p:spPr>
          <a:xfrm>
            <a:off x="812780" y="3516881"/>
            <a:ext cx="38099" cy="2197100"/>
          </a:xfrm>
          <a:prstGeom prst="rect">
            <a:avLst/>
          </a:prstGeom>
          <a:solidFill>
            <a:srgbClr val="1B6FA8"/>
          </a:solidFill>
          <a:ln/>
        </p:spPr>
      </p:sp>
      <p:sp>
        <p:nvSpPr>
          <p:cNvPr id="8" name="Text 5"/>
          <p:cNvSpPr/>
          <p:nvPr/>
        </p:nvSpPr>
        <p:spPr>
          <a:xfrm>
            <a:off x="977876" y="3618481"/>
            <a:ext cx="10274043" cy="20066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date d’</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affichage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 résultat au siège, puis « Signer et envoyer les lettres » : une lettre par offre évaluée (art. 52).</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motifs de rejet sont tirés du rapport d’évaluation.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253</a:t>
            </a:r>
            <a:endParaRPr lang="en-US" sz="110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Attribué, puis informé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Attribué, puis inform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de marché porte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la Commission ; le lot est attribué à l’offre n° 4 pour 166 000 000 Ar HT, délai 3 mois.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lettres sont signées électroniquement, l’affichage au siège est déclaré ; pour chaque candidat, l’heure du courriel et celle de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première lecture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sur la plateforme, qui vaut accusé de réception.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254</a:t>
            </a:r>
            <a:endParaRPr lang="en-US" sz="11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Délai d’attente, explications et recours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élai d’attente, explications et recou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10 jours francs à compter du 10/10/2026 » :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réception présumée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l’information, 3 jours après l’envoi (ou l’affichage s’il est plus tardif) ; signature possible à partir du 21/10/2026.</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demande d’explication d’un candidat écarté et la réponse écrite de la PRMP.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demande en révision auprès de l’ARMP (art. 80) :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Signature suspendue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jusqu’à la décision, au plus tard le 27/10/2026 » ; la décision se déclare avec son issue et son motif.</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255</a:t>
            </a:r>
            <a:endParaRPr lang="en-US" sz="11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candidat écarté : résultat et motif</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candidat écarté : résultat et motif">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non retenu, dans « Mes offres ».</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Offre non retenue », avec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écartée à l’examen préliminaire pour une garantie insuffisante (DPAO 6.6).</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L’attributaire et le montant, les dates d’information, d’affichage et de signature possible ; la lettre à lire en PDF ou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Sa demande d’explication et la réponse de la PRMP, sous le résultat.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256</a:t>
            </a:r>
            <a:endParaRPr lang="en-US" sz="11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5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résultat public de la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ésultat public de la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visiteur,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publique de la procédure : le résultat par lot — attributaire et montant hors taxes —, avec les dates de communication et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L’extrait du PV d’ouverture et les questions des candidats y restent lisibles ; l’avis d’attribution y paraîtra une fois publié.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257</a:t>
            </a:r>
            <a:endParaRPr lang="en-US" sz="11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58">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pièces de l’attributaire et la signature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 signature du marché ne s’ouvre que lorsque tout est réuni : le délai d’attente écoulé, aucun recours suspensif en cours, les pièces reconnues conformes et, en remise électronique, l’original signé de l’acte d’engagement.</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258</a:t>
            </a:r>
            <a:endParaRPr lang="en-US" sz="110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25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PIÈCES · CANDIDAT ATTRIBUTAIRE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L’attributaire dépose ses pièces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ttributaire dépose ses pièc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attributaire, dans « Mes offres ».</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Votre offre est retenue » ; la lettre d’attribution se lit en PDF ou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fiscale et sociale à déposer avant le 22/10/2026 (art. 20-I) : « Sans elles, le marché vous est retiré » ; chacune se lit ensuite « conforme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Offre déposée et scellée en ligne : il remet aussi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original signé de son acte d’engagement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en dépose le scan ici, sans l’échéance des quinze jours.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259</a:t>
            </a:r>
            <a:endParaRPr lang="en-US" sz="11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6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PIÈCES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vérifiées, l’original attendu</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ièces vérifiées, l’original attendu">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L’échéance des pièces, et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dates de délivrance les plus anciennes admises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(07/04/2026 pour la fiscale, 07/07/2026 pour la sociale) : une pièce plus ancienne ne peut être reconnue conforme.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pièce : sa date de délivrance, son dépôt, son fichier et son état.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L’original de l’acte d’engagement est annoncé « à déposer » ; la PRMP qui l’a reçu l’enregistre (date de remise facultative, scan) puis le vérifie.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260</a:t>
            </a:r>
            <a:endParaRPr lang="en-US" sz="110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26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SIGNATURE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Mise au point et signature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ise au point et signat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mise au point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l’attributaire : calendrier de démarrage précisé, sans modification du prix ni des prestations.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Signer le marché » est ouvert quand le délai d’attente est écoulé, sans recours suspensif, les deux pièces conformes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l’original de l’acte d’engagement reconnu conforme ; le bouton reste fermé ici.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Viennent ensuite l’approbation, l’enregistrement, la notification et l’avis d’attribution (sans capture : aucun lot de la base n’a encore atteint ces états).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261</a:t>
            </a:r>
            <a:endParaRPr lang="en-US" sz="1100"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6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Quand le lot n’est pas attribué</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Un avis défavorable, un retrait du marché ou un motif d’intérêt général ouvrent d’autres issues, toujours motivées et soumises à la Commission quand la loi le veut.</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262</a:t>
            </a:r>
            <a:endParaRPr lang="en-US" sz="110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26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APRÈS UN AVIS DÉFAVORABLE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Après un avis défavorable : infructuosité ou reprise</a:t>
            </a:r>
            <a:endParaRPr lang="en-US" sz="2600" dirty="0"/>
          </a:p>
        </p:txBody>
      </p:sp>
      <p:sp>
        <p:nvSpPr>
          <p:cNvPr id="4" name="Shape 2"/>
          <p:cNvSpPr/>
          <p:nvPr/>
        </p:nvSpPr>
        <p:spPr>
          <a:xfrm>
            <a:off x="2894620" y="1193800"/>
            <a:ext cx="6402454" cy="3327400"/>
          </a:xfrm>
          <a:prstGeom prst="rect">
            <a:avLst/>
          </a:prstGeom>
          <a:solidFill>
            <a:srgbClr val="FCFCFA"/>
          </a:solidFill>
          <a:ln w="9525">
            <a:solidFill>
              <a:srgbClr val="D5DCE4"/>
            </a:solidFill>
            <a:prstDash val="solid"/>
          </a:ln>
        </p:spPr>
      </p:sp>
      <p:pic>
        <p:nvPicPr>
          <p:cNvPr id="5" name="Image 0" descr="Après un avis défavorable : infructuosité ou reprise">    </p:cNvPr>
          <p:cNvPicPr>
            <a:picLocks noChangeAspect="1"/>
          </p:cNvPicPr>
          <p:nvPr/>
        </p:nvPicPr>
        <p:blipFill>
          <a:blip r:embed="rId1"/>
          <a:stretch>
            <a:fillRect/>
          </a:stretch>
        </p:blipFill>
        <p:spPr>
          <a:xfrm>
            <a:off x="2907320" y="1206500"/>
            <a:ext cx="6377055"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de marché a reçu un avis défavorable : la PRMP déclare le lot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infructueux</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(motif, référence et date de sa décision, suite envisagée),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reprend l’évaluation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un motif.</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263</a:t>
            </a:r>
            <a:endParaRPr lang="en-US" sz="110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26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APRÈS UN AVIS DÉFAVORABLE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L’évaluation reprise, le rapport archivé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valuation reprise, le rapport archiv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reprend ; la commission refait le rapport.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Reprise après avis défavorable », datée et motivée : le rapport est repris pour corriger le calendrier de mobilisation.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rapport signé précédent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archivé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lisible en PDF et en Word ; le lot revient « Évaluation en cours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nouveau rapport, puis un nouveau dossier de marché suivront.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264</a:t>
            </a:r>
            <a:endParaRPr lang="en-US" sz="11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26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SANS SUITE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demande de déclaration sans suite</a:t>
            </a:r>
            <a:endParaRPr lang="en-US" sz="2600" dirty="0"/>
          </a:p>
        </p:txBody>
      </p:sp>
      <p:sp>
        <p:nvSpPr>
          <p:cNvPr id="4" name="Shape 2"/>
          <p:cNvSpPr/>
          <p:nvPr/>
        </p:nvSpPr>
        <p:spPr>
          <a:xfrm>
            <a:off x="1420550" y="1193800"/>
            <a:ext cx="9350595" cy="3327400"/>
          </a:xfrm>
          <a:prstGeom prst="rect">
            <a:avLst/>
          </a:prstGeom>
          <a:solidFill>
            <a:srgbClr val="FCFCFA"/>
          </a:solidFill>
          <a:ln w="9525">
            <a:solidFill>
              <a:srgbClr val="D5DCE4"/>
            </a:solidFill>
            <a:prstDash val="solid"/>
          </a:ln>
        </p:spPr>
      </p:sp>
      <p:pic>
        <p:nvPicPr>
          <p:cNvPr id="5" name="Image 0" descr="La demande de déclaration sans suite">    </p:cNvPr>
          <p:cNvPicPr>
            <a:picLocks noChangeAspect="1"/>
          </p:cNvPicPr>
          <p:nvPr/>
        </p:nvPicPr>
        <p:blipFill>
          <a:blip r:embed="rId1"/>
          <a:stretch>
            <a:fillRect/>
          </a:stretch>
        </p:blipFill>
        <p:spPr>
          <a:xfrm>
            <a:off x="1433250" y="1206500"/>
            <a:ext cx="9325195"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tout moment avant la signature d’un marché de la procédure, la PRMP demande,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l’appui.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motifs forment une pièce du dossier soumis à la Commission, qui rend un avis favorable ou défavorable sous cinq jours de la réception.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265</a:t>
            </a:r>
            <a:endParaRPr lang="en-US" sz="110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26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SANS SUITE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dossier de déclaration sans suite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ossier de déclaration sans suit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suit ; la Commission examine.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dossier « Déclaration sans suite » suit le circuit ordinaire, ici à l’étape de vérification.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motifs de la déclaration, en tête des pièces, puis la fiche de présentation, le plan contrôlé, le projet de décision et les justificatifs.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266</a:t>
            </a:r>
            <a:endParaRPr lang="en-US" sz="11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26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SANS SUITE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L’avis favorable : la PRMP déclare</a:t>
            </a:r>
            <a:endParaRPr lang="en-US" sz="2600" dirty="0"/>
          </a:p>
        </p:txBody>
      </p:sp>
      <p:sp>
        <p:nvSpPr>
          <p:cNvPr id="4" name="Shape 2"/>
          <p:cNvSpPr/>
          <p:nvPr/>
        </p:nvSpPr>
        <p:spPr>
          <a:xfrm>
            <a:off x="1016922" y="1193800"/>
            <a:ext cx="10157851" cy="3327400"/>
          </a:xfrm>
          <a:prstGeom prst="rect">
            <a:avLst/>
          </a:prstGeom>
          <a:solidFill>
            <a:srgbClr val="FCFCFA"/>
          </a:solidFill>
          <a:ln w="9525">
            <a:solidFill>
              <a:srgbClr val="D5DCE4"/>
            </a:solidFill>
            <a:prstDash val="solid"/>
          </a:ln>
        </p:spPr>
      </p:sp>
      <p:pic>
        <p:nvPicPr>
          <p:cNvPr id="5" name="Image 0" descr="L’avis favorable : la PRMP déclare">    </p:cNvPr>
          <p:cNvPicPr>
            <a:picLocks noChangeAspect="1"/>
          </p:cNvPicPr>
          <p:nvPr/>
        </p:nvPicPr>
        <p:blipFill>
          <a:blip r:embed="rId1"/>
          <a:stretch>
            <a:fillRect/>
          </a:stretch>
        </p:blipFill>
        <p:spPr>
          <a:xfrm>
            <a:off x="1029622" y="1206500"/>
            <a:ext cx="10132451"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L’avis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rendu, la PRMP déclare le sans suite : la référence et la date de sa décision.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267</a:t>
            </a:r>
            <a:endParaRPr lang="en-US" sz="11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26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SANS SUITE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procédure déclarée sans suite</a:t>
            </a:r>
            <a:endParaRPr lang="en-US" sz="2600" dirty="0"/>
          </a:p>
        </p:txBody>
      </p:sp>
      <p:sp>
        <p:nvSpPr>
          <p:cNvPr id="4" name="Shape 2"/>
          <p:cNvSpPr/>
          <p:nvPr/>
        </p:nvSpPr>
        <p:spPr>
          <a:xfrm>
            <a:off x="800080" y="1193800"/>
            <a:ext cx="10591535" cy="2451149"/>
          </a:xfrm>
          <a:prstGeom prst="rect">
            <a:avLst/>
          </a:prstGeom>
          <a:solidFill>
            <a:srgbClr val="FCFCFA"/>
          </a:solidFill>
          <a:ln w="9525">
            <a:solidFill>
              <a:srgbClr val="D5DCE4"/>
            </a:solidFill>
            <a:prstDash val="solid"/>
          </a:ln>
        </p:spPr>
      </p:sp>
      <p:pic>
        <p:nvPicPr>
          <p:cNvPr id="5" name="Image 0" descr="La procédure déclarée sans suite">    </p:cNvPr>
          <p:cNvPicPr>
            <a:picLocks noChangeAspect="1"/>
          </p:cNvPicPr>
          <p:nvPr/>
        </p:nvPicPr>
        <p:blipFill>
          <a:blip r:embed="rId1"/>
          <a:stretch>
            <a:fillRect/>
          </a:stretch>
        </p:blipFill>
        <p:spPr>
          <a:xfrm>
            <a:off x="812780" y="1206500"/>
            <a:ext cx="10566136" cy="2425749"/>
          </a:xfrm>
          <a:prstGeom prst="rect">
            <a:avLst/>
          </a:prstGeom>
        </p:spPr>
      </p:pic>
      <p:sp>
        <p:nvSpPr>
          <p:cNvPr id="6" name="Shape 3"/>
          <p:cNvSpPr/>
          <p:nvPr/>
        </p:nvSpPr>
        <p:spPr>
          <a:xfrm>
            <a:off x="812780" y="3784649"/>
            <a:ext cx="10566136" cy="1993900"/>
          </a:xfrm>
          <a:prstGeom prst="rect">
            <a:avLst/>
          </a:prstGeom>
          <a:solidFill>
            <a:srgbClr val="FCFCFA"/>
          </a:solidFill>
          <a:ln w="9525">
            <a:solidFill>
              <a:srgbClr val="D5DCE4"/>
            </a:solidFill>
            <a:prstDash val="solid"/>
          </a:ln>
        </p:spPr>
      </p:sp>
      <p:sp>
        <p:nvSpPr>
          <p:cNvPr id="7" name="Shape 4"/>
          <p:cNvSpPr/>
          <p:nvPr/>
        </p:nvSpPr>
        <p:spPr>
          <a:xfrm>
            <a:off x="812780" y="3784649"/>
            <a:ext cx="38099" cy="1993900"/>
          </a:xfrm>
          <a:prstGeom prst="rect">
            <a:avLst/>
          </a:prstGeom>
          <a:solidFill>
            <a:srgbClr val="1B6FA8"/>
          </a:solidFill>
          <a:ln/>
        </p:spPr>
      </p:sp>
      <p:sp>
        <p:nvSpPr>
          <p:cNvPr id="8" name="Text 5"/>
          <p:cNvSpPr/>
          <p:nvPr/>
        </p:nvSpPr>
        <p:spPr>
          <a:xfrm>
            <a:off x="977876" y="3886249"/>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procédure est close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sans suite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les candidats en sont informés, avec les motifs.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aucun geste d’attribution n’est possible.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268</a:t>
            </a:r>
            <a:endParaRPr lang="en-US" sz="11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269">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actes de gestion du marché</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Une fois le marché contrôlé favorablement, ses avenants, résiliations, indemnités, remises de pénalités et sursis se déposent depuis son dossier, et reviennent au contrôle de la Commission.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269</a:t>
            </a:r>
            <a:endParaRPr lang="en-US" sz="110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27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ACTES DE GESTION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marché et ses actes de gestion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marché et ses actes de ges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montant initial (166 000 000 Ar HT) et la catégorie ; les avenants cumulés face au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plafond du tiers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20 000 000 Ar sur 55 333 333,33 Ar.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L’avenant n° 1 soumis, une remise de pénalités en brouillon ; « Déposer un acte de gestion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jointes d’office au dossier de marché : projet de marché, cahier des charges, PV d’ouverture, rapport d’analyse, devis.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270</a:t>
            </a:r>
            <a:endParaRPr lang="en-US" sz="110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27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ACTES DE GESTION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Déposer un avenant</a:t>
            </a:r>
            <a:endParaRPr lang="en-US" sz="2600" dirty="0"/>
          </a:p>
        </p:txBody>
      </p:sp>
      <p:sp>
        <p:nvSpPr>
          <p:cNvPr id="4" name="Shape 2"/>
          <p:cNvSpPr/>
          <p:nvPr/>
        </p:nvSpPr>
        <p:spPr>
          <a:xfrm>
            <a:off x="800080" y="1193800"/>
            <a:ext cx="7327717" cy="4571206"/>
          </a:xfrm>
          <a:prstGeom prst="rect">
            <a:avLst/>
          </a:prstGeom>
          <a:solidFill>
            <a:srgbClr val="FCFCFA"/>
          </a:solidFill>
          <a:ln w="9525">
            <a:solidFill>
              <a:srgbClr val="D5DCE4"/>
            </a:solidFill>
            <a:prstDash val="solid"/>
          </a:ln>
        </p:spPr>
      </p:sp>
      <p:pic>
        <p:nvPicPr>
          <p:cNvPr id="5" name="Image 0" descr="Déposer un avenant">    </p:cNvPr>
          <p:cNvPicPr>
            <a:picLocks noChangeAspect="1"/>
          </p:cNvPicPr>
          <p:nvPr/>
        </p:nvPicPr>
        <p:blipFill>
          <a:blip r:embed="rId1"/>
          <a:stretch>
            <a:fillRect/>
          </a:stretch>
        </p:blipFill>
        <p:spPr>
          <a:xfrm>
            <a:off x="812780" y="1206500"/>
            <a:ext cx="7302317" cy="4545806"/>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L’acte (avenant, résiliation, indemnité, pénalités, sursis), le montant hors taxes de l’avenant, les faits du marché (réceptions, solde) ; la projection du cumul s’affiche avant le dépôt.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271</a:t>
            </a:r>
            <a:endParaRPr lang="en-US" sz="110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27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ACTES DE GESTION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L’acte en brouillon : pièces et soumission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te en brouillon : pièces et sou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remise de pénalités née du marché, en brouillon : ses déclarations, les pièces exigées de son sous-type, un lien vers le dossier du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Quand toutes les pièces obligatoires sont jointes, l’acte se soumet à la Commission.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272</a:t>
            </a:r>
            <a:endParaRPr lang="en-US" sz="1100"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27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ACTES DE GESTION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L’avenant soumis à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venant soumis à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suit ; la Commission examine.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L’avenant n° 1 (20 000 000 Ar HT), déposé le 09/10, est en réception à la Commission, avec sa fin de traitement prévue.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Ses six pièces : fiche de présentation, projet d’avenant, marché initial signé et approuvé, PV de la Commission sur le marché, accord des parties, élément déclencheur.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273</a:t>
            </a:r>
            <a:endParaRPr lang="en-US" sz="110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27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contrôle sans exception</a:t>
            </a:r>
            <a:endParaRPr lang="en-US" sz="1500" dirty="0"/>
          </a:p>
        </p:txBody>
      </p:sp>
      <p:sp>
        <p:nvSpPr>
          <p:cNvPr id="7" name="Text 5"/>
          <p:cNvSpPr/>
          <p:nvPr/>
        </p:nvSpPr>
        <p:spPr>
          <a:xfrm>
            <a:off x="952476"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Chaque marché issu d’une procédure en ligne passe au contrôle a priori de la Commission, sans seuil, et il n’est attribué qu’à l’offre proposée par la commission d’appel d’offres.</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délai d’attente qui protège les candidats</a:t>
            </a:r>
            <a:endParaRPr lang="en-US" sz="1500" dirty="0"/>
          </a:p>
        </p:txBody>
      </p:sp>
      <p:sp>
        <p:nvSpPr>
          <p:cNvPr id="11" name="Text 9"/>
          <p:cNvSpPr/>
          <p:nvPr/>
        </p:nvSpPr>
        <p:spPr>
          <a:xfrm>
            <a:off x="4525320"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Dix jours francs depuis la réception présumée de l’information (ou l’affichage, s’il est plus tardif) : avant, la signature est refusée et la date « signature possible » est affichée (art. 78).</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recours qui suspendent vraiment</a:t>
            </a:r>
            <a:endParaRPr lang="en-US" sz="1500" dirty="0"/>
          </a:p>
        </p:txBody>
      </p:sp>
      <p:sp>
        <p:nvSpPr>
          <p:cNvPr id="15" name="Text 13"/>
          <p:cNvSpPr/>
          <p:nvPr/>
        </p:nvSpPr>
        <p:spPr>
          <a:xfrm>
            <a:off x="8098164"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types de recours suspensifs sont réglés par l’Administrateur (par défaut la révision par l’ARMP et le référé) ; tant qu’un tel recours attend sa décision, ou qu’une demande de sans suite attend l’avis de la Commission, aucun marché ne se signe.</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attributaire en règle</a:t>
            </a:r>
            <a:endParaRPr lang="en-US" sz="1500" dirty="0"/>
          </a:p>
        </p:txBody>
      </p:sp>
      <p:sp>
        <p:nvSpPr>
          <p:cNvPr id="19" name="Text 17"/>
          <p:cNvSpPr/>
          <p:nvPr/>
        </p:nvSpPr>
        <p:spPr>
          <a:xfrm>
            <a:off x="952476"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Pièces fiscale et sociale déposées dans les quinze jours et assez récentes à la notification de l’attribution, original signé de l’acte d’engagement remis en remise électronique : sans elles, la signature reste fermée, et le marché peut être retiré.</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Approuvé et enregistré avant d’être notifié</a:t>
            </a:r>
            <a:endParaRPr lang="en-US" sz="1500" dirty="0"/>
          </a:p>
        </p:txBody>
      </p:sp>
      <p:sp>
        <p:nvSpPr>
          <p:cNvPr id="23" name="Text 21"/>
          <p:cNvSpPr/>
          <p:nvPr/>
        </p:nvSpPr>
        <p:spPr>
          <a:xfrm>
            <a:off x="4525320"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Après la signature, la PRMP déclare l’approbation par l’autorité compétente et l’enregistrement, pièces jointes ; la notification ne s’ouvre qu’ensuite, à une date qui ne les précède pas (art. 54). Le marché prend effet à sa réception par l’attributaire.</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avis d’attribution suivi</a:t>
            </a:r>
            <a:endParaRPr lang="en-US" sz="1500" dirty="0"/>
          </a:p>
        </p:txBody>
      </p:sp>
      <p:sp>
        <p:nvSpPr>
          <p:cNvPr id="27" name="Text 25"/>
          <p:cNvSpPr/>
          <p:nvPr/>
        </p:nvSpPr>
        <p:spPr>
          <a:xfrm>
            <a:off x="8098164"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L’avis se publie dans les trente jours de la réception de la notification par le titulaire ; la PRMP est alertée au vingtième jour, un avis en retard est signalé sur ses écrans.</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274</a:t>
            </a:r>
            <a:endParaRPr lang="en-US" sz="1100"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275">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10</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Intérim et mandats</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Qui agit quand un titulaire est absent, et jusqu’à quand une PRMP est en fonction : deux continuités tenues par l’application, sur pièce et avec des dates.</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 Président et le Chef de commission ne sont plus des points uniques de défaillance : leur absence est couverte d’avance, par un intérimaire nommé, sur note de service.</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Chaque acte posé par intérim reste au nom de celui qui l’a posé, avec la mention « par intérim de » : la responsabilité ne se dilue jamais.</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 mandat de chaque PRMP est tenu à jour avec son arrêté : une PRMP sans mandat en cours ne peut plus faire avancer ses dossiers, et la Commission, elle, n’est jamais arrêtée.</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L’application de bout en bout · 275</a:t>
            </a:r>
            <a:endParaRPr lang="en-US" sz="1100" dirty="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27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INTÉRIM ET MANDATS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 l’absence déclarée à la reprise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L’intérim couvre l’absence d’un contrôleur qui dirige le circuit ; le mandat encadre la durée de fonction d’une PRMP. Les deux se lisent dans des historiques qui ne s’effacent pas.</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PRÉSIDENT OU LE CHEF DE COMMISSION</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Déclarer son absence</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titulaire désigne lui-même son intérimaire, pour une période, avec la note de service en PDF.</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L’ADMINISTRATEUR</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Désigner en repli</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Si l’absent n’a rien déclaré, l’Administrateur désigne ou révoque à sa place.</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L’INTÉRIMAIRE</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Agir par intérim</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L’intérimaire dispatche, vise, retourne et signe sa part dans le périmètre du titulaire, sous son propre nom.</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L’ADMINISTRATEUR</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Nommer la PRMP</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L’Administrateur déclare le mandat de trois ans à partir de l’arrêté de nomination.</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L’ADMINISTRATEUR</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Reconduire une fois</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Une reconduction est un nouveau mandat, avec un nouvel arrêté ; jamais une prolongation.</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LE TITULAIRE</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Reprendre sans perte</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À la fin de l’absence ou de la vacance, le titulaire retrouve ses dossiers ; rien n’a été réattribué.</a:t>
            </a:r>
            <a:endParaRPr lang="en-US" sz="1150" dirty="0"/>
          </a:p>
        </p:txBody>
      </p:sp>
      <p:sp>
        <p:nvSpPr>
          <p:cNvPr id="34" name="Text 3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276</a:t>
            </a:r>
            <a:endParaRPr lang="en-US" sz="1100" dirty="0"/>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27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INTÉRIM ET MANDATS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L’intérim des contrôleurs qui dirigent le circuit</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Président et le Chef de commission désignent d’avance qui agit à leur place pendant une absence. L’intérim est un acte daté, appuyé sur une pièce, qui ne se modifie jamais.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277</a:t>
            </a:r>
            <a:endParaRPr lang="en-US" sz="1100"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27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INTÉRIM ·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Mon intérim</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on intérim">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et le Chef de commission, chacun pour sa propre absence.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L’écran rappelle l’engagement : les dossiers et les actions du titulaire sont ouverts à l’intérimaire,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sous son nom</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tracés « par intérim de vous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titulaire garde ses propres dossiers ; ses notifications sont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copiées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l’intérimaire.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L’historique montre chaque intérim avec sa période, son motif, sa référence, sa pièce et son statut — ici un intérim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révoqué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avant terme, avec la date et la raison.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278</a:t>
            </a:r>
            <a:endParaRPr lang="en-US" sz="1100" dirty="0"/>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27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INTÉRIM ·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Désigner un intérimaire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ésigner un intérima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titulaire absent.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ne propose que les personnes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admissibles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pour un Chef de commission, un autre Chef de commission ou un Membre de sa localité.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Période, motif (congé, mission, maladie, vacance de poste, autre) et référence de la note de service sont exigés.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note de service ou la décision est jointe en PDF ; elle reste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consultable par la Commission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279</a:t>
            </a:r>
            <a:endParaRPr lang="en-US" sz="1100" dirty="0"/>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name="Slide 28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INTÉRIM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intérims des contrôleurs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intérims des contrôleu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Tous les intérims de la Commission en une liste : titulaire, intérimaire, période, motif, référence, statut et auteur de la désignation.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désigne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repli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pour un absent qui n’a rien déclaré, et peut révoquer.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fin avant terme est une révocation, une prolongation un nouvel intérim : l’historique reste complet.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280</a:t>
            </a:r>
            <a:endParaRPr lang="en-US" sz="1100" dirty="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name="Slide 281">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INTÉRIM ET MANDATS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mandat de la PRMP</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 PRMP agit en vertu d’un arrêté de nomination. L’application tient le registre de ses mandats et en tire les conséquences, sans intervention manuelle.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281</a:t>
            </a:r>
            <a:endParaRPr lang="en-US" sz="1100" dirty="0"/>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28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MANDATS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mandats des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mandats des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mandat : PRMP, titulaire, numéro, début à la date de l’arrêté, fin, référence de l’arrêté,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mandat dure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trois ans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ne se renouvelle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qu’une fois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 reconduction exige un nouvel arrêté.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PRMP saisie avant ce registre reçoit un mandat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implicite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reconstitué depuis sa fiche, jusqu’à la déclaration du mandat initial.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282</a:t>
            </a:r>
            <a:endParaRPr lang="en-US" sz="1100"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28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MANDATS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Nommer ou reconduire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Nommer ou recondu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nomination ou une reconduction se déclare avec la référence d’un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nouvel arrêté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 arrêté n’est jamais réutilisé, même pour la même personne.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fin se propose d’office : date de l’arrêté plus trois ans, moins un jour ; elle ne peut pas aller au-delà.</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nouveau mandat en cours rouvre le compte de la PRMP reconduite et lève l’attente de ses dossiers.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283</a:t>
            </a:r>
            <a:endParaRPr lang="en-US" sz="1100"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28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INTÉRIM ET MANDATS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Aucun vide à la tête du circuit</a:t>
            </a:r>
            <a:endParaRPr lang="en-US" sz="1500" dirty="0"/>
          </a:p>
        </p:txBody>
      </p:sp>
      <p:sp>
        <p:nvSpPr>
          <p:cNvPr id="7" name="Text 5"/>
          <p:cNvSpPr/>
          <p:nvPr/>
        </p:nvSpPr>
        <p:spPr>
          <a:xfrm>
            <a:off x="952476"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Président et chaque Chef de commission peuvent être suppléés d’avance, pour une période connue de tous.</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Chaque acte a son auteur</a:t>
            </a:r>
            <a:endParaRPr lang="en-US" sz="1500" dirty="0"/>
          </a:p>
        </p:txBody>
      </p:sp>
      <p:sp>
        <p:nvSpPr>
          <p:cNvPr id="11" name="Text 9"/>
          <p:cNvSpPr/>
          <p:nvPr/>
        </p:nvSpPr>
        <p:spPr>
          <a:xfrm>
            <a:off x="4525320"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L’intérimaire agit sous sa propre identité ; le journal et le chronométrage portent la mention « par intérim de ».</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acte appuyé sur une pièce</a:t>
            </a:r>
            <a:endParaRPr lang="en-US" sz="1500" dirty="0"/>
          </a:p>
        </p:txBody>
      </p:sp>
      <p:sp>
        <p:nvSpPr>
          <p:cNvPr id="15" name="Text 13"/>
          <p:cNvSpPr/>
          <p:nvPr/>
        </p:nvSpPr>
        <p:spPr>
          <a:xfrm>
            <a:off x="8098164"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Pas d’intérim sans note de service ou décision jointe ; elle reste consultable par la Commission.</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Rien ne s’efface</a:t>
            </a:r>
            <a:endParaRPr lang="en-US" sz="1500" dirty="0"/>
          </a:p>
        </p:txBody>
      </p:sp>
      <p:sp>
        <p:nvSpPr>
          <p:cNvPr id="19" name="Text 17"/>
          <p:cNvSpPr/>
          <p:nvPr/>
        </p:nvSpPr>
        <p:spPr>
          <a:xfrm>
            <a:off x="952476"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Intérims et mandats ne se modifient pas : une révocation, une abrogation ou une reconduction s’ajoute à l’historique.</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La loi sur la durée des mandats</a:t>
            </a:r>
            <a:endParaRPr lang="en-US" sz="1500" dirty="0"/>
          </a:p>
        </p:txBody>
      </p:sp>
      <p:sp>
        <p:nvSpPr>
          <p:cNvPr id="23" name="Text 21"/>
          <p:cNvSpPr/>
          <p:nvPr/>
        </p:nvSpPr>
        <p:spPr>
          <a:xfrm>
            <a:off x="4525320"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Trois ans au plus, une seule reconduction, un nouvel arrêté à chaque fois : l’application refuse le reste.</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La Commission n’est jamais suspendue</a:t>
            </a:r>
            <a:endParaRPr lang="en-US" sz="1500" dirty="0"/>
          </a:p>
        </p:txBody>
      </p:sp>
      <p:sp>
        <p:nvSpPr>
          <p:cNvPr id="27" name="Text 25"/>
          <p:cNvSpPr/>
          <p:nvPr/>
        </p:nvSpPr>
        <p:spPr>
          <a:xfrm>
            <a:off x="8098164"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vacance d’une PRMP met ses propres gestes en attente ; le contrôle de la Commission, lui, continue.</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284</a:t>
            </a:r>
            <a:endParaRPr lang="en-US" sz="1100" dirty="0"/>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name="Slide 285">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11</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Administrer</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L’Administrateur ouvre les accès, règle le moteur du contrôle et les paramètres de la commande publique, et garde la trace de tout ce qui se fait.</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Les règles de la CNM ne sont plus figées dans le logiciel : délais, quorum, recours suspensifs, grilles de contrôle et référentiels se règlent à l’écran, sans redéploiement, et chaque changement est daté et signé.</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Les délais de la loi n° 2016-055 sont inscrits dans l’application et ne se règlent pas : ceux qui sont bloquants refusent le geste qui les enfreindrait.</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Chaque accès, chaque écriture et chaque connexion sont journalisés dans un journal que personne ne peut modifier : l’Administrateur sait à tout moment qui a fait quoi.</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L’application de bout en bout · 285</a:t>
            </a:r>
            <a:endParaRPr lang="en-US" sz="1100" dirty="0"/>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name="Slide 28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ADMINISTRER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journée de l’Administrateur</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 poste d’administration dit d’abord ce qui bloque quelqu’un d’autre ; viennent ensuite les réglages, puis les traces.</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L’ADMINISTRATEUR</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Débloquer</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Valider les inscriptions et les rattachements, désigner les responsables des procédures en ligne.</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L’ADMINISTRATEUR</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Tenir les comptes</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Retrouver une personne, ses droits, sa place dans l’organisation ; créer, suspendre ou réactiver.</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L’ADMINISTRATEUR</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Régler le contrôle</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Chaînes, délais, points de contrôle, seuils et alertes du circuit de la Commission.</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L’ADMINISTRATEUR</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Régler la commande publique</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Quorum de la commission d’appel d’offres, recours suspensifs, transition SIGMP, remise électronique, compte de l’ARMP.</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L’ADMINISTRATEUR</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Encadrer les candidats</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Paramètres de l’espace en ligne, vérification des NIF, exclusions de l’ARMP.</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L’ADMINISTRATEUR</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Rendre compte</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 journal des écritures et des connexions, les actualités diffusées à l’ouverture de session.</a:t>
            </a:r>
            <a:endParaRPr lang="en-US" sz="1150" dirty="0"/>
          </a:p>
        </p:txBody>
      </p:sp>
      <p:sp>
        <p:nvSpPr>
          <p:cNvPr id="34" name="Text 3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286</a:t>
            </a:r>
            <a:endParaRPr lang="en-US" sz="1100" dirty="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name="Slide 28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Ouvrir les accès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Personne n’entre dans l’application sans que l’Administrateur ait vérifié son identité et son rattachement. Le poste d’administration met en tête ce qui fait attendre les autres.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287</a:t>
            </a:r>
            <a:endParaRPr lang="en-US" sz="1100" dirty="0"/>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name="Slide 28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poste d’administration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oste d’administra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À traiter maintenant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inscriptions de PRMP et d’UGPM, rattachements PRMP ⇄ entité, procédures en ligne sans responsable.</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Derniers changements de paramétrage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quand, qui, quel réglage — ici la transition SIGMP et les délais par sous-type.</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À surveiller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mandats de PRMP arrivant à terme dans les 30 jours, connexions refusées depuis 24 heures ; comptes actifs, suspendus et sessions ouvertes.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288</a:t>
            </a:r>
            <a:endParaRPr lang="en-US" sz="1100" dirty="0"/>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name="Slide 28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ACCÈS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demandes d’accès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emandes d’accè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PRMP inscrites en ligne attendent la validation : l’Administrateur vérifie l’identité et les pièces, puis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active ou refuse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compte.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Aucune demande n’est en attente ce jour ; le compteur du menu les signale dès qu’il y en a.</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289</a:t>
            </a:r>
            <a:endParaRPr lang="en-US" sz="1100" dirty="0"/>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name="Slide 29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ACCÈS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rattachements en attente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rattachements en attent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entité créée à l’import d’un plan attend son approbation avant de devenir sélectionnable par la PRMP.</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Approuver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rend l’entité utilisable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rejeter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retire le rattachement, l’entité restant au référentiel.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290</a:t>
            </a:r>
            <a:endParaRPr lang="en-US" sz="1100" dirty="0"/>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name="Slide 29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ACCÈS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Comptes et personnes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omptes et personn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Toutes les personnes de l’application en une liste — contrôleurs, PRMP, UGPM — filtrable par type, profil, localité et état du compte.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réunit l’accès (dernière connexion, échecs sur 30 jours), la place dans l’organisation (supérieur,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délégations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chaîne de contrôle) et l’activité au journal.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Depuis la fiche : réinitialiser le mot de passe, suspendre le compte, modifier la fiche, changer de chaîne.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291</a:t>
            </a:r>
            <a:endParaRPr lang="en-US" sz="1100" dirty="0"/>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name="Slide 29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ACCÈS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Créer une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réer une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reprend l’arrêté de nomination (référence et date), la carte d’identité, les coordonnées et l’identifiant de connexion.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Arrêté, carte d’identité et photo se joignent en pièces ; le compte créé ici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immédiatement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utilisable.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PRMP existante se gère depuis la liste : fiche, compte, entités, pièces.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292</a:t>
            </a:r>
            <a:endParaRPr lang="en-US" sz="1100" dirty="0"/>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name="Slide 29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ACCÈS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comptes des contrôleurs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omptes des contrôleu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contrôleur de la Commission : matricule, profil, localité, supérieur hiérarchique, caractère transversal.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Douze contrôleurs sont enregistrés sur la base de démonstration, de la Centrale et de la région Atsinanana.</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293</a:t>
            </a:r>
            <a:endParaRPr lang="en-US" sz="1100" dirty="0"/>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name="Slide 29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Régler le contrôle de la Commission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circuit de contrôle suit des réglages que l’Administrateur tient à jour : qui vérifie après qui, combien de temps chaque étape doit prendre, sur quels points porte l’examen.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294</a:t>
            </a:r>
            <a:endParaRPr lang="en-US" sz="1100" dirty="0"/>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name="Slide 29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CONTRÔLE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chaînes de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haînes de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Membre a son Vérificateur, chaque Vérificateur son Assistant : la vérification des documents rectifiés et l’archivage sont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adressés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long de ces chaînes.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chaîne incomplète ne bloque rien : tout Vérificateur ou Assistant de la localité reste compétent, et l’écran le signale « repli localité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295</a:t>
            </a:r>
            <a:endParaRPr lang="en-US" sz="1100" dirty="0"/>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name="Slide 29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CONTRÔLE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Délais standards et délais de la loi</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élais standards et délais de la loi">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règle ; tous lisent.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délai de chaque étape du circuit,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heures ouvrées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(8 heures = 1 jour) : il fait la date de fin annoncée à la PRMP dès la soumission.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neuf délais de la loi n° 2016-055</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publicité, questions des candidats, plan réputé approuvé, attente avant signature, pièces de l’attributaire, avis d’attribution, déclaration sans suite — avec leur article et leur effet : ils ne se règlent pas.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délais issus des décrets et du manuel sont réglables et seulement signalés ; un sous-type de dossier peut avoir ses propres délais.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296</a:t>
            </a:r>
            <a:endParaRPr lang="en-US" sz="1100" dirty="0"/>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name="Slide 29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CONTRÔLE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points de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oints de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grille d’examen du manuel de contrôle, point par point : libellé, question posée au contrôleur, ordre, caractère obligatoire.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point vaut pour toute une famille de dossiers, ou pour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sous-type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il peut ne viser qu’une catégorie ou une forme de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Sa portée le range dans la grille : par ligne de marché, une fois pour le dossier, sur la fiche de présentation ou sur l’avis général.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297</a:t>
            </a:r>
            <a:endParaRPr lang="en-US" sz="1100" dirty="0"/>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name="Slide 29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CONTRÔLE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seuil AGPM de l’AMI</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seuil AGPM de l’AMI">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montant à partir duquel un marché en appel à manifestation d’intérêt rend l’avis général de passation requis, comparé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marché par marché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borne incluse.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Réglé à 0 ce jour : tout marché en AMI le déclenche. Les appels d’offres le déclenchent toujours ; le gré à gré et la consultation, jamais.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298</a:t>
            </a:r>
            <a:endParaRPr lang="en-US" sz="1100" dirty="0"/>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name="Slide 29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CONTRÔLE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d’alerte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règles d’alert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règle fixe un jalon, le nombre de jours avant l’échéance et le profil prévenu ; elle s’active ou se désactive.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Aucune règle n’est enregistrée sur la base de démonstration.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299</a:t>
            </a:r>
            <a:endParaRPr lang="en-US" sz="1100" dirty="0"/>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name="Slide 30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PRÉ-CONTRÔLE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taux d’écartement des règles du pré-contrôle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taux d’écartement des règles du pré-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chaque règle du pré-contrôle du plan de passation : signalements observés, ouverts,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écartés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levés.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règle écartée presque à chaque fois fatigue la PRMP et le contrôleur : elle s’éteint depuis les règles d’anomalie, sans perdre les motifs déjà saisis.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jour : 68 signalements, aucun écarté.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300</a:t>
            </a:r>
            <a:endParaRPr lang="en-US" sz="1100" dirty="0"/>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name="Slide 301">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Tenir les référentiels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Les listes que tout le monde utilise — entités, modes de passation, natures, pièces, statuts — vivent dans des nomenclatures que l’Administrateur tient à jour sans intervention technique.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301</a:t>
            </a:r>
            <a:endParaRPr lang="en-US" sz="1100" dirty="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name="Slide 30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RÉFÉRENTIELS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nomenclatures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nomenclatur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sommaire de tous les référentiels : entités, localités, natures, modes de passation, types et sous-types de dossier, pièces, statuts de marché, délégations de profil…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ouvre aussi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réglages de la commande publique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quorum de la commission d’appel d’offres, transition SIGMP, recours suspensifs, remise électronique, compte de l’ARMP, espace candidat, exclusions.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302</a:t>
            </a:r>
            <a:endParaRPr lang="en-US" sz="1100" dirty="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name="Slide 30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RÉFÉRENTIELS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L’arbre des entités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rbre des entit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entités contractantes rangées par niveau : ministère, direction générale…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localité d’un dossier vient de l’entité choisie à la saisie, jamais de la PRMP.</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303</a:t>
            </a:r>
            <a:endParaRPr lang="en-US" sz="1100" dirty="0"/>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name="Slide 30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RÉFÉRENTIELS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Mode de passation → type de dossier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ode de passation → type de doss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type de dossier de mise en concurrence d’un marché (DAO, dossier de consultation, bon de commande) se déduit de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mode de passation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modes sans rattachement sont signalés « Non mappé » : aucune fiche ne peut se créer sur leurs lignes.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304</a:t>
            </a:r>
            <a:endParaRPr lang="en-US" sz="1100" dirty="0"/>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name="Slide 30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RÉFÉRENTIELS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champs de la fiche DAO</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hamps de la fiche DAO">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L’écran de la fiche DAO est dessiné depuis ce référentiel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699 informations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488 actives, 23 reprises du plan et 26 du cadrage.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champ dit sa source, le document où il s’imprime, les marchés concernés et sa condition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Ajouter une information ou changer sa condition ne demande aucune intervention technique ; un champ ne se supprime pas, il se désactive.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305</a:t>
            </a:r>
            <a:endParaRPr lang="en-US" sz="1100" dirty="0"/>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name="Slide 306">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paramètres de la commande publique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manuel de contrôle révisé (octobre 2026) a fait de plusieurs choix de droit des réglages de l’Administrateur : chacun vaut pour toutes les procédures dès son enregistrement.</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306</a:t>
            </a:r>
            <a:endParaRPr lang="en-US" sz="1100" dirty="0"/>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name="Slide 30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PARAMÈTRES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quorum de la commission d’appel d’offres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quorum de la commission d’appel d’offr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Trois règles possibles :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majorité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des membres désignés (par défaut), tous les membres, ou un nombre minimal.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président de la commission, ou le représentant qu’il désigne, est toujours requis en plus du nombre.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quorum se vérifie à la clôture des séances, à la production du rapport d’évaluation et à l’arrêt de la liste de l’AMI ; un empêchement qui le rendrait inatteignable est refusé.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307</a:t>
            </a:r>
            <a:endParaRPr lang="en-US" sz="1100" dirty="0"/>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name="Slide 30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PARAMÈTRES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recours suspensifs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recours suspensif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recours qui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arrêtent la signature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 marché jusqu’à leur décision, vingt jours au plus : révision auprès de l’ARMP (art. 80) et référé précontractuel (art. 78), cochés ce jour.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demande de réexamen auprès de la PRMP (art. 79) peut être ajoutée ; la PRMP y répond sous dix jours.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réglage vaut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immédiatement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y compris pour les recours déjà déclarés.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308</a:t>
            </a:r>
            <a:endParaRPr lang="en-US" sz="1100" dirty="0"/>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name="Slide 30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PARAMÈTRES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transition SIGMP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transition SIG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L’avis spécifique, la lettre d’invitation et l’avis général produits par l’application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tiennent lieu</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d’imprimés du SIGMP.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Jusqu’à la date de fin de transition, l’imprimé du SIGMP reste accepté mais facultatif pour les procédures en ligne ; ensuite il n’est plus demandé. Aucune date n’est fixée ce jour.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décision formelle d’équivalence (référence et date) s’imprime au pied de chaque document ; en attendant : « Projet — équivalence SIGMP en attente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309</a:t>
            </a:r>
            <a:endParaRPr lang="en-US" sz="1100" dirty="0"/>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name="Slide 3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PARAMÈTRES · REMISE ÉLECTRONIQUE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remise électronique : défauts et bornes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remise électronique : défauts et born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que la fiche DAO propose d’avance en remise électronique : adresse de la plateforme, fuseau horaire, assistance aux candidats, quorum de déchiffrement proposé (3 sur 5).</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que ses contrôles exigent au minimum : niveau de signature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Simple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ce jour), taille maximale de la plateforme (500 Mo), délai minimal entre publication et date limite (30 jours).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rappel aux détenteurs d’une part de clé non vérifiée, 7 jours avant la date limite.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310</a:t>
            </a:r>
            <a:endParaRPr lang="en-US" sz="1100" dirty="0"/>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name="Slide 3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PARAMÈTRES · REMISE ÉLECTRONIQUE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compte bancaire de l’ARMP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compte bancaire de l’A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 unique où se verse le prix d’un dossier d’appel d’offres : banque, titulaire, numéro.</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L’avis spécifique l’imprime ; l’écran montre la phrase telle qu’elle paraîtra.</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n’est pas encore réglé sur la base de démonstration : les avis impriment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pointillés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sa place.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311</a:t>
            </a:r>
            <a:endParaRPr lang="en-US" sz="1100" dirty="0"/>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name="Slide 31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entreprises candidates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L’espace en ligne des candidats a ses propres règles : inscription, vérification du NIF, nettoyage des comptes, conservation des offres, exclusions prononcées par l’ARMP.</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312</a:t>
            </a:r>
            <a:endParaRPr lang="en-US" sz="1100" dirty="0"/>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name="Slide 3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PARAMÈTRES · ESPACE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paramètres de l’espace candidat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aramètres de l’espace candida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Vérification du NIF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sur pièces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inscriptions limitées à 5 par jour depuis un même poste ; un compte jamais confirmé est supprimé après 7 jours, un compte inactif archivé après 24 mois.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Pièces de l’entreprise limitées à 10 Mo ; la confirmation par téléphone reste désactivée.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Conservation des offres : sans durée fixée, rien n’est supprimé ; au terme, la purge reste un geste de l’Administrateur, procédure par procédure.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313</a:t>
            </a:r>
            <a:endParaRPr lang="en-US" sz="1100" dirty="0"/>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name="Slide 3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ENTREPRISES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entreprises candidates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entreprises candidat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entreprises déclarées par les candidats, par état de vérification : non vérifié, pièces refusées, NIF vérifié sur pièces…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rapproche la carte fiscale du NIF déclaré, puis décide — ici l’« Entreprise de recette BTP », non encore vérifiée.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décision 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bloque aucun dépôt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 commission la lit à l’ouverture des plis.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314</a:t>
            </a:r>
            <a:endParaRPr lang="en-US" sz="1100" dirty="0"/>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name="Slide 3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ENTREPRISES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entreprises exclues par l’ARMP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entreprises exclues par l’A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répertoire des décisions d’exclusion de l’ARMP, avec leur référence et leurs dates, rapproché par le NIF.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entreprise exclue est signalée dès sa déclaration et ne peut pas déposer d’offre pendant la période.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ne se supprime : on corrige, ou on avance la date de fin. Aucune exclusion n’est répertoriée ce jour.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315</a:t>
            </a:r>
            <a:endParaRPr lang="en-US" sz="1100" dirty="0"/>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name="Slide 316">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Garder la trace et informer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Tout ce qui s’écrit dans l’application, et toute tentative d’y entrer, laisse une trace que nul ne peut effacer.</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316</a:t>
            </a:r>
            <a:endParaRPr lang="en-US" sz="1100" dirty="0"/>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name="Slide 3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TRACES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journal des écritures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journal des écritur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Toute écriture enregistrée : date, acteur, objet, action — plus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132 000</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entrées sur la base de démonstration.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Filtrable par objet, par acteur et par période, du plus récent au plus ancien ; nul ne peut y ajouter, modifier ni supprimer une entrée.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317</a:t>
            </a:r>
            <a:endParaRPr lang="en-US" sz="1100" dirty="0"/>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name="Slide 3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TRACES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journal des connexions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journal des connex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connexion acceptée ou refusée : qui, quand, fin de session, durée, adresse et poste utilisés.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tentative sur un identifiant inconnu est journalisée sous l’identifiant tapé : c’est souvent la ligne qu’on vient chercher.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318</a:t>
            </a:r>
            <a:endParaRPr lang="en-US" sz="1100" dirty="0"/>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name="Slide 3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TRACES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actualités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actualit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actualité vise un ou plusieurs profils et s’affiche à l’ouverture de session, dans sa période de publication.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Elle s’active, se désactive ou s’archive ; un interrupteur général les arrête toutes sans rien perdre.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319</a:t>
            </a:r>
            <a:endParaRPr lang="en-US" sz="1100" dirty="0"/>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name="Slide 3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CONSULTATION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plans et leurs marchés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lans et leurs march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en lecture.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plans de passation enregistrés, par référence et exercice, avec le nombre de marchés rattachés et leur détail.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consultation des données des PRMP, sans aucun geste de modification.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320</a:t>
            </a:r>
            <a:endParaRPr lang="en-US" sz="1100" dirty="0"/>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name="Slide 3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ADMINISTRER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accès vérifiés</a:t>
            </a:r>
            <a:endParaRPr lang="en-US" sz="1500" dirty="0"/>
          </a:p>
        </p:txBody>
      </p:sp>
      <p:sp>
        <p:nvSpPr>
          <p:cNvPr id="7" name="Text 5"/>
          <p:cNvSpPr/>
          <p:nvPr/>
        </p:nvSpPr>
        <p:spPr>
          <a:xfrm>
            <a:off x="952476"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Aucun compte de PRMP ne s’ouvre sans vérification de l’arrêté et des pièces ; un refus est toujours motivé.</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réglages tracés</a:t>
            </a:r>
            <a:endParaRPr lang="en-US" sz="1500" dirty="0"/>
          </a:p>
        </p:txBody>
      </p:sp>
      <p:sp>
        <p:nvSpPr>
          <p:cNvPr id="11" name="Text 9"/>
          <p:cNvSpPr/>
          <p:nvPr/>
        </p:nvSpPr>
        <p:spPr>
          <a:xfrm>
            <a:off x="4525320"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Chaque changement de paramètre est daté et signé de son auteur, et remonte au poste d’administration.</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La loi n’est pas un réglage</a:t>
            </a:r>
            <a:endParaRPr lang="en-US" sz="1500" dirty="0"/>
          </a:p>
        </p:txBody>
      </p:sp>
      <p:sp>
        <p:nvSpPr>
          <p:cNvPr id="15" name="Text 13"/>
          <p:cNvSpPr/>
          <p:nvPr/>
        </p:nvSpPr>
        <p:spPr>
          <a:xfrm>
            <a:off x="8098164"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neuf délais de la loi n° 2016-055 sont fixés dans l’application ; les délais bloquants refusent le geste qui les enfreint.</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commission qui délibère valablement</a:t>
            </a:r>
            <a:endParaRPr lang="en-US" sz="1500" dirty="0"/>
          </a:p>
        </p:txBody>
      </p:sp>
      <p:sp>
        <p:nvSpPr>
          <p:cNvPr id="19" name="Text 17"/>
          <p:cNvSpPr/>
          <p:nvPr/>
        </p:nvSpPr>
        <p:spPr>
          <a:xfrm>
            <a:off x="952476"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quorum réglé s’impose à chaque séance et à chaque rapport, président ou représentant compris.</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documents officiels au bon pied</a:t>
            </a:r>
            <a:endParaRPr lang="en-US" sz="1500" dirty="0"/>
          </a:p>
        </p:txBody>
      </p:sp>
      <p:sp>
        <p:nvSpPr>
          <p:cNvPr id="23" name="Text 21"/>
          <p:cNvSpPr/>
          <p:nvPr/>
        </p:nvSpPr>
        <p:spPr>
          <a:xfrm>
            <a:off x="4525320"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compte de l’ARMP et la décision d’équivalence SIGMP s’impriment tels que réglés ; un document déjà produit garde les valeurs du moment.</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journal immuable</a:t>
            </a:r>
            <a:endParaRPr lang="en-US" sz="1500" dirty="0"/>
          </a:p>
        </p:txBody>
      </p:sp>
      <p:sp>
        <p:nvSpPr>
          <p:cNvPr id="27" name="Text 25"/>
          <p:cNvSpPr/>
          <p:nvPr/>
        </p:nvSpPr>
        <p:spPr>
          <a:xfrm>
            <a:off x="8098164"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Écritures et connexions sont journalisées ; personne, Administrateur compris, ne peut en retirer une ligne.</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321</a:t>
            </a:r>
            <a:endParaRPr lang="en-US" sz="1100" dirty="0"/>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name="Slide 322">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12</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Piloter et publier</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Chacun suit ce qui le concerne — la PRMP ses dossiers, la direction l’activité de la Commission, l’Administrateur les procédures en ligne — et le public reçoit ce qui doit l’être.</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La PRMP connaît dès la soumission la date à laquelle la Commission prévoit de rendre son avis, et voit cette date bouger quand le dossier l’attend.</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La direction dispose d’indicateurs calculés sur les données réelles : dossiers déposés, taux de conformité, points de contrôle les plus souvent non conformes, rapports téléchargeables.</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La transparence est outillée : publications motivées, documents publics munis d’une empreinte qui en prouve l’intégrité.</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L’application de bout en bout · 322</a:t>
            </a:r>
            <a:endParaRPr lang="en-US" sz="1100" dirty="0"/>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name="Slide 3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PILOTER ET PUBLIER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dossier suivi à la décision publiée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 pilotage se lit sur les mêmes données que le travail : rien n’est ressaisi pour être compté.</a:t>
            </a:r>
            <a:endParaRPr lang="en-US" sz="1300" dirty="0"/>
          </a:p>
        </p:txBody>
      </p:sp>
      <p:sp>
        <p:nvSpPr>
          <p:cNvPr id="5" name="Shape 3"/>
          <p:cNvSpPr/>
          <p:nvPr/>
        </p:nvSpPr>
        <p:spPr>
          <a:xfrm>
            <a:off x="812780" y="1778000"/>
            <a:ext cx="2001470" cy="1905000"/>
          </a:xfrm>
          <a:prstGeom prst="roundRect">
            <a:avLst>
              <a:gd name="adj" fmla="val 2880"/>
            </a:avLst>
          </a:prstGeom>
          <a:solidFill>
            <a:srgbClr val="FCFCFA"/>
          </a:solidFill>
          <a:ln w="19050">
            <a:solidFill>
              <a:srgbClr val="12324A"/>
            </a:solidFill>
            <a:prstDash val="solid"/>
          </a:ln>
        </p:spPr>
      </p:sp>
      <p:sp>
        <p:nvSpPr>
          <p:cNvPr id="6" name="Text 4"/>
          <p:cNvSpPr/>
          <p:nvPr/>
        </p:nvSpPr>
        <p:spPr>
          <a:xfrm>
            <a:off x="901677" y="1866900"/>
            <a:ext cx="1823674"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PRMP</a:t>
            </a:r>
            <a:endParaRPr lang="en-US" sz="1000" dirty="0"/>
          </a:p>
        </p:txBody>
      </p:sp>
      <p:sp>
        <p:nvSpPr>
          <p:cNvPr id="7" name="Text 5"/>
          <p:cNvSpPr/>
          <p:nvPr/>
        </p:nvSpPr>
        <p:spPr>
          <a:xfrm>
            <a:off x="901677" y="2095500"/>
            <a:ext cx="1823674"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Suivre ses dossiers</a:t>
            </a:r>
            <a:endParaRPr lang="en-US" sz="1400" dirty="0"/>
          </a:p>
        </p:txBody>
      </p:sp>
      <p:sp>
        <p:nvSpPr>
          <p:cNvPr id="8" name="Text 6"/>
          <p:cNvSpPr/>
          <p:nvPr/>
        </p:nvSpPr>
        <p:spPr>
          <a:xfrm>
            <a:off x="901677" y="2603500"/>
            <a:ext cx="1823674"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PRMP voit chaque dossier soumis, son statut et sa fin de traitement prévue.</a:t>
            </a:r>
            <a:endParaRPr lang="en-US" sz="1150" dirty="0"/>
          </a:p>
        </p:txBody>
      </p:sp>
      <p:sp>
        <p:nvSpPr>
          <p:cNvPr id="9" name="Text 7"/>
          <p:cNvSpPr/>
          <p:nvPr/>
        </p:nvSpPr>
        <p:spPr>
          <a:xfrm>
            <a:off x="280155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953946" y="1778000"/>
            <a:ext cx="2001470" cy="1905000"/>
          </a:xfrm>
          <a:prstGeom prst="roundRect">
            <a:avLst>
              <a:gd name="adj" fmla="val 2880"/>
            </a:avLst>
          </a:prstGeom>
          <a:solidFill>
            <a:srgbClr val="FCFCFA"/>
          </a:solidFill>
          <a:ln w="19050">
            <a:solidFill>
              <a:srgbClr val="12324A"/>
            </a:solidFill>
            <a:prstDash val="solid"/>
          </a:ln>
        </p:spPr>
      </p:sp>
      <p:sp>
        <p:nvSpPr>
          <p:cNvPr id="11" name="Text 9"/>
          <p:cNvSpPr/>
          <p:nvPr/>
        </p:nvSpPr>
        <p:spPr>
          <a:xfrm>
            <a:off x="3042844" y="1866900"/>
            <a:ext cx="1823674"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PRÉSIDENT</a:t>
            </a:r>
            <a:endParaRPr lang="en-US" sz="1000" dirty="0"/>
          </a:p>
        </p:txBody>
      </p:sp>
      <p:sp>
        <p:nvSpPr>
          <p:cNvPr id="12" name="Text 10"/>
          <p:cNvSpPr/>
          <p:nvPr/>
        </p:nvSpPr>
        <p:spPr>
          <a:xfrm>
            <a:off x="3042844" y="2095500"/>
            <a:ext cx="1823674"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Mesurer l’activité</a:t>
            </a:r>
            <a:endParaRPr lang="en-US" sz="1400" dirty="0"/>
          </a:p>
        </p:txBody>
      </p:sp>
      <p:sp>
        <p:nvSpPr>
          <p:cNvPr id="13" name="Text 11"/>
          <p:cNvSpPr/>
          <p:nvPr/>
        </p:nvSpPr>
        <p:spPr>
          <a:xfrm>
            <a:off x="3042844" y="2603500"/>
            <a:ext cx="1823674"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tableau de bord donne les dossiers déposés, le taux de conformité et les points les plus souvent non conformes.</a:t>
            </a:r>
            <a:endParaRPr lang="en-US" sz="1150" dirty="0"/>
          </a:p>
        </p:txBody>
      </p:sp>
      <p:sp>
        <p:nvSpPr>
          <p:cNvPr id="14" name="Text 12"/>
          <p:cNvSpPr/>
          <p:nvPr/>
        </p:nvSpPr>
        <p:spPr>
          <a:xfrm>
            <a:off x="4942716"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5095113" y="1778000"/>
            <a:ext cx="2001470" cy="1905000"/>
          </a:xfrm>
          <a:prstGeom prst="roundRect">
            <a:avLst>
              <a:gd name="adj" fmla="val 2880"/>
            </a:avLst>
          </a:prstGeom>
          <a:solidFill>
            <a:srgbClr val="FCFCFA"/>
          </a:solidFill>
          <a:ln w="19050">
            <a:solidFill>
              <a:srgbClr val="12324A"/>
            </a:solidFill>
            <a:prstDash val="solid"/>
          </a:ln>
        </p:spPr>
      </p:sp>
      <p:sp>
        <p:nvSpPr>
          <p:cNvPr id="16" name="Text 14"/>
          <p:cNvSpPr/>
          <p:nvPr/>
        </p:nvSpPr>
        <p:spPr>
          <a:xfrm>
            <a:off x="5184010" y="1866900"/>
            <a:ext cx="1823674"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PRÉSIDENT, L’ADMINISTRATEUR</a:t>
            </a:r>
            <a:endParaRPr lang="en-US" sz="1000" dirty="0"/>
          </a:p>
        </p:txBody>
      </p:sp>
      <p:sp>
        <p:nvSpPr>
          <p:cNvPr id="17" name="Text 15"/>
          <p:cNvSpPr/>
          <p:nvPr/>
        </p:nvSpPr>
        <p:spPr>
          <a:xfrm>
            <a:off x="5184010" y="2095500"/>
            <a:ext cx="1823674"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Rendre compte</a:t>
            </a:r>
            <a:endParaRPr lang="en-US" sz="1400" dirty="0"/>
          </a:p>
        </p:txBody>
      </p:sp>
      <p:sp>
        <p:nvSpPr>
          <p:cNvPr id="18" name="Text 16"/>
          <p:cNvSpPr/>
          <p:nvPr/>
        </p:nvSpPr>
        <p:spPr>
          <a:xfrm>
            <a:off x="5184010" y="2603500"/>
            <a:ext cx="1823674"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rapport des dossiers se télécharge en PDF ou en tableur, sur une période.</a:t>
            </a:r>
            <a:endParaRPr lang="en-US" sz="1150" dirty="0"/>
          </a:p>
        </p:txBody>
      </p:sp>
      <p:sp>
        <p:nvSpPr>
          <p:cNvPr id="19" name="Text 17"/>
          <p:cNvSpPr/>
          <p:nvPr/>
        </p:nvSpPr>
        <p:spPr>
          <a:xfrm>
            <a:off x="7083883"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7236279" y="1778000"/>
            <a:ext cx="2001470" cy="1905000"/>
          </a:xfrm>
          <a:prstGeom prst="roundRect">
            <a:avLst>
              <a:gd name="adj" fmla="val 2880"/>
            </a:avLst>
          </a:prstGeom>
          <a:solidFill>
            <a:srgbClr val="FCFCFA"/>
          </a:solidFill>
          <a:ln w="19050">
            <a:solidFill>
              <a:srgbClr val="12324A"/>
            </a:solidFill>
            <a:prstDash val="solid"/>
          </a:ln>
        </p:spPr>
      </p:sp>
      <p:sp>
        <p:nvSpPr>
          <p:cNvPr id="21" name="Text 19"/>
          <p:cNvSpPr/>
          <p:nvPr/>
        </p:nvSpPr>
        <p:spPr>
          <a:xfrm>
            <a:off x="7325177" y="1866900"/>
            <a:ext cx="1823674"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L’ADMINISTRATEUR</a:t>
            </a:r>
            <a:endParaRPr lang="en-US" sz="1000" dirty="0"/>
          </a:p>
        </p:txBody>
      </p:sp>
      <p:sp>
        <p:nvSpPr>
          <p:cNvPr id="22" name="Text 20"/>
          <p:cNvSpPr/>
          <p:nvPr/>
        </p:nvSpPr>
        <p:spPr>
          <a:xfrm>
            <a:off x="7325177" y="2095500"/>
            <a:ext cx="1823674"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Tenir les procédures en ligne</a:t>
            </a:r>
            <a:endParaRPr lang="en-US" sz="1400" dirty="0"/>
          </a:p>
        </p:txBody>
      </p:sp>
      <p:sp>
        <p:nvSpPr>
          <p:cNvPr id="23" name="Text 21"/>
          <p:cNvSpPr/>
          <p:nvPr/>
        </p:nvSpPr>
        <p:spPr>
          <a:xfrm>
            <a:off x="7325177" y="2603500"/>
            <a:ext cx="1823674"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Chaque procédure en remise électronique a son responsable, son calendrier, sa cérémonie et sa séance.</a:t>
            </a:r>
            <a:endParaRPr lang="en-US" sz="1150" dirty="0"/>
          </a:p>
        </p:txBody>
      </p:sp>
      <p:sp>
        <p:nvSpPr>
          <p:cNvPr id="24" name="Text 22"/>
          <p:cNvSpPr/>
          <p:nvPr/>
        </p:nvSpPr>
        <p:spPr>
          <a:xfrm>
            <a:off x="922504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9377446" y="1778000"/>
            <a:ext cx="2001470" cy="1905000"/>
          </a:xfrm>
          <a:prstGeom prst="roundRect">
            <a:avLst>
              <a:gd name="adj" fmla="val 2880"/>
            </a:avLst>
          </a:prstGeom>
          <a:solidFill>
            <a:srgbClr val="12324A"/>
          </a:solidFill>
          <a:ln w="19050">
            <a:solidFill>
              <a:srgbClr val="12324A"/>
            </a:solidFill>
            <a:prstDash val="solid"/>
          </a:ln>
        </p:spPr>
      </p:sp>
      <p:sp>
        <p:nvSpPr>
          <p:cNvPr id="26" name="Text 24"/>
          <p:cNvSpPr/>
          <p:nvPr/>
        </p:nvSpPr>
        <p:spPr>
          <a:xfrm>
            <a:off x="9466343" y="1866900"/>
            <a:ext cx="1823674"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LE CHARGÉ DE PUBLICATION</a:t>
            </a:r>
            <a:endParaRPr lang="en-US" sz="1000" dirty="0"/>
          </a:p>
        </p:txBody>
      </p:sp>
      <p:sp>
        <p:nvSpPr>
          <p:cNvPr id="27" name="Text 25"/>
          <p:cNvSpPr/>
          <p:nvPr/>
        </p:nvSpPr>
        <p:spPr>
          <a:xfrm>
            <a:off x="9466343" y="2095500"/>
            <a:ext cx="1823674"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Publier</a:t>
            </a:r>
            <a:endParaRPr lang="en-US" sz="1400" dirty="0"/>
          </a:p>
        </p:txBody>
      </p:sp>
      <p:sp>
        <p:nvSpPr>
          <p:cNvPr id="28" name="Text 26"/>
          <p:cNvSpPr/>
          <p:nvPr/>
        </p:nvSpPr>
        <p:spPr>
          <a:xfrm>
            <a:off x="9466343" y="2603500"/>
            <a:ext cx="1823674"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Les décisions de la Commission et les documents publics sont mis en ligne, avec leur empreinte.</a:t>
            </a:r>
            <a:endParaRPr lang="en-US" sz="1150" dirty="0"/>
          </a:p>
        </p:txBody>
      </p:sp>
      <p:sp>
        <p:nvSpPr>
          <p:cNvPr id="29" name="Text 2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323</a:t>
            </a:r>
            <a:endParaRPr lang="en-US" sz="1100" dirty="0"/>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name="Slide 32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PILOTER ET PUBLIER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Suivre et mesurer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Les indicateurs sont calculés par l’application à partir des dossiers eux-mêmes. Chaque profil n’en voit que ce qui relève de lui.</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324</a:t>
            </a:r>
            <a:endParaRPr lang="en-US" sz="1100" dirty="0"/>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name="Slide 3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PILOTAGE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suivi des dossiers à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suivi des dossiers à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dossier de la PRMP : référence, type, entité, localité, date de dépôt,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fin de traitement prévue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par la Commission,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date prévue est calculée dès la soumission, à partir des délais standards de la Commission.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PRMP suit l’avancement sans voir les acteurs internes de la Commission.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325</a:t>
            </a:r>
            <a:endParaRPr lang="en-US" sz="1100" dirty="0"/>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name="Slide 3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PILOTAGE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tableau de bord</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tableau de bord">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(toutes localités) ; le Chef de commission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Trois indicateurs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dossiers déposés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(18), dossiers conformes,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taux de conformité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nombre de dossiers à chaque statut du circuit : brouillon, dispatché, en vérification, clôturé, décision transmise au SIGMP…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cinq points de contrôle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plus souvent non conformes, avec leur taux : là où les dossiers des PRMP pèchent le plus.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326</a:t>
            </a:r>
            <a:endParaRPr lang="en-US" sz="1100" dirty="0"/>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name="Slide 3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PILOTAGE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rapports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rapport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l’Administrateur et le Chef de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rapport des dossiers,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PDF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tableur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période est facultative : sans dates, tous les dossiers sont inclus.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Chef de commission n’obtient que sa localité.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327</a:t>
            </a:r>
            <a:endParaRPr lang="en-US" sz="1100" dirty="0"/>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name="Slide 328">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PILOTER ET PUBLIER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procédures en ligne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Les procédures conduites en remise électronique sont suivies sur une liste unique, qui place en tête ce qui demande une action.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328</a:t>
            </a:r>
            <a:endParaRPr lang="en-US" sz="1100" dirty="0"/>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name="Slide 3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PILOTAGE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procédures en ligne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rocédures en lign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 chaque responsable pour les siennes.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Toutes les procédures en remise électronique — ici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11</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4 à traiter et 1 sans responsable.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chacune : état de la fiche et des dépôts, nombre d’offres, calendrier (avis, date limite, ouverture), commission constituée ou non, cérémonie des clés, séance, responsable.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Désigner le responsable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pour celle qui n’en a pas ; sinon, accès à la fiche, aux paramètres et à la cérémonie, et à la séance.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329</a:t>
            </a:r>
            <a:endParaRPr lang="en-US" sz="1100" dirty="0"/>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name="Slide 33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PILOTER ET PUBLIER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Publier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Chargé de publication tient le portail de transparence, sans accès au circuit interne de la Commission.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330</a:t>
            </a:r>
            <a:endParaRPr lang="en-US" sz="1100" dirty="0"/>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name="Slide 3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PUBLICATION · CHARGÉ DE PUBLICATION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publications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ublic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Chargé de publication crée et met à jour ; les PRMP et la Commission consultent.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publication : objet, statut, nombre de consultations.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publication naît en attente, se publie, puis peut être retirée — toujours avec un motif.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Aucune publication n’est encore enregistrée sur la base de démonstration.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331</a:t>
            </a:r>
            <a:endParaRPr lang="en-US" sz="1100" dirty="0"/>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name="Slide 3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PUBLICATION · CHARGÉ DE PUBLICATION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documents publics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ocuments public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Chargé de publication.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documents mis à la disposition du public, rattachés à une publication : type, libellé, format, taille.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document porte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 numérique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l’intégrité du fichier se vérifie à tout moment.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Aucun document n’est encore enregistré sur la base de démonstration.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332</a:t>
            </a:r>
            <a:endParaRPr lang="en-US" sz="1100" dirty="0"/>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name="Slide 3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PILOTER ET PUBLIER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date annoncée dès la soumission</a:t>
            </a:r>
            <a:endParaRPr lang="en-US" sz="1500" dirty="0"/>
          </a:p>
        </p:txBody>
      </p:sp>
      <p:sp>
        <p:nvSpPr>
          <p:cNvPr id="7" name="Text 5"/>
          <p:cNvSpPr/>
          <p:nvPr/>
        </p:nvSpPr>
        <p:spPr>
          <a:xfrm>
            <a:off x="952476"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PRMP connaît la fin de traitement prévue, calculée sur les délais de la Commission, sans la demander.</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date honnête</a:t>
            </a:r>
            <a:endParaRPr lang="en-US" sz="1500" dirty="0"/>
          </a:p>
        </p:txBody>
      </p:sp>
      <p:sp>
        <p:nvSpPr>
          <p:cNvPr id="11" name="Text 9"/>
          <p:cNvSpPr/>
          <p:nvPr/>
        </p:nvSpPr>
        <p:spPr>
          <a:xfrm>
            <a:off x="4525320"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Quand le dossier attend la PRMP, la date glisse ; une étape en retard ne promet pas de rattrapage.</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indicateurs sans ressaisie</a:t>
            </a:r>
            <a:endParaRPr lang="en-US" sz="1500" dirty="0"/>
          </a:p>
        </p:txBody>
      </p:sp>
      <p:sp>
        <p:nvSpPr>
          <p:cNvPr id="15" name="Text 13"/>
          <p:cNvSpPr/>
          <p:nvPr/>
        </p:nvSpPr>
        <p:spPr>
          <a:xfrm>
            <a:off x="8098164"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tableau de bord et les rapports se calculent sur les dossiers réels ; rien n’est compté à la main.</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Chacun son périmètre</a:t>
            </a:r>
            <a:endParaRPr lang="en-US" sz="1500" dirty="0"/>
          </a:p>
        </p:txBody>
      </p:sp>
      <p:sp>
        <p:nvSpPr>
          <p:cNvPr id="19" name="Text 17"/>
          <p:cNvSpPr/>
          <p:nvPr/>
        </p:nvSpPr>
        <p:spPr>
          <a:xfrm>
            <a:off x="952476"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Chef de commission ne voit que sa localité ; la PRMP n’a pas accès aux statistiques de la CNM.</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Aucune procédure orpheline</a:t>
            </a:r>
            <a:endParaRPr lang="en-US" sz="1500" dirty="0"/>
          </a:p>
        </p:txBody>
      </p:sp>
      <p:sp>
        <p:nvSpPr>
          <p:cNvPr id="23" name="Text 21"/>
          <p:cNvSpPr/>
          <p:nvPr/>
        </p:nvSpPr>
        <p:spPr>
          <a:xfrm>
            <a:off x="4525320"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Une procédure en ligne sans responsable remonte en tête de liste et au poste d’administration.</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documents publics vérifiables</a:t>
            </a:r>
            <a:endParaRPr lang="en-US" sz="1500" dirty="0"/>
          </a:p>
        </p:txBody>
      </p:sp>
      <p:sp>
        <p:nvSpPr>
          <p:cNvPr id="27" name="Text 25"/>
          <p:cNvSpPr/>
          <p:nvPr/>
        </p:nvSpPr>
        <p:spPr>
          <a:xfrm>
            <a:off x="8098164"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Chaque document publié porte son empreinte ; un retrait de publication est toujours motivé et daté.</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L’application de bout en bout · 333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333</Slides>
  <Notes>333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333</vt:i4>
      </vt:variant>
    </vt:vector>
  </HeadingPairs>
  <TitlesOfParts>
    <vt:vector size="3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lpstr>Slide 259</vt:lpstr>
      <vt:lpstr>Slide 260</vt:lpstr>
      <vt:lpstr>Slide 261</vt:lpstr>
      <vt:lpstr>Slide 262</vt:lpstr>
      <vt:lpstr>Slide 263</vt:lpstr>
      <vt:lpstr>Slide 264</vt:lpstr>
      <vt:lpstr>Slide 265</vt:lpstr>
      <vt:lpstr>Slide 266</vt:lpstr>
      <vt:lpstr>Slide 267</vt:lpstr>
      <vt:lpstr>Slide 268</vt:lpstr>
      <vt:lpstr>Slide 269</vt:lpstr>
      <vt:lpstr>Slide 270</vt:lpstr>
      <vt:lpstr>Slide 271</vt:lpstr>
      <vt:lpstr>Slide 272</vt:lpstr>
      <vt:lpstr>Slide 273</vt:lpstr>
      <vt:lpstr>Slide 274</vt:lpstr>
      <vt:lpstr>Slide 275</vt:lpstr>
      <vt:lpstr>Slide 276</vt:lpstr>
      <vt:lpstr>Slide 277</vt:lpstr>
      <vt:lpstr>Slide 278</vt:lpstr>
      <vt:lpstr>Slide 279</vt:lpstr>
      <vt:lpstr>Slide 280</vt:lpstr>
      <vt:lpstr>Slide 281</vt:lpstr>
      <vt:lpstr>Slide 282</vt:lpstr>
      <vt:lpstr>Slide 283</vt:lpstr>
      <vt:lpstr>Slide 284</vt:lpstr>
      <vt:lpstr>Slide 285</vt:lpstr>
      <vt:lpstr>Slide 286</vt:lpstr>
      <vt:lpstr>Slide 287</vt:lpstr>
      <vt:lpstr>Slide 288</vt:lpstr>
      <vt:lpstr>Slide 289</vt:lpstr>
      <vt:lpstr>Slide 290</vt:lpstr>
      <vt:lpstr>Slide 291</vt:lpstr>
      <vt:lpstr>Slide 292</vt:lpstr>
      <vt:lpstr>Slide 293</vt:lpstr>
      <vt:lpstr>Slide 294</vt:lpstr>
      <vt:lpstr>Slide 295</vt:lpstr>
      <vt:lpstr>Slide 296</vt:lpstr>
      <vt:lpstr>Slide 297</vt:lpstr>
      <vt:lpstr>Slide 298</vt:lpstr>
      <vt:lpstr>Slide 299</vt:lpstr>
      <vt:lpstr>Slide 300</vt:lpstr>
      <vt:lpstr>Slide 301</vt:lpstr>
      <vt:lpstr>Slide 302</vt:lpstr>
      <vt:lpstr>Slide 303</vt:lpstr>
      <vt:lpstr>Slide 304</vt:lpstr>
      <vt:lpstr>Slide 305</vt:lpstr>
      <vt:lpstr>Slide 306</vt:lpstr>
      <vt:lpstr>Slide 307</vt:lpstr>
      <vt:lpstr>Slide 308</vt:lpstr>
      <vt:lpstr>Slide 309</vt:lpstr>
      <vt:lpstr>Slide 310</vt:lpstr>
      <vt:lpstr>Slide 311</vt:lpstr>
      <vt:lpstr>Slide 312</vt:lpstr>
      <vt:lpstr>Slide 313</vt:lpstr>
      <vt:lpstr>Slide 314</vt:lpstr>
      <vt:lpstr>Slide 315</vt:lpstr>
      <vt:lpstr>Slide 316</vt:lpstr>
      <vt:lpstr>Slide 317</vt:lpstr>
      <vt:lpstr>Slide 318</vt:lpstr>
      <vt:lpstr>Slide 319</vt:lpstr>
      <vt:lpstr>Slide 320</vt:lpstr>
      <vt:lpstr>Slide 321</vt:lpstr>
      <vt:lpstr>Slide 322</vt:lpstr>
      <vt:lpstr>Slide 323</vt:lpstr>
      <vt:lpstr>Slide 324</vt:lpstr>
      <vt:lpstr>Slide 325</vt:lpstr>
      <vt:lpstr>Slide 326</vt:lpstr>
      <vt:lpstr>Slide 327</vt:lpstr>
      <vt:lpstr>Slide 328</vt:lpstr>
      <vt:lpstr>Slide 329</vt:lpstr>
      <vt:lpstr>Slide 330</vt:lpstr>
      <vt:lpstr>Slide 331</vt:lpstr>
      <vt:lpstr>Slide 332</vt:lpstr>
      <vt:lpstr>Slide 333</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L’application de bout en bout</dc:title>
  <dc:subject>PptxGenJS Presentation</dc:subject>
  <dc:creator>PRS 2.0</dc:creator>
  <cp:lastModifiedBy>PRS 2.0</cp:lastModifiedBy>
  <cp:revision>1</cp:revision>
  <dcterms:created xsi:type="dcterms:W3CDTF">2026-10-14T11:36:00Z</dcterms:created>
  <dcterms:modified xsi:type="dcterms:W3CDTF">2026-10-14T11:36:00Z</dcterms:modified>
</cp:coreProperties>
</file>